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4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464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Unidad para tres clases, teórica y práctica. Las diapositivas oscuras marcan los momentos de código (los estudiantes ejecutan en su computador); las rojas, las demostraciones del profesor en la Raspberry Pi 4.</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Ajustar el reparto según la duración real de cada bloque. Cada diapositiva oscura 'Momento de código' indica el momento de pasar a que los estudiantes ejecuten el script en sus equipos (aprox. 10 min cada uno). Las diapositivas rojas 'Demostración del profesor' son para mostrar en la Raspberry Pi 4.</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hay Raspberry Pi para todos los grupos: cada grupo trabaja en su notebook con su propia cámara. La Raspberry Pi 4 se usa en las demostraciones del profesor. El mismo código funciona con cualquiera de estas fuentes gracias a camara.py; solo cambia el argumento. Apps para usar el celular como cámara: IP Webcam (Android), DroidCam (Android/iOS), entre otras; entregan una URL que OpenCV puede abrir.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Actividad de activación. Respuestas esperables: desbloqueo facial del celular, cámaras lectoras de patentes en estacionamientos, códigos QR, escáner del supermercado, filtros de redes sociales, Google Lens.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Puente con el ramo: con el ESP32 trabajamos sensores simples (un número). La cámara es un sensor que entrega millones de números; necesitamos procesamiento e IA para convertirlos en una decisión. La realidad aumentada depende de visión computacional para saber dónde está la superficie o el marcador.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Ideal: pedir que lo instalen antes de la clase (ultralytics descarga PyTorch, varios cientos de MB). En Windows, Tesseract se instala con el instalador de UB Mannheim (marcar 'Spanish' en Additional language data) y hay que agregar C:\Program Files\Tesseract-OCR al PATH. Los archivos están en practica_vision.zip.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para pasar a los computadores. Recorrer los grupos resolviendo problemas de instalación; los que terminen antes pueden ayudar a otros grupos.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Mostrar que la imagen del 7 es solo una tabla. Valor 0 = negro, 255 = blanco. Una foto a color tiene 3 canales (en OpenCV el orden es BGR, no RGB: error típico). Es el mismo formato del dataset MNIST de dígitos (28x28 en gris).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Todo esto es matemática sobre la matriz, sin IA. Son los mismos pasos del taller de Docker + TensorFlow (API de dígitos MNIST) para preparar el dígito antes de dárselo al modelo MNIST (equalizeHist, GaussianBlur, umbral Otsu, contornos). Resultado real de 02_procesamiento.py.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Explicar el código antes de pasar al momento de código. Son los mismos pasos del taller de Docker + TensorFlow (API de dígitos MNIST) para preparar el dígito.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Solo intuición. No entrar en neuronas, pesos ni backpropagation: eso se ve en Minería de Datos. La idea: una red convolucional aprende sola los filtros que nosotros hicimos a mano (bordes), y los combina en capas para reconocer formas y luego objetos.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Ejemplo conceptual de entrenamiento de un modelo de clasificación. No entrar en detalles de cómo se construye la red ni del algoritmo de entrenamiento (Minería de Datos). El mensaje: el modelo aprende de ejemplos etiquetados y solo funciona bien en condiciones parecidas a las que vio.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Resultado real de 03_ocr.py sobre la etiqueta de prueba. Mostrar el error 'Pl' en vez de 'PI' (I mayúscula vs l minúscula): el OCR también se equivoca y entrega una confianza por palabra (71 % en ese caso). Por eso en sistemas reales se validan los resultados (ej.: formato de patente).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Tesseract nació en HP y hoy es open source mantenido por la comunidad; desde la versión 4 usa una red LSTM para reconocer líneas de texto. EasyOCR y PaddleOCR son más precisos con texto en escenas (letreros, fotos) pero más pesados para la Pi. Los servicios en la nube son los más precisos pero requieren internet y envían la imagen a un tercero.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--psm 6 le dice a Tesseract que espere un bloque de texto uniforme; para una sola línea (patente) usar --psm 7. image_to_data entrega cada palabra con posición y confianza. Sin argumento, el script toma una foto con la webcam.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Repaso rápido de la Clase 1 (2 min): imagen = matriz, reglas manuales vs modelos que aprenden, OCR con confianza.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cuatro imágenes son resultados reales de YOLO26n sobre la misma foto. La clasificación entrega una sola etiqueta para toda la imagen, y se equivoca: dice 'police_van' (53 %) y luego 'minibus' (33 %). La detección dice qué hay y dónde. La segmentación marca el contorno exacto. La pose encuentra puntos clave del cuerpo (articulaciones).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Explicación conceptual. Detectores antiguos recorrían la imagen por pedazos (ventanas deslizantes), miles de veces. YOLO mira la imagen una sola vez: la red divide la imagen en una grilla y cada celda predice cajas, clases y confianzas a la vez. Por eso es rápido y sirve para video en tiempo real. YOLO26 además elimina el paso de NMS (filtrar cajas duplicadas), lo que lo hace más simple en dispositivos pequeños.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Salida real de 04_yolo_imagen.py. Mostrar cómo cada detección se transforma en datos que el programa puede usar: contar, filtrar por clase, medir posición, disparar acciones. Las 80 clases vienen del dataset COCO: person, bicycle, car, bus, dog, cat, bottle, cup, cell phone, laptop, chair...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primera ejecución descarga yolo26n.pt (aprox. 5 MB). conf=0.5 descarta detecciones bajo 50 %. modelo.names es un diccionario con las 80 clases del dataset COCO.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YOLOv1 fue publicado por Joseph Redmon y colaboradores (2015, presentado en CVPR 2016). Ultralytics mantiene hoy la familia más usada en la industria: YOLOv5, YOLOv8, YOLO11 y YOLO26 (lanzado el 14 de enero de 2026), pensado para dispositivos de borde: elimina NMS y es hasta 43 % más rápido en CPU que su antecesor en la versión nano, según Ultralytics.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Cifras de la documentación oficial de Ultralytics (benchmark en Raspberry Pi 5, imagen de 640 px, sin pre/post-procesamiento): YOLO26n en PyTorch 299 ms, en NCNN 67 ms. La Pi 4 es más lenta que la Pi 5, así que en clase usamos además imgsz=320. Mensaje: en el borde siempre hay que optimizar. Lo comprobaremos en la demo con la Pi.</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r.plot() dibuja las cajas sobre el cuadro. TAMANO (imgsz) reduce la resolución de entrada para ganar velocidad. El script acepta la fuente de la cámara como argumento: índice de webcam, URL del celular o de la ESP32-CAM.</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con la Raspberry Pi 4 conectada al proyector. Tener instalado el entorno (ver anexo) y el modelo ya descargado. Ejecutar 05 con yolo26n.pt, luego 06_exportar_ncnn.py y otra vez 05 (detecta la carpeta NCNN automáticamente). Ir llenando la tabla de la siguiente diapositiva con los FPS de la Pi y de 2 o 3 grupos.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Completar en vivo con los FPS que reportan los grupos y los de la demo. Mensaje: en el borde siempre se optimiza (modelo nano, NCNN, imagen más chica).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la clase usamos el modelo pre-entrenado en COCO. Si el proyecto necesita detectar algo que no está en las 80 clases (ej.: un componente electrónico específico, una plaga, un casco), se re-entrena el modelo con imágenes propias etiquetadas (transfer learning). Se entrena en un PC con GPU o en Google Colab y luego se usa el modelo igual que yolo26n.pt. Es la misma idea del ejemplo de piedra, papel o tijera. Profundidad: Minería de Datos.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Edge computing: el procesamiento ocurre cerca de la cámara (notebook, Raspberry Pi). Nube: se envía la imagen a un servidor (por ejemplo una API como la del taller de Docker + TensorFlow, o un servicio de AWS). Mencionar privacidad: si la imagen no sale del dispositivo, se reduce el riesgo.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Ley 21.719 de protección de datos personales entra en vigencia el 1 de diciembre de 2026. Imágenes donde se identifica a una persona son datos personales; los datos biométricos (rostro) son datos sensibles. Para la práctica: no grabar ni guardar imágenes de personas sin su consentimiento; trabajar con conteo anónimo.</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Arquitectura completa de la práctica. El notebook (o la Raspberry Pi 4) recibe el video, corre YOLO y decide. Si detecta la clase objetivo (por defecto 'person'), envía una petición HTTP por WiFi al ESP32, que enciende un LED. El LED se puede reemplazar por cualquier actuador ya visto en el ramo.</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Solo se envía la orden cuando el estado cambia (aparece o desaparece la persona), para no saturar al ESP32 con una petición por cuadro. timeout=1 evita que el programa se quede pegado si el ESP32 no responde. El computador y el ESP32 deben estar en la misma red WiFi.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Sketch de Arduino IDE para ESP32 (librerías WiFi y WebServer incluidas en el core ESP32). El GPIO 2 corresponde al LED integrado en muchas placas DevKit; si no, conectar un LED con resistencia de 220 ohm. Probar primero desde el navegador del celular: http://IP/led?estado=on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Problema típico: redes con aislamiento de clientes (redes institucionales) no permiten que los dispositivos se vean entre sí. Solución: hotspot del celular para el notebook y el ESP32.</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ESP32-CAM no tiene potencia para correr YOLO: solo captura y transmite la imagen por WiFi. El procesamiento se hace en el notebook o en la Raspberry Pi. El ejemplo CameraWebServer viene con el soporte de ESP32 en Arduino IDE; el video queda en http://IP:81/stream. La placa AI Thinker no trae USB: se programa con un adaptador USB-serial o una base ESP32-CAM-MB.</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Mismo patrón del taller 'API de reconocimiento de dígitos en Docker y TensorFlow': un endpoint POST que recibe una imagen y devuelve JSON. La diferencia es que aquí el modelo ya viene entrenado y devuelve varios objetos. Se puede empaquetar en Docker igual que en ese taller.</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Desafío para integrar en sus proyectos cuando lleguen las ESP32-CAM. Sugerencia: pedir un video corto del prototipo funcionando.</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entorno virtual evita el error 'externally-managed-environment' de Raspberry Pi OS. --system-site-packages permite usar picamera2, que viene preinstalado en el sistema. La primera instalación de ultralytics descarga PyTorch y puede tardar varios minutos: conviene hacerla antes de la clase.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jp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jp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jp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5.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5.jp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5.jp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8.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5.jp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29.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6.png"/><Relationship Id="rId9"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jp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37.png"/><Relationship Id="rId10" Type="http://schemas.openxmlformats.org/officeDocument/2006/relationships/image" Target="../media/image39.jpg"/><Relationship Id="rId4" Type="http://schemas.openxmlformats.org/officeDocument/2006/relationships/image" Target="../media/image6.png"/><Relationship Id="rId9"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1.png"/><Relationship Id="rId2" Type="http://schemas.openxmlformats.org/officeDocument/2006/relationships/image" Target="../media/image5.jp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2.png"/><Relationship Id="rId2" Type="http://schemas.openxmlformats.org/officeDocument/2006/relationships/image" Target="../media/image5.jp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6.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image" Target="../media/image46.jpg"/><Relationship Id="rId3" Type="http://schemas.openxmlformats.org/officeDocument/2006/relationships/image" Target="../media/image5.jpg"/><Relationship Id="rId7" Type="http://schemas.openxmlformats.org/officeDocument/2006/relationships/image" Target="../media/image45.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4.jpg"/><Relationship Id="rId5" Type="http://schemas.openxmlformats.org/officeDocument/2006/relationships/image" Target="../media/image43.jp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7.jp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8.jp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4.jp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27.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6.png"/><Relationship Id="rId7" Type="http://schemas.openxmlformats.org/officeDocument/2006/relationships/image" Target="../media/image57.png"/><Relationship Id="rId2" Type="http://schemas.openxmlformats.org/officeDocument/2006/relationships/image" Target="../media/image5.jpg"/><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jpg"/><Relationship Id="rId7"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png"/><Relationship Id="rId9" Type="http://schemas.openxmlformats.org/officeDocument/2006/relationships/image" Target="../media/image65.png"/></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2.png"/><Relationship Id="rId2" Type="http://schemas.openxmlformats.org/officeDocument/2006/relationships/image" Target="../media/image5.jpg"/><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50.pn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jpg"/><Relationship Id="rId7" Type="http://schemas.openxmlformats.org/officeDocument/2006/relationships/image" Target="../media/image66.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7.pn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7.pn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67.png"/><Relationship Id="rId2" Type="http://schemas.openxmlformats.org/officeDocument/2006/relationships/image" Target="../media/image5.jp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5.png"/><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E1B1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8288" y="-9144"/>
            <a:ext cx="9171432" cy="6858000"/>
          </a:xfrm>
          <a:prstGeom prst="rect">
            <a:avLst/>
          </a:prstGeom>
        </p:spPr>
      </p:pic>
      <p:pic>
        <p:nvPicPr>
          <p:cNvPr id="3" name="Picture 2" descr="image.jpg"/>
          <p:cNvPicPr>
            <a:picLocks noChangeAspect="1"/>
          </p:cNvPicPr>
          <p:nvPr/>
        </p:nvPicPr>
        <p:blipFill>
          <a:blip r:embed="rId4"/>
          <a:stretch>
            <a:fillRect/>
          </a:stretch>
        </p:blipFill>
        <p:spPr>
          <a:xfrm>
            <a:off x="-18288" y="-9144"/>
            <a:ext cx="9171432" cy="1435608"/>
          </a:xfrm>
          <a:prstGeom prst="rect">
            <a:avLst/>
          </a:prstGeom>
        </p:spPr>
      </p:pic>
      <p:pic>
        <p:nvPicPr>
          <p:cNvPr id="4" name="Picture 3" descr="image.jpg"/>
          <p:cNvPicPr>
            <a:picLocks noChangeAspect="1"/>
          </p:cNvPicPr>
          <p:nvPr/>
        </p:nvPicPr>
        <p:blipFill>
          <a:blip r:embed="rId5"/>
          <a:stretch>
            <a:fillRect/>
          </a:stretch>
        </p:blipFill>
        <p:spPr>
          <a:xfrm>
            <a:off x="-45720" y="5486400"/>
            <a:ext cx="9208008" cy="1371600"/>
          </a:xfrm>
          <a:prstGeom prst="rect">
            <a:avLst/>
          </a:prstGeom>
        </p:spPr>
      </p:pic>
      <p:pic>
        <p:nvPicPr>
          <p:cNvPr id="5" name="Picture 4" descr="image.png"/>
          <p:cNvPicPr>
            <a:picLocks noChangeAspect="1"/>
          </p:cNvPicPr>
          <p:nvPr/>
        </p:nvPicPr>
        <p:blipFill>
          <a:blip r:embed="rId6"/>
          <a:stretch>
            <a:fillRect/>
          </a:stretch>
        </p:blipFill>
        <p:spPr>
          <a:xfrm>
            <a:off x="685800" y="2139696"/>
            <a:ext cx="1280160" cy="1188720"/>
          </a:xfrm>
          <a:prstGeom prst="rect">
            <a:avLst/>
          </a:prstGeom>
        </p:spPr>
      </p:pic>
      <p:sp>
        <p:nvSpPr>
          <p:cNvPr id="6" name="Shape 0"/>
          <p:cNvSpPr/>
          <p:nvPr/>
        </p:nvSpPr>
        <p:spPr>
          <a:xfrm>
            <a:off x="2185416" y="2157984"/>
            <a:ext cx="0" cy="1271016"/>
          </a:xfrm>
          <a:prstGeom prst="line">
            <a:avLst/>
          </a:prstGeom>
          <a:noFill/>
          <a:ln w="25400">
            <a:solidFill>
              <a:srgbClr val="FFFFFF"/>
            </a:solidFill>
            <a:prstDash val="solid"/>
          </a:ln>
        </p:spPr>
        <p:txBody>
          <a:bodyPr/>
          <a:lstStyle/>
          <a:p>
            <a:endParaRPr lang="es-CL"/>
          </a:p>
        </p:txBody>
      </p:sp>
      <p:sp>
        <p:nvSpPr>
          <p:cNvPr id="7" name="TextBox 6"/>
          <p:cNvSpPr txBox="1"/>
          <p:nvPr/>
        </p:nvSpPr>
        <p:spPr>
          <a:xfrm>
            <a:off x="2423160" y="1600200"/>
            <a:ext cx="6492240" cy="365760"/>
          </a:xfrm>
          <a:prstGeom prst="rect">
            <a:avLst/>
          </a:prstGeom>
          <a:noFill/>
        </p:spPr>
        <p:txBody>
          <a:bodyPr wrap="square" lIns="0" tIns="0" rIns="0" bIns="0" anchor="t">
            <a:spAutoFit/>
          </a:bodyPr>
          <a:lstStyle/>
          <a:p>
            <a:pPr algn="l">
              <a:spcAft>
                <a:spcPts val="600"/>
              </a:spcAft>
            </a:pPr>
            <a:r>
              <a:rPr sz="1200" b="1" i="0">
                <a:solidFill>
                  <a:srgbClr val="F2D6D6"/>
                </a:solidFill>
                <a:latin typeface="Calibri"/>
              </a:rPr>
              <a:t>TECNOLOGÍAS DISRUPTIVAS  ·  VISIÓN COMPUTACIONAL</a:t>
            </a:r>
          </a:p>
        </p:txBody>
      </p:sp>
      <p:sp>
        <p:nvSpPr>
          <p:cNvPr id="8" name="TextBox 7"/>
          <p:cNvSpPr txBox="1"/>
          <p:nvPr/>
        </p:nvSpPr>
        <p:spPr>
          <a:xfrm>
            <a:off x="2423160" y="1965960"/>
            <a:ext cx="6492240" cy="1463040"/>
          </a:xfrm>
          <a:prstGeom prst="rect">
            <a:avLst/>
          </a:prstGeom>
          <a:noFill/>
        </p:spPr>
        <p:txBody>
          <a:bodyPr wrap="square" lIns="0" tIns="0" rIns="0" bIns="0" anchor="ctr">
            <a:spAutoFit/>
          </a:bodyPr>
          <a:lstStyle/>
          <a:p>
            <a:pPr algn="l">
              <a:spcAft>
                <a:spcPts val="600"/>
              </a:spcAft>
            </a:pPr>
            <a:r>
              <a:rPr sz="3000" b="1" i="0">
                <a:solidFill>
                  <a:srgbClr val="FFFFFF"/>
                </a:solidFill>
                <a:latin typeface="Calibri"/>
              </a:rPr>
              <a:t>Procesamiento de imágenes, OCR y reconocimiento de objetos</a:t>
            </a:r>
          </a:p>
        </p:txBody>
      </p:sp>
      <p:sp>
        <p:nvSpPr>
          <p:cNvPr id="9" name="TextBox 8"/>
          <p:cNvSpPr txBox="1"/>
          <p:nvPr/>
        </p:nvSpPr>
        <p:spPr>
          <a:xfrm>
            <a:off x="2423160" y="3703320"/>
            <a:ext cx="6492240" cy="822960"/>
          </a:xfrm>
          <a:prstGeom prst="rect">
            <a:avLst/>
          </a:prstGeom>
          <a:noFill/>
        </p:spPr>
        <p:txBody>
          <a:bodyPr wrap="square" lIns="0" tIns="0" rIns="0" bIns="0" anchor="t">
            <a:spAutoFit/>
          </a:bodyPr>
          <a:lstStyle/>
          <a:p>
            <a:pPr algn="l">
              <a:spcAft>
                <a:spcPts val="600"/>
              </a:spcAft>
            </a:pPr>
            <a:r>
              <a:rPr sz="1500" b="0" i="1">
                <a:solidFill>
                  <a:srgbClr val="F2D6D6"/>
                </a:solidFill>
                <a:latin typeface="Calibri"/>
              </a:rPr>
              <a:t>De los píxeles a las decisiones: OpenCV, Tesseract y YOLO con Python 3</a:t>
            </a:r>
          </a:p>
        </p:txBody>
      </p:sp>
      <p:sp>
        <p:nvSpPr>
          <p:cNvPr id="10" name="TextBox 9"/>
          <p:cNvSpPr txBox="1"/>
          <p:nvPr/>
        </p:nvSpPr>
        <p:spPr>
          <a:xfrm>
            <a:off x="4023360" y="4983480"/>
            <a:ext cx="4709160" cy="457200"/>
          </a:xfrm>
          <a:prstGeom prst="rect">
            <a:avLst/>
          </a:prstGeom>
          <a:noFill/>
        </p:spPr>
        <p:txBody>
          <a:bodyPr wrap="square" anchor="ctr">
            <a:spAutoFit/>
          </a:bodyPr>
          <a:lstStyle/>
          <a:p>
            <a:pPr algn="r">
              <a:spcAft>
                <a:spcPts val="600"/>
              </a:spcAft>
            </a:pPr>
            <a:r>
              <a:rPr sz="1400" b="1" i="0">
                <a:solidFill>
                  <a:srgbClr val="FFFFFF"/>
                </a:solidFill>
                <a:latin typeface="Calibri"/>
              </a:rPr>
              <a:t>Profesor Luis Delgado Ayala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Objetivos de la unidad</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2</a:t>
            </a:r>
          </a:p>
        </p:txBody>
      </p:sp>
      <p:sp>
        <p:nvSpPr>
          <p:cNvPr id="7" name="Oval 6"/>
          <p:cNvSpPr/>
          <p:nvPr/>
        </p:nvSpPr>
        <p:spPr>
          <a:xfrm>
            <a:off x="548640" y="1508760"/>
            <a:ext cx="457200" cy="4572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1508760"/>
            <a:ext cx="457200" cy="457200"/>
          </a:xfrm>
          <a:prstGeom prst="rect">
            <a:avLst/>
          </a:prstGeom>
          <a:noFill/>
        </p:spPr>
        <p:txBody>
          <a:bodyPr wrap="square" lIns="0" tIns="0" rIns="0" bIns="0" anchor="ctr">
            <a:spAutoFit/>
          </a:bodyPr>
          <a:lstStyle/>
          <a:p>
            <a:pPr algn="ctr">
              <a:spcAft>
                <a:spcPts val="600"/>
              </a:spcAft>
            </a:pPr>
            <a:r>
              <a:rPr sz="1600" b="1" i="0">
                <a:solidFill>
                  <a:srgbClr val="FFFFFF"/>
                </a:solidFill>
                <a:latin typeface="Calibri"/>
              </a:rPr>
              <a:t>1</a:t>
            </a:r>
          </a:p>
        </p:txBody>
      </p:sp>
      <p:sp>
        <p:nvSpPr>
          <p:cNvPr id="9" name="TextBox 8"/>
          <p:cNvSpPr txBox="1"/>
          <p:nvPr/>
        </p:nvSpPr>
        <p:spPr>
          <a:xfrm>
            <a:off x="1188720" y="1463039"/>
            <a:ext cx="7223760" cy="1005840"/>
          </a:xfrm>
          <a:prstGeom prst="rect">
            <a:avLst/>
          </a:prstGeom>
          <a:noFill/>
        </p:spPr>
        <p:txBody>
          <a:bodyPr wrap="square" anchor="t">
            <a:spAutoFit/>
          </a:bodyPr>
          <a:lstStyle/>
          <a:p>
            <a:pPr algn="l">
              <a:lnSpc>
                <a:spcPct val="110000"/>
              </a:lnSpc>
              <a:spcAft>
                <a:spcPts val="600"/>
              </a:spcAft>
            </a:pPr>
            <a:r>
              <a:rPr sz="1700" b="1" i="0">
                <a:solidFill>
                  <a:srgbClr val="262626"/>
                </a:solidFill>
                <a:latin typeface="Calibri"/>
              </a:rPr>
              <a:t>Comprender</a:t>
            </a:r>
            <a:r>
              <a:rPr sz="1700" b="0" i="0">
                <a:solidFill>
                  <a:srgbClr val="262626"/>
                </a:solidFill>
                <a:latin typeface="Calibri"/>
              </a:rPr>
              <a:t> cómo un computador representa y procesa una imagen, y qué hacen el OCR y la detección de objetos.</a:t>
            </a:r>
          </a:p>
        </p:txBody>
      </p:sp>
      <p:sp>
        <p:nvSpPr>
          <p:cNvPr id="10" name="Oval 9"/>
          <p:cNvSpPr/>
          <p:nvPr/>
        </p:nvSpPr>
        <p:spPr>
          <a:xfrm>
            <a:off x="548640" y="2834639"/>
            <a:ext cx="457200" cy="4572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2834639"/>
            <a:ext cx="457200" cy="457200"/>
          </a:xfrm>
          <a:prstGeom prst="rect">
            <a:avLst/>
          </a:prstGeom>
          <a:noFill/>
        </p:spPr>
        <p:txBody>
          <a:bodyPr wrap="square" lIns="0" tIns="0" rIns="0" bIns="0" anchor="ctr">
            <a:spAutoFit/>
          </a:bodyPr>
          <a:lstStyle/>
          <a:p>
            <a:pPr algn="ctr">
              <a:spcAft>
                <a:spcPts val="600"/>
              </a:spcAft>
            </a:pPr>
            <a:r>
              <a:rPr sz="1600" b="1" i="0">
                <a:solidFill>
                  <a:srgbClr val="FFFFFF"/>
                </a:solidFill>
                <a:latin typeface="Calibri"/>
              </a:rPr>
              <a:t>2</a:t>
            </a:r>
          </a:p>
        </p:txBody>
      </p:sp>
      <p:sp>
        <p:nvSpPr>
          <p:cNvPr id="12" name="TextBox 11"/>
          <p:cNvSpPr txBox="1"/>
          <p:nvPr/>
        </p:nvSpPr>
        <p:spPr>
          <a:xfrm>
            <a:off x="1188720" y="2788920"/>
            <a:ext cx="7223760" cy="1005840"/>
          </a:xfrm>
          <a:prstGeom prst="rect">
            <a:avLst/>
          </a:prstGeom>
          <a:noFill/>
        </p:spPr>
        <p:txBody>
          <a:bodyPr wrap="square" anchor="t">
            <a:spAutoFit/>
          </a:bodyPr>
          <a:lstStyle/>
          <a:p>
            <a:pPr algn="l">
              <a:lnSpc>
                <a:spcPct val="110000"/>
              </a:lnSpc>
              <a:spcAft>
                <a:spcPts val="600"/>
              </a:spcAft>
            </a:pPr>
            <a:r>
              <a:rPr sz="1700" b="1" i="0">
                <a:solidFill>
                  <a:srgbClr val="262626"/>
                </a:solidFill>
                <a:latin typeface="Calibri"/>
              </a:rPr>
              <a:t>Conocer</a:t>
            </a:r>
            <a:r>
              <a:rPr sz="1700" b="0" i="0">
                <a:solidFill>
                  <a:srgbClr val="262626"/>
                </a:solidFill>
                <a:latin typeface="Calibri"/>
              </a:rPr>
              <a:t> cómo funciona YOLO a nivel conceptual, sus casos de uso y cómo se conecta con lo visto en el ramo.</a:t>
            </a:r>
          </a:p>
        </p:txBody>
      </p:sp>
      <p:sp>
        <p:nvSpPr>
          <p:cNvPr id="13" name="Oval 12"/>
          <p:cNvSpPr/>
          <p:nvPr/>
        </p:nvSpPr>
        <p:spPr>
          <a:xfrm>
            <a:off x="548640" y="4160520"/>
            <a:ext cx="457200" cy="4572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4160520"/>
            <a:ext cx="457200" cy="457200"/>
          </a:xfrm>
          <a:prstGeom prst="rect">
            <a:avLst/>
          </a:prstGeom>
          <a:noFill/>
        </p:spPr>
        <p:txBody>
          <a:bodyPr wrap="square" lIns="0" tIns="0" rIns="0" bIns="0" anchor="ctr">
            <a:spAutoFit/>
          </a:bodyPr>
          <a:lstStyle/>
          <a:p>
            <a:pPr algn="ctr">
              <a:spcAft>
                <a:spcPts val="600"/>
              </a:spcAft>
            </a:pPr>
            <a:r>
              <a:rPr sz="1600" b="1" i="0">
                <a:solidFill>
                  <a:srgbClr val="FFFFFF"/>
                </a:solidFill>
                <a:latin typeface="Calibri"/>
              </a:rPr>
              <a:t>3</a:t>
            </a:r>
          </a:p>
        </p:txBody>
      </p:sp>
      <p:sp>
        <p:nvSpPr>
          <p:cNvPr id="15" name="TextBox 14"/>
          <p:cNvSpPr txBox="1"/>
          <p:nvPr/>
        </p:nvSpPr>
        <p:spPr>
          <a:xfrm>
            <a:off x="1188720" y="4114800"/>
            <a:ext cx="7223760" cy="1005840"/>
          </a:xfrm>
          <a:prstGeom prst="rect">
            <a:avLst/>
          </a:prstGeom>
          <a:noFill/>
        </p:spPr>
        <p:txBody>
          <a:bodyPr wrap="square" anchor="t">
            <a:spAutoFit/>
          </a:bodyPr>
          <a:lstStyle/>
          <a:p>
            <a:pPr algn="l">
              <a:lnSpc>
                <a:spcPct val="110000"/>
              </a:lnSpc>
              <a:spcAft>
                <a:spcPts val="600"/>
              </a:spcAft>
            </a:pPr>
            <a:r>
              <a:rPr sz="1700" b="1" i="0">
                <a:solidFill>
                  <a:srgbClr val="262626"/>
                </a:solidFill>
                <a:latin typeface="Calibri"/>
              </a:rPr>
              <a:t>Experimentar</a:t>
            </a:r>
            <a:r>
              <a:rPr sz="1700" b="0" i="0">
                <a:solidFill>
                  <a:srgbClr val="262626"/>
                </a:solidFill>
                <a:latin typeface="Calibri"/>
              </a:rPr>
              <a:t> con Python 3 y su propia cámara, para luego integrarlo a sus proyectos con ESP32 y ESP32-CAM.</a:t>
            </a:r>
          </a:p>
        </p:txBody>
      </p:sp>
      <p:sp>
        <p:nvSpPr>
          <p:cNvPr id="16" name="Rounded Rectangle 15"/>
          <p:cNvSpPr/>
          <p:nvPr/>
        </p:nvSpPr>
        <p:spPr>
          <a:xfrm>
            <a:off x="457200" y="5577840"/>
            <a:ext cx="8229600" cy="59436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85800" y="5577840"/>
            <a:ext cx="7772400" cy="594360"/>
          </a:xfrm>
          <a:prstGeom prst="rect">
            <a:avLst/>
          </a:prstGeom>
          <a:noFill/>
        </p:spPr>
        <p:txBody>
          <a:bodyPr wrap="square" anchor="ctr">
            <a:spAutoFit/>
          </a:bodyPr>
          <a:lstStyle/>
          <a:p>
            <a:pPr algn="l">
              <a:spcAft>
                <a:spcPts val="600"/>
              </a:spcAft>
            </a:pPr>
            <a:r>
              <a:rPr sz="1500" b="1" i="0">
                <a:solidFill>
                  <a:srgbClr val="262626"/>
                </a:solidFill>
                <a:latin typeface="Calibri"/>
              </a:rPr>
              <a:t>Modalidad:</a:t>
            </a:r>
            <a:r>
              <a:rPr sz="1500" b="0" i="0">
                <a:solidFill>
                  <a:srgbClr val="262626"/>
                </a:solidFill>
                <a:latin typeface="Calibri"/>
              </a:rPr>
              <a:t> teoría breve + </a:t>
            </a:r>
            <a:r>
              <a:rPr sz="1500" b="1" i="0">
                <a:solidFill>
                  <a:srgbClr val="262626"/>
                </a:solidFill>
                <a:latin typeface="Calibri"/>
              </a:rPr>
              <a:t>momentos de código</a:t>
            </a:r>
            <a:r>
              <a:rPr sz="1500" b="0" i="0">
                <a:solidFill>
                  <a:srgbClr val="262626"/>
                </a:solidFill>
                <a:latin typeface="Calibri"/>
              </a:rPr>
              <a:t> de ≈ 10 min en su computador, durante tres clases.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Plan de trabajo: tres clases</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3</a:t>
            </a:r>
          </a:p>
        </p:txBody>
      </p:sp>
      <p:sp>
        <p:nvSpPr>
          <p:cNvPr id="7" name="Rounded Rectangle 6"/>
          <p:cNvSpPr/>
          <p:nvPr/>
        </p:nvSpPr>
        <p:spPr>
          <a:xfrm>
            <a:off x="457200" y="1143000"/>
            <a:ext cx="2606040" cy="3749039"/>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0080" y="1280160"/>
            <a:ext cx="2286000" cy="365760"/>
          </a:xfrm>
          <a:prstGeom prst="rect">
            <a:avLst/>
          </a:prstGeom>
          <a:noFill/>
        </p:spPr>
        <p:txBody>
          <a:bodyPr wrap="square" lIns="0" tIns="0" rIns="0" bIns="0" anchor="t">
            <a:spAutoFit/>
          </a:bodyPr>
          <a:lstStyle/>
          <a:p>
            <a:pPr algn="l">
              <a:spcAft>
                <a:spcPts val="600"/>
              </a:spcAft>
            </a:pPr>
            <a:r>
              <a:rPr sz="1300" b="1" i="0">
                <a:solidFill>
                  <a:srgbClr val="707070"/>
                </a:solidFill>
                <a:latin typeface="Calibri"/>
              </a:rPr>
              <a:t>CLASE 1</a:t>
            </a:r>
          </a:p>
        </p:txBody>
      </p:sp>
      <p:sp>
        <p:nvSpPr>
          <p:cNvPr id="9" name="TextBox 8"/>
          <p:cNvSpPr txBox="1"/>
          <p:nvPr/>
        </p:nvSpPr>
        <p:spPr>
          <a:xfrm>
            <a:off x="640080" y="1600200"/>
            <a:ext cx="2286000" cy="457200"/>
          </a:xfrm>
          <a:prstGeom prst="rect">
            <a:avLst/>
          </a:prstGeom>
          <a:noFill/>
        </p:spPr>
        <p:txBody>
          <a:bodyPr wrap="square" lIns="0" tIns="0" rIns="0" bIns="0" anchor="t">
            <a:spAutoFit/>
          </a:bodyPr>
          <a:lstStyle/>
          <a:p>
            <a:pPr algn="l">
              <a:spcAft>
                <a:spcPts val="600"/>
              </a:spcAft>
            </a:pPr>
            <a:r>
              <a:rPr sz="1900" b="1" i="0">
                <a:solidFill>
                  <a:srgbClr val="8E1B1B"/>
                </a:solidFill>
                <a:latin typeface="Calibri"/>
              </a:rPr>
              <a:t>Imágenes y OCR</a:t>
            </a:r>
          </a:p>
        </p:txBody>
      </p:sp>
      <p:sp>
        <p:nvSpPr>
          <p:cNvPr id="10" name="TextBox 9"/>
          <p:cNvSpPr txBox="1"/>
          <p:nvPr/>
        </p:nvSpPr>
        <p:spPr>
          <a:xfrm>
            <a:off x="640080" y="2194560"/>
            <a:ext cx="2286000" cy="1554480"/>
          </a:xfrm>
          <a:prstGeom prst="rect">
            <a:avLst/>
          </a:prstGeom>
          <a:noFill/>
        </p:spPr>
        <p:txBody>
          <a:bodyPr wrap="square" lIns="0" tIns="0" rIns="0" bIns="0" anchor="t">
            <a:spAutoFit/>
          </a:bodyPr>
          <a:lstStyle/>
          <a:p>
            <a:pPr marL="228600" indent="-201168" algn="l">
              <a:spcAft>
                <a:spcPts val="500"/>
              </a:spcAft>
              <a:buClr>
                <a:srgbClr val="8E1B1B"/>
              </a:buClr>
              <a:buFont typeface="Arial"/>
              <a:buChar char="•"/>
            </a:pPr>
            <a:r>
              <a:rPr sz="1300" b="0" i="0">
                <a:solidFill>
                  <a:srgbClr val="262626"/>
                </a:solidFill>
                <a:latin typeface="Calibri"/>
              </a:rPr>
              <a:t>Imagen digital y procesamiento</a:t>
            </a:r>
          </a:p>
          <a:p>
            <a:pPr marL="228600" indent="-201168" algn="l">
              <a:spcAft>
                <a:spcPts val="500"/>
              </a:spcAft>
              <a:buClr>
                <a:srgbClr val="8E1B1B"/>
              </a:buClr>
              <a:buFont typeface="Arial"/>
              <a:buChar char="•"/>
            </a:pPr>
            <a:r>
              <a:rPr sz="1300" b="0" i="0">
                <a:solidFill>
                  <a:srgbClr val="262626"/>
                </a:solidFill>
                <a:latin typeface="Calibri"/>
              </a:rPr>
              <a:t>Clásico vs IA (vista rápida)</a:t>
            </a:r>
          </a:p>
          <a:p>
            <a:pPr marL="228600" indent="-201168" algn="l">
              <a:spcAft>
                <a:spcPts val="500"/>
              </a:spcAft>
              <a:buClr>
                <a:srgbClr val="8E1B1B"/>
              </a:buClr>
              <a:buFont typeface="Arial"/>
              <a:buChar char="•"/>
            </a:pPr>
            <a:r>
              <a:rPr sz="1300" b="0" i="0">
                <a:solidFill>
                  <a:srgbClr val="262626"/>
                </a:solidFill>
                <a:latin typeface="Calibri"/>
              </a:rPr>
              <a:t>OCR con Tesseract</a:t>
            </a:r>
          </a:p>
        </p:txBody>
      </p:sp>
      <p:sp>
        <p:nvSpPr>
          <p:cNvPr id="11" name="Rounded Rectangle 10"/>
          <p:cNvSpPr/>
          <p:nvPr/>
        </p:nvSpPr>
        <p:spPr>
          <a:xfrm>
            <a:off x="640080" y="3931920"/>
            <a:ext cx="2240280" cy="731520"/>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3950208"/>
            <a:ext cx="2057400" cy="274320"/>
          </a:xfrm>
          <a:prstGeom prst="rect">
            <a:avLst/>
          </a:prstGeom>
          <a:noFill/>
        </p:spPr>
        <p:txBody>
          <a:bodyPr wrap="square" lIns="0" tIns="0" rIns="0" bIns="0" anchor="t">
            <a:spAutoFit/>
          </a:bodyPr>
          <a:lstStyle/>
          <a:p>
            <a:pPr algn="l">
              <a:spcAft>
                <a:spcPts val="600"/>
              </a:spcAft>
            </a:pPr>
            <a:r>
              <a:rPr sz="1000" b="0" i="0">
                <a:solidFill>
                  <a:srgbClr val="AEB4BD"/>
                </a:solidFill>
                <a:latin typeface="Calibri"/>
              </a:rPr>
              <a:t>Momentos de código</a:t>
            </a:r>
          </a:p>
        </p:txBody>
      </p:sp>
      <p:sp>
        <p:nvSpPr>
          <p:cNvPr id="13" name="TextBox 12"/>
          <p:cNvSpPr txBox="1"/>
          <p:nvPr/>
        </p:nvSpPr>
        <p:spPr>
          <a:xfrm>
            <a:off x="731520" y="4206240"/>
            <a:ext cx="2057400" cy="411480"/>
          </a:xfrm>
          <a:prstGeom prst="rect">
            <a:avLst/>
          </a:prstGeom>
          <a:noFill/>
        </p:spPr>
        <p:txBody>
          <a:bodyPr wrap="square" lIns="0" tIns="0" rIns="0" bIns="0" anchor="t">
            <a:spAutoFit/>
          </a:bodyPr>
          <a:lstStyle/>
          <a:p>
            <a:pPr algn="l">
              <a:spcAft>
                <a:spcPts val="600"/>
              </a:spcAft>
            </a:pPr>
            <a:r>
              <a:rPr sz="1300" b="1" i="0">
                <a:solidFill>
                  <a:srgbClr val="9FE29F"/>
                </a:solidFill>
                <a:latin typeface="Courier New"/>
              </a:rPr>
              <a:t>00 · 01 · 02 · 03</a:t>
            </a:r>
          </a:p>
        </p:txBody>
      </p:sp>
      <p:sp>
        <p:nvSpPr>
          <p:cNvPr id="14" name="Rounded Rectangle 13"/>
          <p:cNvSpPr/>
          <p:nvPr/>
        </p:nvSpPr>
        <p:spPr>
          <a:xfrm>
            <a:off x="3246120" y="1143000"/>
            <a:ext cx="2606040" cy="3749039"/>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429000" y="1280160"/>
            <a:ext cx="2286000" cy="365760"/>
          </a:xfrm>
          <a:prstGeom prst="rect">
            <a:avLst/>
          </a:prstGeom>
          <a:noFill/>
        </p:spPr>
        <p:txBody>
          <a:bodyPr wrap="square" lIns="0" tIns="0" rIns="0" bIns="0" anchor="t">
            <a:spAutoFit/>
          </a:bodyPr>
          <a:lstStyle/>
          <a:p>
            <a:pPr algn="l">
              <a:spcAft>
                <a:spcPts val="600"/>
              </a:spcAft>
            </a:pPr>
            <a:r>
              <a:rPr sz="1300" b="1" i="0">
                <a:solidFill>
                  <a:srgbClr val="707070"/>
                </a:solidFill>
                <a:latin typeface="Calibri"/>
              </a:rPr>
              <a:t>CLASE 2</a:t>
            </a:r>
          </a:p>
        </p:txBody>
      </p:sp>
      <p:sp>
        <p:nvSpPr>
          <p:cNvPr id="16" name="TextBox 15"/>
          <p:cNvSpPr txBox="1"/>
          <p:nvPr/>
        </p:nvSpPr>
        <p:spPr>
          <a:xfrm>
            <a:off x="3429000" y="1600200"/>
            <a:ext cx="2286000" cy="457200"/>
          </a:xfrm>
          <a:prstGeom prst="rect">
            <a:avLst/>
          </a:prstGeom>
          <a:noFill/>
        </p:spPr>
        <p:txBody>
          <a:bodyPr wrap="square" lIns="0" tIns="0" rIns="0" bIns="0" anchor="t">
            <a:spAutoFit/>
          </a:bodyPr>
          <a:lstStyle/>
          <a:p>
            <a:pPr algn="l">
              <a:spcAft>
                <a:spcPts val="600"/>
              </a:spcAft>
            </a:pPr>
            <a:r>
              <a:rPr sz="1900" b="1" i="0">
                <a:solidFill>
                  <a:srgbClr val="8E1B1B"/>
                </a:solidFill>
                <a:latin typeface="Calibri"/>
              </a:rPr>
              <a:t>Objetos con YOLO</a:t>
            </a:r>
          </a:p>
        </p:txBody>
      </p:sp>
      <p:sp>
        <p:nvSpPr>
          <p:cNvPr id="17" name="TextBox 16"/>
          <p:cNvSpPr txBox="1"/>
          <p:nvPr/>
        </p:nvSpPr>
        <p:spPr>
          <a:xfrm>
            <a:off x="3429000" y="2194560"/>
            <a:ext cx="2286000" cy="1554480"/>
          </a:xfrm>
          <a:prstGeom prst="rect">
            <a:avLst/>
          </a:prstGeom>
          <a:noFill/>
        </p:spPr>
        <p:txBody>
          <a:bodyPr wrap="square" lIns="0" tIns="0" rIns="0" bIns="0" anchor="t">
            <a:spAutoFit/>
          </a:bodyPr>
          <a:lstStyle/>
          <a:p>
            <a:pPr marL="228600" indent="-201168" algn="l">
              <a:spcAft>
                <a:spcPts val="500"/>
              </a:spcAft>
              <a:buClr>
                <a:srgbClr val="8E1B1B"/>
              </a:buClr>
              <a:buFont typeface="Arial"/>
              <a:buChar char="•"/>
            </a:pPr>
            <a:r>
              <a:rPr sz="1300" b="0" i="0">
                <a:solidFill>
                  <a:srgbClr val="262626"/>
                </a:solidFill>
                <a:latin typeface="Calibri"/>
              </a:rPr>
              <a:t>Cómo funciona YOLO</a:t>
            </a:r>
          </a:p>
          <a:p>
            <a:pPr marL="228600" indent="-201168" algn="l">
              <a:spcAft>
                <a:spcPts val="500"/>
              </a:spcAft>
              <a:buClr>
                <a:srgbClr val="8E1B1B"/>
              </a:buClr>
              <a:buFont typeface="Arial"/>
              <a:buChar char="•"/>
            </a:pPr>
            <a:r>
              <a:rPr sz="1300" b="0" i="0">
                <a:solidFill>
                  <a:srgbClr val="262626"/>
                </a:solidFill>
                <a:latin typeface="Calibri"/>
              </a:rPr>
              <a:t>Velocidad, casos de uso y ética</a:t>
            </a:r>
          </a:p>
          <a:p>
            <a:pPr marL="228600" indent="-201168" algn="l">
              <a:spcAft>
                <a:spcPts val="500"/>
              </a:spcAft>
              <a:buClr>
                <a:srgbClr val="8E1B1B"/>
              </a:buClr>
              <a:buFont typeface="Arial"/>
              <a:buChar char="•"/>
            </a:pPr>
            <a:r>
              <a:rPr sz="1300" b="0" i="0">
                <a:solidFill>
                  <a:srgbClr val="262626"/>
                </a:solidFill>
                <a:latin typeface="Calibri"/>
              </a:rPr>
              <a:t>Demo en Raspberry Pi 4</a:t>
            </a:r>
          </a:p>
        </p:txBody>
      </p:sp>
      <p:sp>
        <p:nvSpPr>
          <p:cNvPr id="18" name="Rounded Rectangle 17"/>
          <p:cNvSpPr/>
          <p:nvPr/>
        </p:nvSpPr>
        <p:spPr>
          <a:xfrm>
            <a:off x="3429000" y="3931920"/>
            <a:ext cx="2240280" cy="731520"/>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520439" y="3950208"/>
            <a:ext cx="2057400" cy="274320"/>
          </a:xfrm>
          <a:prstGeom prst="rect">
            <a:avLst/>
          </a:prstGeom>
          <a:noFill/>
        </p:spPr>
        <p:txBody>
          <a:bodyPr wrap="square" lIns="0" tIns="0" rIns="0" bIns="0" anchor="t">
            <a:spAutoFit/>
          </a:bodyPr>
          <a:lstStyle/>
          <a:p>
            <a:pPr algn="l">
              <a:spcAft>
                <a:spcPts val="600"/>
              </a:spcAft>
            </a:pPr>
            <a:r>
              <a:rPr sz="1000" b="0" i="0">
                <a:solidFill>
                  <a:srgbClr val="AEB4BD"/>
                </a:solidFill>
                <a:latin typeface="Calibri"/>
              </a:rPr>
              <a:t>Momentos de código</a:t>
            </a:r>
          </a:p>
        </p:txBody>
      </p:sp>
      <p:sp>
        <p:nvSpPr>
          <p:cNvPr id="20" name="TextBox 19"/>
          <p:cNvSpPr txBox="1"/>
          <p:nvPr/>
        </p:nvSpPr>
        <p:spPr>
          <a:xfrm>
            <a:off x="3520439" y="4206240"/>
            <a:ext cx="2057400" cy="411480"/>
          </a:xfrm>
          <a:prstGeom prst="rect">
            <a:avLst/>
          </a:prstGeom>
          <a:noFill/>
        </p:spPr>
        <p:txBody>
          <a:bodyPr wrap="square" lIns="0" tIns="0" rIns="0" bIns="0" anchor="t">
            <a:spAutoFit/>
          </a:bodyPr>
          <a:lstStyle/>
          <a:p>
            <a:pPr algn="l">
              <a:spcAft>
                <a:spcPts val="600"/>
              </a:spcAft>
            </a:pPr>
            <a:r>
              <a:rPr sz="1300" b="1" i="0">
                <a:solidFill>
                  <a:srgbClr val="9FE29F"/>
                </a:solidFill>
                <a:latin typeface="Courier New"/>
              </a:rPr>
              <a:t>04 · 05</a:t>
            </a:r>
          </a:p>
        </p:txBody>
      </p:sp>
      <p:sp>
        <p:nvSpPr>
          <p:cNvPr id="21" name="Rounded Rectangle 20"/>
          <p:cNvSpPr/>
          <p:nvPr/>
        </p:nvSpPr>
        <p:spPr>
          <a:xfrm>
            <a:off x="6035040" y="1143000"/>
            <a:ext cx="2606040" cy="3749039"/>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217920" y="1280160"/>
            <a:ext cx="2286000" cy="365760"/>
          </a:xfrm>
          <a:prstGeom prst="rect">
            <a:avLst/>
          </a:prstGeom>
          <a:noFill/>
        </p:spPr>
        <p:txBody>
          <a:bodyPr wrap="square" lIns="0" tIns="0" rIns="0" bIns="0" anchor="t">
            <a:spAutoFit/>
          </a:bodyPr>
          <a:lstStyle/>
          <a:p>
            <a:pPr algn="l">
              <a:spcAft>
                <a:spcPts val="600"/>
              </a:spcAft>
            </a:pPr>
            <a:r>
              <a:rPr sz="1300" b="1" i="0">
                <a:solidFill>
                  <a:srgbClr val="707070"/>
                </a:solidFill>
                <a:latin typeface="Calibri"/>
              </a:rPr>
              <a:t>CLASE 3</a:t>
            </a:r>
          </a:p>
        </p:txBody>
      </p:sp>
      <p:sp>
        <p:nvSpPr>
          <p:cNvPr id="23" name="TextBox 22"/>
          <p:cNvSpPr txBox="1"/>
          <p:nvPr/>
        </p:nvSpPr>
        <p:spPr>
          <a:xfrm>
            <a:off x="6217920" y="1600200"/>
            <a:ext cx="2286000" cy="457200"/>
          </a:xfrm>
          <a:prstGeom prst="rect">
            <a:avLst/>
          </a:prstGeom>
          <a:noFill/>
        </p:spPr>
        <p:txBody>
          <a:bodyPr wrap="square" lIns="0" tIns="0" rIns="0" bIns="0" anchor="t">
            <a:spAutoFit/>
          </a:bodyPr>
          <a:lstStyle/>
          <a:p>
            <a:pPr algn="l">
              <a:spcAft>
                <a:spcPts val="600"/>
              </a:spcAft>
            </a:pPr>
            <a:r>
              <a:rPr sz="1900" b="1" i="0">
                <a:solidFill>
                  <a:srgbClr val="8E1B1B"/>
                </a:solidFill>
                <a:latin typeface="Calibri"/>
              </a:rPr>
              <a:t>Integración</a:t>
            </a:r>
          </a:p>
        </p:txBody>
      </p:sp>
      <p:sp>
        <p:nvSpPr>
          <p:cNvPr id="24" name="TextBox 23"/>
          <p:cNvSpPr txBox="1"/>
          <p:nvPr/>
        </p:nvSpPr>
        <p:spPr>
          <a:xfrm>
            <a:off x="6217920" y="2194560"/>
            <a:ext cx="2286000" cy="1554480"/>
          </a:xfrm>
          <a:prstGeom prst="rect">
            <a:avLst/>
          </a:prstGeom>
          <a:noFill/>
        </p:spPr>
        <p:txBody>
          <a:bodyPr wrap="square" lIns="0" tIns="0" rIns="0" bIns="0" anchor="t">
            <a:spAutoFit/>
          </a:bodyPr>
          <a:lstStyle/>
          <a:p>
            <a:pPr marL="228600" indent="-201168" algn="l">
              <a:spcAft>
                <a:spcPts val="500"/>
              </a:spcAft>
              <a:buClr>
                <a:srgbClr val="8E1B1B"/>
              </a:buClr>
              <a:buFont typeface="Arial"/>
              <a:buChar char="•"/>
            </a:pPr>
            <a:r>
              <a:rPr sz="1300" b="0" i="0">
                <a:solidFill>
                  <a:srgbClr val="262626"/>
                </a:solidFill>
                <a:latin typeface="Calibri"/>
              </a:rPr>
              <a:t>El computador ve, el ESP32 actúa</a:t>
            </a:r>
          </a:p>
          <a:p>
            <a:pPr marL="228600" indent="-201168" algn="l">
              <a:spcAft>
                <a:spcPts val="500"/>
              </a:spcAft>
              <a:buClr>
                <a:srgbClr val="8E1B1B"/>
              </a:buClr>
              <a:buFont typeface="Arial"/>
              <a:buChar char="•"/>
            </a:pPr>
            <a:r>
              <a:rPr sz="1300" b="0" i="0">
                <a:solidFill>
                  <a:srgbClr val="262626"/>
                </a:solidFill>
                <a:latin typeface="Calibri"/>
              </a:rPr>
              <a:t>ESP32-CAM como cámara</a:t>
            </a:r>
          </a:p>
          <a:p>
            <a:pPr marL="228600" indent="-201168" algn="l">
              <a:spcAft>
                <a:spcPts val="500"/>
              </a:spcAft>
              <a:buClr>
                <a:srgbClr val="8E1B1B"/>
              </a:buClr>
              <a:buFont typeface="Arial"/>
              <a:buChar char="•"/>
            </a:pPr>
            <a:r>
              <a:rPr sz="1300" b="0" i="0">
                <a:solidFill>
                  <a:srgbClr val="262626"/>
                </a:solidFill>
                <a:latin typeface="Calibri"/>
              </a:rPr>
              <a:t>Avance en sus proyectos</a:t>
            </a:r>
          </a:p>
        </p:txBody>
      </p:sp>
      <p:sp>
        <p:nvSpPr>
          <p:cNvPr id="25" name="Rounded Rectangle 24"/>
          <p:cNvSpPr/>
          <p:nvPr/>
        </p:nvSpPr>
        <p:spPr>
          <a:xfrm>
            <a:off x="6217920" y="3931920"/>
            <a:ext cx="2240280" cy="731520"/>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309359" y="3950208"/>
            <a:ext cx="2057400" cy="274320"/>
          </a:xfrm>
          <a:prstGeom prst="rect">
            <a:avLst/>
          </a:prstGeom>
          <a:noFill/>
        </p:spPr>
        <p:txBody>
          <a:bodyPr wrap="square" lIns="0" tIns="0" rIns="0" bIns="0" anchor="t">
            <a:spAutoFit/>
          </a:bodyPr>
          <a:lstStyle/>
          <a:p>
            <a:pPr algn="l">
              <a:spcAft>
                <a:spcPts val="600"/>
              </a:spcAft>
            </a:pPr>
            <a:r>
              <a:rPr sz="1000" b="0" i="0">
                <a:solidFill>
                  <a:srgbClr val="AEB4BD"/>
                </a:solidFill>
                <a:latin typeface="Calibri"/>
              </a:rPr>
              <a:t>Momentos de código</a:t>
            </a:r>
          </a:p>
        </p:txBody>
      </p:sp>
      <p:sp>
        <p:nvSpPr>
          <p:cNvPr id="27" name="TextBox 26"/>
          <p:cNvSpPr txBox="1"/>
          <p:nvPr/>
        </p:nvSpPr>
        <p:spPr>
          <a:xfrm>
            <a:off x="6309359" y="4206240"/>
            <a:ext cx="2057400" cy="411480"/>
          </a:xfrm>
          <a:prstGeom prst="rect">
            <a:avLst/>
          </a:prstGeom>
          <a:noFill/>
        </p:spPr>
        <p:txBody>
          <a:bodyPr wrap="square" lIns="0" tIns="0" rIns="0" bIns="0" anchor="t">
            <a:spAutoFit/>
          </a:bodyPr>
          <a:lstStyle/>
          <a:p>
            <a:pPr algn="l">
              <a:spcAft>
                <a:spcPts val="600"/>
              </a:spcAft>
            </a:pPr>
            <a:r>
              <a:rPr sz="1300" b="1" i="0">
                <a:solidFill>
                  <a:srgbClr val="9FE29F"/>
                </a:solidFill>
                <a:latin typeface="Courier New"/>
              </a:rPr>
              <a:t>07 · ESP32-CAM · API</a:t>
            </a:r>
          </a:p>
        </p:txBody>
      </p:sp>
      <p:sp>
        <p:nvSpPr>
          <p:cNvPr id="28" name="Rounded Rectangle 27"/>
          <p:cNvSpPr/>
          <p:nvPr/>
        </p:nvSpPr>
        <p:spPr>
          <a:xfrm>
            <a:off x="457200" y="5120640"/>
            <a:ext cx="502920" cy="502920"/>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laptop_w.png"/>
          <p:cNvPicPr>
            <a:picLocks noChangeAspect="1"/>
          </p:cNvPicPr>
          <p:nvPr/>
        </p:nvPicPr>
        <p:blipFill>
          <a:blip r:embed="rId5"/>
          <a:stretch>
            <a:fillRect/>
          </a:stretch>
        </p:blipFill>
        <p:spPr>
          <a:xfrm>
            <a:off x="548640" y="5212080"/>
            <a:ext cx="320040" cy="320040"/>
          </a:xfrm>
          <a:prstGeom prst="rect">
            <a:avLst/>
          </a:prstGeom>
        </p:spPr>
      </p:pic>
      <p:sp>
        <p:nvSpPr>
          <p:cNvPr id="30" name="TextBox 29"/>
          <p:cNvSpPr txBox="1"/>
          <p:nvPr/>
        </p:nvSpPr>
        <p:spPr>
          <a:xfrm>
            <a:off x="1097280" y="5074920"/>
            <a:ext cx="7589520" cy="594360"/>
          </a:xfrm>
          <a:prstGeom prst="rect">
            <a:avLst/>
          </a:prstGeom>
          <a:noFill/>
        </p:spPr>
        <p:txBody>
          <a:bodyPr wrap="square" anchor="ctr">
            <a:spAutoFit/>
          </a:bodyPr>
          <a:lstStyle/>
          <a:p>
            <a:pPr algn="l">
              <a:spcAft>
                <a:spcPts val="600"/>
              </a:spcAft>
            </a:pPr>
            <a:r>
              <a:rPr sz="1400" b="1" i="0">
                <a:solidFill>
                  <a:srgbClr val="262626"/>
                </a:solidFill>
                <a:latin typeface="Calibri"/>
              </a:rPr>
              <a:t>Diapositiva oscura</a:t>
            </a:r>
            <a:r>
              <a:rPr sz="1400" b="0" i="0">
                <a:solidFill>
                  <a:srgbClr val="262626"/>
                </a:solidFill>
                <a:latin typeface="Calibri"/>
              </a:rPr>
              <a:t> = momento de código: lo ejecutas en tu computador (≈ 10 min).</a:t>
            </a:r>
          </a:p>
        </p:txBody>
      </p:sp>
      <p:sp>
        <p:nvSpPr>
          <p:cNvPr id="31" name="Rounded Rectangle 30"/>
          <p:cNvSpPr/>
          <p:nvPr/>
        </p:nvSpPr>
        <p:spPr>
          <a:xfrm>
            <a:off x="457200" y="5760720"/>
            <a:ext cx="502920" cy="50292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cast_w.png"/>
          <p:cNvPicPr>
            <a:picLocks noChangeAspect="1"/>
          </p:cNvPicPr>
          <p:nvPr/>
        </p:nvPicPr>
        <p:blipFill>
          <a:blip r:embed="rId6"/>
          <a:stretch>
            <a:fillRect/>
          </a:stretch>
        </p:blipFill>
        <p:spPr>
          <a:xfrm>
            <a:off x="548640" y="5852160"/>
            <a:ext cx="320040" cy="320040"/>
          </a:xfrm>
          <a:prstGeom prst="rect">
            <a:avLst/>
          </a:prstGeom>
        </p:spPr>
      </p:pic>
      <p:sp>
        <p:nvSpPr>
          <p:cNvPr id="33" name="TextBox 32"/>
          <p:cNvSpPr txBox="1"/>
          <p:nvPr/>
        </p:nvSpPr>
        <p:spPr>
          <a:xfrm>
            <a:off x="1097280" y="5715000"/>
            <a:ext cx="7589520" cy="594360"/>
          </a:xfrm>
          <a:prstGeom prst="rect">
            <a:avLst/>
          </a:prstGeom>
          <a:noFill/>
        </p:spPr>
        <p:txBody>
          <a:bodyPr wrap="square" anchor="ctr">
            <a:spAutoFit/>
          </a:bodyPr>
          <a:lstStyle/>
          <a:p>
            <a:pPr algn="l">
              <a:spcAft>
                <a:spcPts val="600"/>
              </a:spcAft>
            </a:pPr>
            <a:r>
              <a:rPr sz="1400" b="1" i="0">
                <a:solidFill>
                  <a:srgbClr val="262626"/>
                </a:solidFill>
                <a:latin typeface="Calibri"/>
              </a:rPr>
              <a:t>Diapositiva roja</a:t>
            </a:r>
            <a:r>
              <a:rPr sz="1400" b="0" i="0">
                <a:solidFill>
                  <a:srgbClr val="262626"/>
                </a:solidFill>
                <a:latin typeface="Calibri"/>
              </a:rPr>
              <a:t> = demostración del profesor en la Raspberry Pi 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¿Con qué cámara vamos a trabajar?</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4</a:t>
            </a:r>
          </a:p>
        </p:txBody>
      </p:sp>
      <p:sp>
        <p:nvSpPr>
          <p:cNvPr id="7" name="TextBox 6"/>
          <p:cNvSpPr txBox="1"/>
          <p:nvPr/>
        </p:nvSpPr>
        <p:spPr>
          <a:xfrm>
            <a:off x="457200" y="1097280"/>
            <a:ext cx="8229600" cy="548640"/>
          </a:xfrm>
          <a:prstGeom prst="rect">
            <a:avLst/>
          </a:prstGeom>
          <a:noFill/>
        </p:spPr>
        <p:txBody>
          <a:bodyPr wrap="square" anchor="t">
            <a:spAutoFit/>
          </a:bodyPr>
          <a:lstStyle/>
          <a:p>
            <a:pPr algn="l">
              <a:spcAft>
                <a:spcPts val="600"/>
              </a:spcAft>
            </a:pPr>
            <a:r>
              <a:rPr sz="1600" b="0" i="0">
                <a:solidFill>
                  <a:srgbClr val="262626"/>
                </a:solidFill>
                <a:latin typeface="Calibri"/>
              </a:rPr>
              <a:t>No necesitas una Raspberry Pi: </a:t>
            </a:r>
            <a:r>
              <a:rPr sz="1600" b="1" i="0">
                <a:solidFill>
                  <a:srgbClr val="262626"/>
                </a:solidFill>
                <a:latin typeface="Calibri"/>
              </a:rPr>
              <a:t>tu notebook + una cámara</a:t>
            </a:r>
            <a:r>
              <a:rPr sz="1600" b="0" i="0">
                <a:solidFill>
                  <a:srgbClr val="262626"/>
                </a:solidFill>
                <a:latin typeface="Calibri"/>
              </a:rPr>
              <a:t> bastan. El código es el mismo para todas.</a:t>
            </a:r>
          </a:p>
        </p:txBody>
      </p:sp>
      <p:sp>
        <p:nvSpPr>
          <p:cNvPr id="8" name="Rounded Rectangle 7"/>
          <p:cNvSpPr/>
          <p:nvPr/>
        </p:nvSpPr>
        <p:spPr>
          <a:xfrm>
            <a:off x="457200" y="1783080"/>
            <a:ext cx="4023360" cy="14173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0080" y="196596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laptop_w.png"/>
          <p:cNvPicPr>
            <a:picLocks noChangeAspect="1"/>
          </p:cNvPicPr>
          <p:nvPr/>
        </p:nvPicPr>
        <p:blipFill>
          <a:blip r:embed="rId5"/>
          <a:stretch>
            <a:fillRect/>
          </a:stretch>
        </p:blipFill>
        <p:spPr>
          <a:xfrm>
            <a:off x="760780" y="2086660"/>
            <a:ext cx="307238" cy="307238"/>
          </a:xfrm>
          <a:prstGeom prst="rect">
            <a:avLst/>
          </a:prstGeom>
        </p:spPr>
      </p:pic>
      <p:sp>
        <p:nvSpPr>
          <p:cNvPr id="11" name="TextBox 10"/>
          <p:cNvSpPr txBox="1"/>
          <p:nvPr/>
        </p:nvSpPr>
        <p:spPr>
          <a:xfrm>
            <a:off x="1325880" y="1920240"/>
            <a:ext cx="3063240" cy="365760"/>
          </a:xfrm>
          <a:prstGeom prst="rect">
            <a:avLst/>
          </a:prstGeom>
          <a:noFill/>
        </p:spPr>
        <p:txBody>
          <a:bodyPr wrap="square" lIns="18288" tIns="18288" rIns="18288" bIns="18288" anchor="t">
            <a:spAutoFit/>
          </a:bodyPr>
          <a:lstStyle/>
          <a:p>
            <a:pPr algn="l">
              <a:spcAft>
                <a:spcPts val="600"/>
              </a:spcAft>
            </a:pPr>
            <a:r>
              <a:rPr sz="1500" b="1" i="0">
                <a:solidFill>
                  <a:srgbClr val="8E1B1B"/>
                </a:solidFill>
                <a:latin typeface="Calibri"/>
              </a:rPr>
              <a:t>Webcam del notebook</a:t>
            </a:r>
          </a:p>
        </p:txBody>
      </p:sp>
      <p:sp>
        <p:nvSpPr>
          <p:cNvPr id="12" name="TextBox 11"/>
          <p:cNvSpPr txBox="1"/>
          <p:nvPr/>
        </p:nvSpPr>
        <p:spPr>
          <a:xfrm>
            <a:off x="1325880" y="2286000"/>
            <a:ext cx="3063240" cy="365760"/>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La más simple. Sin argumento.</a:t>
            </a:r>
          </a:p>
        </p:txBody>
      </p:sp>
      <p:sp>
        <p:nvSpPr>
          <p:cNvPr id="13" name="TextBox 12"/>
          <p:cNvSpPr txBox="1"/>
          <p:nvPr/>
        </p:nvSpPr>
        <p:spPr>
          <a:xfrm>
            <a:off x="640080" y="2697480"/>
            <a:ext cx="3657600" cy="365760"/>
          </a:xfrm>
          <a:prstGeom prst="rect">
            <a:avLst/>
          </a:prstGeom>
          <a:noFill/>
        </p:spPr>
        <p:txBody>
          <a:bodyPr wrap="square" lIns="18288" tIns="18288" rIns="18288" bIns="18288" anchor="t">
            <a:spAutoFit/>
          </a:bodyPr>
          <a:lstStyle/>
          <a:p>
            <a:pPr algn="l">
              <a:spcAft>
                <a:spcPts val="600"/>
              </a:spcAft>
            </a:pPr>
            <a:r>
              <a:rPr sz="1200" b="0" i="0">
                <a:solidFill>
                  <a:srgbClr val="8E1B1B"/>
                </a:solidFill>
                <a:latin typeface="Courier New"/>
              </a:rPr>
              <a:t>python 05_yolo_camara.py</a:t>
            </a:r>
          </a:p>
        </p:txBody>
      </p:sp>
      <p:sp>
        <p:nvSpPr>
          <p:cNvPr id="14" name="Rounded Rectangle 13"/>
          <p:cNvSpPr/>
          <p:nvPr/>
        </p:nvSpPr>
        <p:spPr>
          <a:xfrm>
            <a:off x="4663440" y="1783080"/>
            <a:ext cx="4023360" cy="14173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846320" y="196596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videocam_w.png"/>
          <p:cNvPicPr>
            <a:picLocks noChangeAspect="1"/>
          </p:cNvPicPr>
          <p:nvPr/>
        </p:nvPicPr>
        <p:blipFill>
          <a:blip r:embed="rId6"/>
          <a:stretch>
            <a:fillRect/>
          </a:stretch>
        </p:blipFill>
        <p:spPr>
          <a:xfrm>
            <a:off x="4967020" y="2086660"/>
            <a:ext cx="307238" cy="307238"/>
          </a:xfrm>
          <a:prstGeom prst="rect">
            <a:avLst/>
          </a:prstGeom>
        </p:spPr>
      </p:pic>
      <p:sp>
        <p:nvSpPr>
          <p:cNvPr id="17" name="TextBox 16"/>
          <p:cNvSpPr txBox="1"/>
          <p:nvPr/>
        </p:nvSpPr>
        <p:spPr>
          <a:xfrm>
            <a:off x="5532120" y="1920240"/>
            <a:ext cx="3063240" cy="365760"/>
          </a:xfrm>
          <a:prstGeom prst="rect">
            <a:avLst/>
          </a:prstGeom>
          <a:noFill/>
        </p:spPr>
        <p:txBody>
          <a:bodyPr wrap="square" lIns="18288" tIns="18288" rIns="18288" bIns="18288" anchor="t">
            <a:spAutoFit/>
          </a:bodyPr>
          <a:lstStyle/>
          <a:p>
            <a:pPr algn="l">
              <a:spcAft>
                <a:spcPts val="600"/>
              </a:spcAft>
            </a:pPr>
            <a:r>
              <a:rPr sz="1500" b="1" i="0">
                <a:solidFill>
                  <a:srgbClr val="8E1B1B"/>
                </a:solidFill>
                <a:latin typeface="Calibri"/>
              </a:rPr>
              <a:t>Webcam USB</a:t>
            </a:r>
          </a:p>
        </p:txBody>
      </p:sp>
      <p:sp>
        <p:nvSpPr>
          <p:cNvPr id="18" name="TextBox 17"/>
          <p:cNvSpPr txBox="1"/>
          <p:nvPr/>
        </p:nvSpPr>
        <p:spPr>
          <a:xfrm>
            <a:off x="5532120" y="2286000"/>
            <a:ext cx="3063240" cy="365760"/>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Pídanla para su proyecto. Índice 1, 2...</a:t>
            </a:r>
          </a:p>
        </p:txBody>
      </p:sp>
      <p:sp>
        <p:nvSpPr>
          <p:cNvPr id="19" name="TextBox 18"/>
          <p:cNvSpPr txBox="1"/>
          <p:nvPr/>
        </p:nvSpPr>
        <p:spPr>
          <a:xfrm>
            <a:off x="4846320" y="2697480"/>
            <a:ext cx="3657600" cy="365760"/>
          </a:xfrm>
          <a:prstGeom prst="rect">
            <a:avLst/>
          </a:prstGeom>
          <a:noFill/>
        </p:spPr>
        <p:txBody>
          <a:bodyPr wrap="square" lIns="18288" tIns="18288" rIns="18288" bIns="18288" anchor="t">
            <a:spAutoFit/>
          </a:bodyPr>
          <a:lstStyle/>
          <a:p>
            <a:pPr algn="l">
              <a:spcAft>
                <a:spcPts val="600"/>
              </a:spcAft>
            </a:pPr>
            <a:r>
              <a:rPr sz="1200" b="0" i="0">
                <a:solidFill>
                  <a:srgbClr val="8E1B1B"/>
                </a:solidFill>
                <a:latin typeface="Courier New"/>
              </a:rPr>
              <a:t>python 05_yolo_camara.py 1</a:t>
            </a:r>
          </a:p>
        </p:txBody>
      </p:sp>
      <p:sp>
        <p:nvSpPr>
          <p:cNvPr id="20" name="Rounded Rectangle 19"/>
          <p:cNvSpPr/>
          <p:nvPr/>
        </p:nvSpPr>
        <p:spPr>
          <a:xfrm>
            <a:off x="457200" y="3383280"/>
            <a:ext cx="4023360" cy="14173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640080" y="356616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phone_w.png"/>
          <p:cNvPicPr>
            <a:picLocks noChangeAspect="1"/>
          </p:cNvPicPr>
          <p:nvPr/>
        </p:nvPicPr>
        <p:blipFill>
          <a:blip r:embed="rId7"/>
          <a:stretch>
            <a:fillRect/>
          </a:stretch>
        </p:blipFill>
        <p:spPr>
          <a:xfrm>
            <a:off x="760780" y="3686860"/>
            <a:ext cx="307238" cy="307238"/>
          </a:xfrm>
          <a:prstGeom prst="rect">
            <a:avLst/>
          </a:prstGeom>
        </p:spPr>
      </p:pic>
      <p:sp>
        <p:nvSpPr>
          <p:cNvPr id="23" name="TextBox 22"/>
          <p:cNvSpPr txBox="1"/>
          <p:nvPr/>
        </p:nvSpPr>
        <p:spPr>
          <a:xfrm>
            <a:off x="1325880" y="3520440"/>
            <a:ext cx="3063240" cy="365760"/>
          </a:xfrm>
          <a:prstGeom prst="rect">
            <a:avLst/>
          </a:prstGeom>
          <a:noFill/>
        </p:spPr>
        <p:txBody>
          <a:bodyPr wrap="square" lIns="18288" tIns="18288" rIns="18288" bIns="18288" anchor="t">
            <a:spAutoFit/>
          </a:bodyPr>
          <a:lstStyle/>
          <a:p>
            <a:pPr algn="l">
              <a:spcAft>
                <a:spcPts val="600"/>
              </a:spcAft>
            </a:pPr>
            <a:r>
              <a:rPr sz="1500" b="1" i="0">
                <a:solidFill>
                  <a:srgbClr val="8E1B1B"/>
                </a:solidFill>
                <a:latin typeface="Calibri"/>
              </a:rPr>
              <a:t>Celular como cámara</a:t>
            </a:r>
          </a:p>
        </p:txBody>
      </p:sp>
      <p:sp>
        <p:nvSpPr>
          <p:cNvPr id="24" name="TextBox 23"/>
          <p:cNvSpPr txBox="1"/>
          <p:nvPr/>
        </p:nvSpPr>
        <p:spPr>
          <a:xfrm>
            <a:off x="1325880" y="3886200"/>
            <a:ext cx="3063240" cy="365760"/>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App tipo IP Webcam o DroidCam, por WiFi.</a:t>
            </a:r>
          </a:p>
        </p:txBody>
      </p:sp>
      <p:sp>
        <p:nvSpPr>
          <p:cNvPr id="25" name="TextBox 24"/>
          <p:cNvSpPr txBox="1"/>
          <p:nvPr/>
        </p:nvSpPr>
        <p:spPr>
          <a:xfrm>
            <a:off x="640080" y="4297680"/>
            <a:ext cx="3657600" cy="365760"/>
          </a:xfrm>
          <a:prstGeom prst="rect">
            <a:avLst/>
          </a:prstGeom>
          <a:noFill/>
        </p:spPr>
        <p:txBody>
          <a:bodyPr wrap="square" lIns="18288" tIns="18288" rIns="18288" bIns="18288" anchor="t">
            <a:spAutoFit/>
          </a:bodyPr>
          <a:lstStyle/>
          <a:p>
            <a:pPr algn="l">
              <a:spcAft>
                <a:spcPts val="600"/>
              </a:spcAft>
            </a:pPr>
            <a:r>
              <a:rPr sz="1200" b="0" i="0">
                <a:solidFill>
                  <a:srgbClr val="8E1B1B"/>
                </a:solidFill>
                <a:latin typeface="Courier New"/>
              </a:rPr>
              <a:t>... http://IP:8080/video</a:t>
            </a:r>
          </a:p>
        </p:txBody>
      </p:sp>
      <p:sp>
        <p:nvSpPr>
          <p:cNvPr id="26" name="Rounded Rectangle 25"/>
          <p:cNvSpPr/>
          <p:nvPr/>
        </p:nvSpPr>
        <p:spPr>
          <a:xfrm>
            <a:off x="4663440" y="3383280"/>
            <a:ext cx="4023360" cy="141732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4846320" y="356616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linkcam_w.png"/>
          <p:cNvPicPr>
            <a:picLocks noChangeAspect="1"/>
          </p:cNvPicPr>
          <p:nvPr/>
        </p:nvPicPr>
        <p:blipFill>
          <a:blip r:embed="rId8"/>
          <a:stretch>
            <a:fillRect/>
          </a:stretch>
        </p:blipFill>
        <p:spPr>
          <a:xfrm>
            <a:off x="4967020" y="3686860"/>
            <a:ext cx="307238" cy="307238"/>
          </a:xfrm>
          <a:prstGeom prst="rect">
            <a:avLst/>
          </a:prstGeom>
        </p:spPr>
      </p:pic>
      <p:sp>
        <p:nvSpPr>
          <p:cNvPr id="29" name="TextBox 28"/>
          <p:cNvSpPr txBox="1"/>
          <p:nvPr/>
        </p:nvSpPr>
        <p:spPr>
          <a:xfrm>
            <a:off x="5532120" y="3520440"/>
            <a:ext cx="3063240" cy="365760"/>
          </a:xfrm>
          <a:prstGeom prst="rect">
            <a:avLst/>
          </a:prstGeom>
          <a:noFill/>
        </p:spPr>
        <p:txBody>
          <a:bodyPr wrap="square" lIns="18288" tIns="18288" rIns="18288" bIns="18288" anchor="t">
            <a:spAutoFit/>
          </a:bodyPr>
          <a:lstStyle/>
          <a:p>
            <a:pPr algn="l">
              <a:spcAft>
                <a:spcPts val="600"/>
              </a:spcAft>
            </a:pPr>
            <a:r>
              <a:rPr sz="1500" b="1" i="0">
                <a:solidFill>
                  <a:srgbClr val="8E1B1B"/>
                </a:solidFill>
                <a:latin typeface="Calibri"/>
              </a:rPr>
              <a:t>ESP32-CAM (Clase 3)</a:t>
            </a:r>
          </a:p>
        </p:txBody>
      </p:sp>
      <p:sp>
        <p:nvSpPr>
          <p:cNvPr id="30" name="TextBox 29"/>
          <p:cNvSpPr txBox="1"/>
          <p:nvPr/>
        </p:nvSpPr>
        <p:spPr>
          <a:xfrm>
            <a:off x="5532120" y="3886200"/>
            <a:ext cx="3063240" cy="365760"/>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Cuando llegue: envía video por WiFi.</a:t>
            </a:r>
          </a:p>
        </p:txBody>
      </p:sp>
      <p:sp>
        <p:nvSpPr>
          <p:cNvPr id="31" name="TextBox 30"/>
          <p:cNvSpPr txBox="1"/>
          <p:nvPr/>
        </p:nvSpPr>
        <p:spPr>
          <a:xfrm>
            <a:off x="4846320" y="4297680"/>
            <a:ext cx="3657600" cy="365760"/>
          </a:xfrm>
          <a:prstGeom prst="rect">
            <a:avLst/>
          </a:prstGeom>
          <a:noFill/>
        </p:spPr>
        <p:txBody>
          <a:bodyPr wrap="square" lIns="18288" tIns="18288" rIns="18288" bIns="18288" anchor="t">
            <a:spAutoFit/>
          </a:bodyPr>
          <a:lstStyle/>
          <a:p>
            <a:pPr algn="l">
              <a:spcAft>
                <a:spcPts val="600"/>
              </a:spcAft>
            </a:pPr>
            <a:r>
              <a:rPr sz="1200" b="0" i="0">
                <a:solidFill>
                  <a:srgbClr val="8E1B1B"/>
                </a:solidFill>
                <a:latin typeface="Courier New"/>
              </a:rPr>
              <a:t>... http://IP:81/stream</a:t>
            </a:r>
          </a:p>
        </p:txBody>
      </p:sp>
      <p:sp>
        <p:nvSpPr>
          <p:cNvPr id="32" name="Rounded Rectangle 31"/>
          <p:cNvSpPr/>
          <p:nvPr/>
        </p:nvSpPr>
        <p:spPr>
          <a:xfrm>
            <a:off x="457200" y="5120640"/>
            <a:ext cx="8229600" cy="1097280"/>
          </a:xfrm>
          <a:prstGeom prst="roundRect">
            <a:avLst>
              <a:gd name="adj" fmla="val 6000"/>
            </a:avLst>
          </a:prstGeom>
          <a:solidFill>
            <a:srgbClr val="F6F6F6"/>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640080" y="5303520"/>
            <a:ext cx="685800" cy="685800"/>
          </a:xfrm>
          <a:prstGeom prst="ellipse">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cpu_r.png"/>
          <p:cNvPicPr>
            <a:picLocks noChangeAspect="1"/>
          </p:cNvPicPr>
          <p:nvPr/>
        </p:nvPicPr>
        <p:blipFill>
          <a:blip r:embed="rId9"/>
          <a:stretch>
            <a:fillRect/>
          </a:stretch>
        </p:blipFill>
        <p:spPr>
          <a:xfrm>
            <a:off x="790956" y="5454396"/>
            <a:ext cx="384048" cy="384048"/>
          </a:xfrm>
          <a:prstGeom prst="rect">
            <a:avLst/>
          </a:prstGeom>
        </p:spPr>
      </p:pic>
      <p:sp>
        <p:nvSpPr>
          <p:cNvPr id="35" name="TextBox 34"/>
          <p:cNvSpPr txBox="1"/>
          <p:nvPr/>
        </p:nvSpPr>
        <p:spPr>
          <a:xfrm>
            <a:off x="1554480" y="5120640"/>
            <a:ext cx="7040880" cy="1097280"/>
          </a:xfrm>
          <a:prstGeom prst="rect">
            <a:avLst/>
          </a:prstGeom>
          <a:noFill/>
        </p:spPr>
        <p:txBody>
          <a:bodyPr wrap="square" anchor="ctr">
            <a:spAutoFit/>
          </a:bodyPr>
          <a:lstStyle/>
          <a:p>
            <a:pPr algn="l">
              <a:spcAft>
                <a:spcPts val="600"/>
              </a:spcAft>
            </a:pPr>
            <a:r>
              <a:rPr sz="1300" b="1" i="0">
                <a:solidFill>
                  <a:srgbClr val="262626"/>
                </a:solidFill>
                <a:latin typeface="Calibri"/>
              </a:rPr>
              <a:t>Raspberry Pi 4:</a:t>
            </a:r>
            <a:r>
              <a:rPr sz="1300" b="0" i="0">
                <a:solidFill>
                  <a:srgbClr val="262626"/>
                </a:solidFill>
                <a:latin typeface="Calibri"/>
              </a:rPr>
              <a:t> la usa el profesor en las demostraciones para mostrar cómo corre lo mismo en un dispositivo pequeño. </a:t>
            </a:r>
            <a:r>
              <a:rPr sz="1300" b="1" i="0">
                <a:solidFill>
                  <a:srgbClr val="262626"/>
                </a:solidFill>
                <a:latin typeface="Calibri"/>
              </a:rPr>
              <a:t>¿Sin cámara?</a:t>
            </a:r>
            <a:r>
              <a:rPr sz="1300" b="0" i="0">
                <a:solidFill>
                  <a:srgbClr val="262626"/>
                </a:solidFill>
                <a:latin typeface="Calibri"/>
              </a:rPr>
              <a:t> Usa las imágenes de la carpeta o un video.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Pregunta inicial</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5</a:t>
            </a:r>
          </a:p>
        </p:txBody>
      </p:sp>
      <p:sp>
        <p:nvSpPr>
          <p:cNvPr id="7" name="Rounded Rectangle 6"/>
          <p:cNvSpPr/>
          <p:nvPr/>
        </p:nvSpPr>
        <p:spPr>
          <a:xfrm>
            <a:off x="640080" y="1645920"/>
            <a:ext cx="7863840" cy="219456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05840" y="1645920"/>
            <a:ext cx="7132320" cy="2194560"/>
          </a:xfrm>
          <a:prstGeom prst="rect">
            <a:avLst/>
          </a:prstGeom>
          <a:noFill/>
        </p:spPr>
        <p:txBody>
          <a:bodyPr wrap="square" anchor="ctr">
            <a:spAutoFit/>
          </a:bodyPr>
          <a:lstStyle/>
          <a:p>
            <a:pPr algn="ctr">
              <a:spcAft>
                <a:spcPts val="600"/>
              </a:spcAft>
            </a:pPr>
            <a:r>
              <a:rPr sz="2400" b="1" i="0">
                <a:solidFill>
                  <a:srgbClr val="8E1B1B"/>
                </a:solidFill>
                <a:latin typeface="Calibri"/>
              </a:rPr>
              <a:t>Hoy, ¿cuántas veces una cámara «leyó» algo sobre ti sin que te dieras cuenta?</a:t>
            </a:r>
          </a:p>
        </p:txBody>
      </p:sp>
      <p:sp>
        <p:nvSpPr>
          <p:cNvPr id="9" name="Oval 8"/>
          <p:cNvSpPr/>
          <p:nvPr/>
        </p:nvSpPr>
        <p:spPr>
          <a:xfrm>
            <a:off x="1234440" y="420624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ace_w.png"/>
          <p:cNvPicPr>
            <a:picLocks noChangeAspect="1"/>
          </p:cNvPicPr>
          <p:nvPr/>
        </p:nvPicPr>
        <p:blipFill>
          <a:blip r:embed="rId5"/>
          <a:stretch>
            <a:fillRect/>
          </a:stretch>
        </p:blipFill>
        <p:spPr>
          <a:xfrm>
            <a:off x="1385316" y="4357116"/>
            <a:ext cx="384048" cy="384048"/>
          </a:xfrm>
          <a:prstGeom prst="rect">
            <a:avLst/>
          </a:prstGeom>
        </p:spPr>
      </p:pic>
      <p:sp>
        <p:nvSpPr>
          <p:cNvPr id="11" name="TextBox 10"/>
          <p:cNvSpPr txBox="1"/>
          <p:nvPr/>
        </p:nvSpPr>
        <p:spPr>
          <a:xfrm>
            <a:off x="640080" y="4983480"/>
            <a:ext cx="1828800" cy="731520"/>
          </a:xfrm>
          <a:prstGeom prst="rect">
            <a:avLst/>
          </a:prstGeom>
          <a:noFill/>
        </p:spPr>
        <p:txBody>
          <a:bodyPr wrap="square" anchor="t">
            <a:spAutoFit/>
          </a:bodyPr>
          <a:lstStyle/>
          <a:p>
            <a:pPr algn="ctr">
              <a:spcAft>
                <a:spcPts val="600"/>
              </a:spcAft>
            </a:pPr>
            <a:r>
              <a:rPr sz="1300" b="0" i="0">
                <a:solidFill>
                  <a:srgbClr val="262626"/>
                </a:solidFill>
                <a:latin typeface="Calibri"/>
              </a:rPr>
              <a:t>Desbloqueo facial</a:t>
            </a:r>
          </a:p>
        </p:txBody>
      </p:sp>
      <p:sp>
        <p:nvSpPr>
          <p:cNvPr id="12" name="Oval 11"/>
          <p:cNvSpPr/>
          <p:nvPr/>
        </p:nvSpPr>
        <p:spPr>
          <a:xfrm>
            <a:off x="3246120" y="420624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ar_w.png"/>
          <p:cNvPicPr>
            <a:picLocks noChangeAspect="1"/>
          </p:cNvPicPr>
          <p:nvPr/>
        </p:nvPicPr>
        <p:blipFill>
          <a:blip r:embed="rId6"/>
          <a:stretch>
            <a:fillRect/>
          </a:stretch>
        </p:blipFill>
        <p:spPr>
          <a:xfrm>
            <a:off x="3396996" y="4357116"/>
            <a:ext cx="384048" cy="384048"/>
          </a:xfrm>
          <a:prstGeom prst="rect">
            <a:avLst/>
          </a:prstGeom>
        </p:spPr>
      </p:pic>
      <p:sp>
        <p:nvSpPr>
          <p:cNvPr id="14" name="TextBox 13"/>
          <p:cNvSpPr txBox="1"/>
          <p:nvPr/>
        </p:nvSpPr>
        <p:spPr>
          <a:xfrm>
            <a:off x="2651760" y="4983480"/>
            <a:ext cx="1828800" cy="731520"/>
          </a:xfrm>
          <a:prstGeom prst="rect">
            <a:avLst/>
          </a:prstGeom>
          <a:noFill/>
        </p:spPr>
        <p:txBody>
          <a:bodyPr wrap="square" anchor="t">
            <a:spAutoFit/>
          </a:bodyPr>
          <a:lstStyle/>
          <a:p>
            <a:pPr algn="ctr">
              <a:spcAft>
                <a:spcPts val="600"/>
              </a:spcAft>
            </a:pPr>
            <a:r>
              <a:rPr sz="1300" b="0" i="0">
                <a:solidFill>
                  <a:srgbClr val="262626"/>
                </a:solidFill>
                <a:latin typeface="Calibri"/>
              </a:rPr>
              <a:t>Patente en un estacionamiento</a:t>
            </a:r>
          </a:p>
        </p:txBody>
      </p:sp>
      <p:sp>
        <p:nvSpPr>
          <p:cNvPr id="15" name="Oval 14"/>
          <p:cNvSpPr/>
          <p:nvPr/>
        </p:nvSpPr>
        <p:spPr>
          <a:xfrm>
            <a:off x="5257800" y="420624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text_w.png"/>
          <p:cNvPicPr>
            <a:picLocks noChangeAspect="1"/>
          </p:cNvPicPr>
          <p:nvPr/>
        </p:nvPicPr>
        <p:blipFill>
          <a:blip r:embed="rId7"/>
          <a:stretch>
            <a:fillRect/>
          </a:stretch>
        </p:blipFill>
        <p:spPr>
          <a:xfrm>
            <a:off x="5408676" y="4357116"/>
            <a:ext cx="384048" cy="384048"/>
          </a:xfrm>
          <a:prstGeom prst="rect">
            <a:avLst/>
          </a:prstGeom>
        </p:spPr>
      </p:pic>
      <p:sp>
        <p:nvSpPr>
          <p:cNvPr id="17" name="TextBox 16"/>
          <p:cNvSpPr txBox="1"/>
          <p:nvPr/>
        </p:nvSpPr>
        <p:spPr>
          <a:xfrm>
            <a:off x="4663440" y="4983480"/>
            <a:ext cx="1828800" cy="731520"/>
          </a:xfrm>
          <a:prstGeom prst="rect">
            <a:avLst/>
          </a:prstGeom>
          <a:noFill/>
        </p:spPr>
        <p:txBody>
          <a:bodyPr wrap="square" anchor="t">
            <a:spAutoFit/>
          </a:bodyPr>
          <a:lstStyle/>
          <a:p>
            <a:pPr algn="ctr">
              <a:spcAft>
                <a:spcPts val="600"/>
              </a:spcAft>
            </a:pPr>
            <a:r>
              <a:rPr sz="1300" b="0" i="0">
                <a:solidFill>
                  <a:srgbClr val="262626"/>
                </a:solidFill>
                <a:latin typeface="Calibri"/>
              </a:rPr>
              <a:t>Traducir un letrero con el celular</a:t>
            </a:r>
          </a:p>
        </p:txBody>
      </p:sp>
      <p:sp>
        <p:nvSpPr>
          <p:cNvPr id="18" name="Oval 17"/>
          <p:cNvSpPr/>
          <p:nvPr/>
        </p:nvSpPr>
        <p:spPr>
          <a:xfrm>
            <a:off x="7269480" y="420624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ar_w.png"/>
          <p:cNvPicPr>
            <a:picLocks noChangeAspect="1"/>
          </p:cNvPicPr>
          <p:nvPr/>
        </p:nvPicPr>
        <p:blipFill>
          <a:blip r:embed="rId8"/>
          <a:stretch>
            <a:fillRect/>
          </a:stretch>
        </p:blipFill>
        <p:spPr>
          <a:xfrm>
            <a:off x="7420356" y="4357116"/>
            <a:ext cx="384048" cy="384048"/>
          </a:xfrm>
          <a:prstGeom prst="rect">
            <a:avLst/>
          </a:prstGeom>
        </p:spPr>
      </p:pic>
      <p:sp>
        <p:nvSpPr>
          <p:cNvPr id="20" name="TextBox 19"/>
          <p:cNvSpPr txBox="1"/>
          <p:nvPr/>
        </p:nvSpPr>
        <p:spPr>
          <a:xfrm>
            <a:off x="6675120" y="4983480"/>
            <a:ext cx="1828800" cy="731520"/>
          </a:xfrm>
          <a:prstGeom prst="rect">
            <a:avLst/>
          </a:prstGeom>
          <a:noFill/>
        </p:spPr>
        <p:txBody>
          <a:bodyPr wrap="square" anchor="t">
            <a:spAutoFit/>
          </a:bodyPr>
          <a:lstStyle/>
          <a:p>
            <a:pPr algn="ctr">
              <a:spcAft>
                <a:spcPts val="600"/>
              </a:spcAft>
            </a:pPr>
            <a:r>
              <a:rPr sz="1300" b="0" i="0">
                <a:solidFill>
                  <a:srgbClr val="262626"/>
                </a:solidFill>
                <a:latin typeface="Calibri"/>
              </a:rPr>
              <a:t>Filtros de realidad aumentada</a:t>
            </a:r>
          </a:p>
        </p:txBody>
      </p:sp>
      <p:sp>
        <p:nvSpPr>
          <p:cNvPr id="21" name="TextBox 20"/>
          <p:cNvSpPr txBox="1"/>
          <p:nvPr/>
        </p:nvSpPr>
        <p:spPr>
          <a:xfrm>
            <a:off x="640080" y="5897880"/>
            <a:ext cx="7863840" cy="365760"/>
          </a:xfrm>
          <a:prstGeom prst="rect">
            <a:avLst/>
          </a:prstGeom>
          <a:noFill/>
        </p:spPr>
        <p:txBody>
          <a:bodyPr wrap="square" anchor="t">
            <a:spAutoFit/>
          </a:bodyPr>
          <a:lstStyle/>
          <a:p>
            <a:pPr algn="ctr">
              <a:spcAft>
                <a:spcPts val="600"/>
              </a:spcAft>
            </a:pPr>
            <a:r>
              <a:rPr sz="1200" b="0" i="1">
                <a:solidFill>
                  <a:srgbClr val="707070"/>
                </a:solidFill>
                <a:latin typeface="Calibri"/>
              </a:rPr>
              <a:t>Actividad de activación — 3 a 5 minutos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¿Cómo se conecta con lo que hemos visto?</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6</a:t>
            </a:r>
          </a:p>
        </p:txBody>
      </p:sp>
      <p:sp>
        <p:nvSpPr>
          <p:cNvPr id="7" name="TextBox 6"/>
          <p:cNvSpPr txBox="1"/>
          <p:nvPr/>
        </p:nvSpPr>
        <p:spPr>
          <a:xfrm>
            <a:off x="457200" y="1097280"/>
            <a:ext cx="8229600" cy="548640"/>
          </a:xfrm>
          <a:prstGeom prst="rect">
            <a:avLst/>
          </a:prstGeom>
          <a:noFill/>
        </p:spPr>
        <p:txBody>
          <a:bodyPr wrap="square" anchor="t">
            <a:spAutoFit/>
          </a:bodyPr>
          <a:lstStyle/>
          <a:p>
            <a:pPr algn="l">
              <a:spcAft>
                <a:spcPts val="600"/>
              </a:spcAft>
            </a:pPr>
            <a:r>
              <a:rPr sz="1600" b="0" i="0">
                <a:solidFill>
                  <a:srgbClr val="262626"/>
                </a:solidFill>
                <a:latin typeface="Calibri"/>
              </a:rPr>
              <a:t>La cámara es un </a:t>
            </a:r>
            <a:r>
              <a:rPr sz="1600" b="1" i="0">
                <a:solidFill>
                  <a:srgbClr val="262626"/>
                </a:solidFill>
                <a:latin typeface="Calibri"/>
              </a:rPr>
              <a:t>sensor</a:t>
            </a:r>
            <a:r>
              <a:rPr sz="1600" b="0" i="0">
                <a:solidFill>
                  <a:srgbClr val="262626"/>
                </a:solidFill>
                <a:latin typeface="Calibri"/>
              </a:rPr>
              <a:t>: el más rico de todos, pero también el que más procesamiento necesita.</a:t>
            </a:r>
          </a:p>
        </p:txBody>
      </p:sp>
      <p:sp>
        <p:nvSpPr>
          <p:cNvPr id="8" name="Rounded Rectangle 7"/>
          <p:cNvSpPr/>
          <p:nvPr/>
        </p:nvSpPr>
        <p:spPr>
          <a:xfrm>
            <a:off x="457200" y="1783080"/>
            <a:ext cx="2514600" cy="19659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371600" y="192024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amera_w.png"/>
          <p:cNvPicPr>
            <a:picLocks noChangeAspect="1"/>
          </p:cNvPicPr>
          <p:nvPr/>
        </p:nvPicPr>
        <p:blipFill>
          <a:blip r:embed="rId5"/>
          <a:stretch>
            <a:fillRect/>
          </a:stretch>
        </p:blipFill>
        <p:spPr>
          <a:xfrm>
            <a:off x="1522476" y="2071116"/>
            <a:ext cx="384048" cy="384048"/>
          </a:xfrm>
          <a:prstGeom prst="rect">
            <a:avLst/>
          </a:prstGeom>
        </p:spPr>
      </p:pic>
      <p:sp>
        <p:nvSpPr>
          <p:cNvPr id="11" name="TextBox 10"/>
          <p:cNvSpPr txBox="1"/>
          <p:nvPr/>
        </p:nvSpPr>
        <p:spPr>
          <a:xfrm>
            <a:off x="548640" y="2651760"/>
            <a:ext cx="2331720" cy="365760"/>
          </a:xfrm>
          <a:prstGeom prst="rect">
            <a:avLst/>
          </a:prstGeom>
          <a:noFill/>
        </p:spPr>
        <p:txBody>
          <a:bodyPr wrap="square" anchor="t">
            <a:spAutoFit/>
          </a:bodyPr>
          <a:lstStyle/>
          <a:p>
            <a:pPr algn="ctr">
              <a:spcAft>
                <a:spcPts val="600"/>
              </a:spcAft>
            </a:pPr>
            <a:r>
              <a:rPr sz="1500" b="1" i="0">
                <a:solidFill>
                  <a:srgbClr val="8E1B1B"/>
                </a:solidFill>
                <a:latin typeface="Calibri"/>
              </a:rPr>
              <a:t>Sensor</a:t>
            </a:r>
          </a:p>
        </p:txBody>
      </p:sp>
      <p:sp>
        <p:nvSpPr>
          <p:cNvPr id="12" name="TextBox 11"/>
          <p:cNvSpPr txBox="1"/>
          <p:nvPr/>
        </p:nvSpPr>
        <p:spPr>
          <a:xfrm>
            <a:off x="594360" y="3017520"/>
            <a:ext cx="2240280" cy="731520"/>
          </a:xfrm>
          <a:prstGeom prst="rect">
            <a:avLst/>
          </a:prstGeom>
          <a:noFill/>
        </p:spPr>
        <p:txBody>
          <a:bodyPr wrap="square" anchor="t">
            <a:spAutoFit/>
          </a:bodyPr>
          <a:lstStyle/>
          <a:p>
            <a:pPr algn="ctr">
              <a:spcAft>
                <a:spcPts val="600"/>
              </a:spcAft>
            </a:pPr>
            <a:r>
              <a:rPr sz="1300" b="0" i="0">
                <a:solidFill>
                  <a:srgbClr val="262626"/>
                </a:solidFill>
                <a:latin typeface="Calibri"/>
              </a:rPr>
              <a:t>Cámara: millones de números por segundo</a:t>
            </a:r>
          </a:p>
        </p:txBody>
      </p:sp>
      <p:sp>
        <p:nvSpPr>
          <p:cNvPr id="13" name="Right Arrow 12"/>
          <p:cNvSpPr/>
          <p:nvPr/>
        </p:nvSpPr>
        <p:spPr>
          <a:xfrm>
            <a:off x="2999232" y="2606040"/>
            <a:ext cx="274320" cy="274320"/>
          </a:xfrm>
          <a:prstGeom prst="rightArrow">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291840" y="1783080"/>
            <a:ext cx="2514600" cy="19659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206240" y="192024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aptop_w.png"/>
          <p:cNvPicPr>
            <a:picLocks noChangeAspect="1"/>
          </p:cNvPicPr>
          <p:nvPr/>
        </p:nvPicPr>
        <p:blipFill>
          <a:blip r:embed="rId6"/>
          <a:stretch>
            <a:fillRect/>
          </a:stretch>
        </p:blipFill>
        <p:spPr>
          <a:xfrm>
            <a:off x="4357116" y="2071116"/>
            <a:ext cx="384048" cy="384048"/>
          </a:xfrm>
          <a:prstGeom prst="rect">
            <a:avLst/>
          </a:prstGeom>
        </p:spPr>
      </p:pic>
      <p:sp>
        <p:nvSpPr>
          <p:cNvPr id="17" name="TextBox 16"/>
          <p:cNvSpPr txBox="1"/>
          <p:nvPr/>
        </p:nvSpPr>
        <p:spPr>
          <a:xfrm>
            <a:off x="3383280" y="2651760"/>
            <a:ext cx="2331720" cy="365760"/>
          </a:xfrm>
          <a:prstGeom prst="rect">
            <a:avLst/>
          </a:prstGeom>
          <a:noFill/>
        </p:spPr>
        <p:txBody>
          <a:bodyPr wrap="square" anchor="t">
            <a:spAutoFit/>
          </a:bodyPr>
          <a:lstStyle/>
          <a:p>
            <a:pPr algn="ctr">
              <a:spcAft>
                <a:spcPts val="600"/>
              </a:spcAft>
            </a:pPr>
            <a:r>
              <a:rPr sz="1500" b="1" i="0">
                <a:solidFill>
                  <a:srgbClr val="8E1B1B"/>
                </a:solidFill>
                <a:latin typeface="Calibri"/>
              </a:rPr>
              <a:t>Procesamiento + IA</a:t>
            </a:r>
          </a:p>
        </p:txBody>
      </p:sp>
      <p:sp>
        <p:nvSpPr>
          <p:cNvPr id="18" name="TextBox 17"/>
          <p:cNvSpPr txBox="1"/>
          <p:nvPr/>
        </p:nvSpPr>
        <p:spPr>
          <a:xfrm>
            <a:off x="3429000" y="3017520"/>
            <a:ext cx="2240280" cy="731520"/>
          </a:xfrm>
          <a:prstGeom prst="rect">
            <a:avLst/>
          </a:prstGeom>
          <a:noFill/>
        </p:spPr>
        <p:txBody>
          <a:bodyPr wrap="square" anchor="t">
            <a:spAutoFit/>
          </a:bodyPr>
          <a:lstStyle/>
          <a:p>
            <a:pPr algn="ctr">
              <a:spcAft>
                <a:spcPts val="600"/>
              </a:spcAft>
            </a:pPr>
            <a:r>
              <a:rPr sz="1300" b="0" i="0">
                <a:solidFill>
                  <a:srgbClr val="262626"/>
                </a:solidFill>
                <a:latin typeface="Calibri"/>
              </a:rPr>
              <a:t>Notebook o Raspberry Pi con OpenCV, OCR y YOLO</a:t>
            </a:r>
          </a:p>
        </p:txBody>
      </p:sp>
      <p:sp>
        <p:nvSpPr>
          <p:cNvPr id="19" name="Right Arrow 18"/>
          <p:cNvSpPr/>
          <p:nvPr/>
        </p:nvSpPr>
        <p:spPr>
          <a:xfrm>
            <a:off x="5833872" y="2606040"/>
            <a:ext cx="274320" cy="274320"/>
          </a:xfrm>
          <a:prstGeom prst="rightArrow">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126480" y="1783080"/>
            <a:ext cx="2514600" cy="19659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7040880" y="192024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bulb_w.png"/>
          <p:cNvPicPr>
            <a:picLocks noChangeAspect="1"/>
          </p:cNvPicPr>
          <p:nvPr/>
        </p:nvPicPr>
        <p:blipFill>
          <a:blip r:embed="rId7"/>
          <a:stretch>
            <a:fillRect/>
          </a:stretch>
        </p:blipFill>
        <p:spPr>
          <a:xfrm>
            <a:off x="7191756" y="2071116"/>
            <a:ext cx="384048" cy="384048"/>
          </a:xfrm>
          <a:prstGeom prst="rect">
            <a:avLst/>
          </a:prstGeom>
        </p:spPr>
      </p:pic>
      <p:sp>
        <p:nvSpPr>
          <p:cNvPr id="23" name="TextBox 22"/>
          <p:cNvSpPr txBox="1"/>
          <p:nvPr/>
        </p:nvSpPr>
        <p:spPr>
          <a:xfrm>
            <a:off x="6217920" y="2651760"/>
            <a:ext cx="2331720" cy="365760"/>
          </a:xfrm>
          <a:prstGeom prst="rect">
            <a:avLst/>
          </a:prstGeom>
          <a:noFill/>
        </p:spPr>
        <p:txBody>
          <a:bodyPr wrap="square" anchor="t">
            <a:spAutoFit/>
          </a:bodyPr>
          <a:lstStyle/>
          <a:p>
            <a:pPr algn="ctr">
              <a:spcAft>
                <a:spcPts val="600"/>
              </a:spcAft>
            </a:pPr>
            <a:r>
              <a:rPr sz="1500" b="1" i="0">
                <a:solidFill>
                  <a:srgbClr val="8E1B1B"/>
                </a:solidFill>
                <a:latin typeface="Calibri"/>
              </a:rPr>
              <a:t>Actuador</a:t>
            </a:r>
          </a:p>
        </p:txBody>
      </p:sp>
      <p:sp>
        <p:nvSpPr>
          <p:cNvPr id="24" name="TextBox 23"/>
          <p:cNvSpPr txBox="1"/>
          <p:nvPr/>
        </p:nvSpPr>
        <p:spPr>
          <a:xfrm>
            <a:off x="6263640" y="3017520"/>
            <a:ext cx="2240280" cy="731520"/>
          </a:xfrm>
          <a:prstGeom prst="rect">
            <a:avLst/>
          </a:prstGeom>
          <a:noFill/>
        </p:spPr>
        <p:txBody>
          <a:bodyPr wrap="square" anchor="t">
            <a:spAutoFit/>
          </a:bodyPr>
          <a:lstStyle/>
          <a:p>
            <a:pPr algn="ctr">
              <a:spcAft>
                <a:spcPts val="600"/>
              </a:spcAft>
            </a:pPr>
            <a:r>
              <a:rPr sz="1300" b="0" i="0">
                <a:solidFill>
                  <a:srgbClr val="262626"/>
                </a:solidFill>
                <a:latin typeface="Calibri"/>
              </a:rPr>
              <a:t>ESP32: LED, relé, servo, buzzer</a:t>
            </a:r>
          </a:p>
        </p:txBody>
      </p:sp>
      <p:sp>
        <p:nvSpPr>
          <p:cNvPr id="25" name="Oval 24"/>
          <p:cNvSpPr/>
          <p:nvPr/>
        </p:nvSpPr>
        <p:spPr>
          <a:xfrm>
            <a:off x="502920" y="4023359"/>
            <a:ext cx="548640" cy="548640"/>
          </a:xfrm>
          <a:prstGeom prst="ellipse">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sensor_r.png"/>
          <p:cNvPicPr>
            <a:picLocks noChangeAspect="1"/>
          </p:cNvPicPr>
          <p:nvPr/>
        </p:nvPicPr>
        <p:blipFill>
          <a:blip r:embed="rId8"/>
          <a:stretch>
            <a:fillRect/>
          </a:stretch>
        </p:blipFill>
        <p:spPr>
          <a:xfrm>
            <a:off x="623620" y="4144060"/>
            <a:ext cx="307238" cy="307238"/>
          </a:xfrm>
          <a:prstGeom prst="rect">
            <a:avLst/>
          </a:prstGeom>
        </p:spPr>
      </p:pic>
      <p:sp>
        <p:nvSpPr>
          <p:cNvPr id="27" name="TextBox 26"/>
          <p:cNvSpPr txBox="1"/>
          <p:nvPr/>
        </p:nvSpPr>
        <p:spPr>
          <a:xfrm>
            <a:off x="1234440" y="3977639"/>
            <a:ext cx="7406640" cy="731520"/>
          </a:xfrm>
          <a:prstGeom prst="rect">
            <a:avLst/>
          </a:prstGeom>
          <a:noFill/>
        </p:spPr>
        <p:txBody>
          <a:bodyPr wrap="square" anchor="ctr">
            <a:spAutoFit/>
          </a:bodyPr>
          <a:lstStyle/>
          <a:p>
            <a:pPr algn="l">
              <a:spcAft>
                <a:spcPts val="600"/>
              </a:spcAft>
            </a:pPr>
            <a:r>
              <a:rPr sz="1500" b="1" i="0">
                <a:solidFill>
                  <a:srgbClr val="262626"/>
                </a:solidFill>
                <a:latin typeface="Calibri"/>
              </a:rPr>
              <a:t>Proyectos con ESP32:</a:t>
            </a:r>
            <a:r>
              <a:rPr sz="1500" b="0" i="0">
                <a:solidFill>
                  <a:srgbClr val="262626"/>
                </a:solidFill>
                <a:latin typeface="Calibri"/>
              </a:rPr>
              <a:t> Ya leímos sensores y movimos actuadores. Ahora el sensor «ve».</a:t>
            </a:r>
          </a:p>
        </p:txBody>
      </p:sp>
      <p:sp>
        <p:nvSpPr>
          <p:cNvPr id="28" name="Oval 27"/>
          <p:cNvSpPr/>
          <p:nvPr/>
        </p:nvSpPr>
        <p:spPr>
          <a:xfrm>
            <a:off x="502920" y="4800599"/>
            <a:ext cx="548640" cy="548640"/>
          </a:xfrm>
          <a:prstGeom prst="ellipse">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ar_r.png"/>
          <p:cNvPicPr>
            <a:picLocks noChangeAspect="1"/>
          </p:cNvPicPr>
          <p:nvPr/>
        </p:nvPicPr>
        <p:blipFill>
          <a:blip r:embed="rId9"/>
          <a:stretch>
            <a:fillRect/>
          </a:stretch>
        </p:blipFill>
        <p:spPr>
          <a:xfrm>
            <a:off x="623620" y="4921300"/>
            <a:ext cx="307238" cy="307238"/>
          </a:xfrm>
          <a:prstGeom prst="rect">
            <a:avLst/>
          </a:prstGeom>
        </p:spPr>
      </p:pic>
      <p:sp>
        <p:nvSpPr>
          <p:cNvPr id="30" name="TextBox 29"/>
          <p:cNvSpPr txBox="1"/>
          <p:nvPr/>
        </p:nvSpPr>
        <p:spPr>
          <a:xfrm>
            <a:off x="1234440" y="4754879"/>
            <a:ext cx="7406640" cy="731520"/>
          </a:xfrm>
          <a:prstGeom prst="rect">
            <a:avLst/>
          </a:prstGeom>
          <a:noFill/>
        </p:spPr>
        <p:txBody>
          <a:bodyPr wrap="square" anchor="ctr">
            <a:spAutoFit/>
          </a:bodyPr>
          <a:lstStyle/>
          <a:p>
            <a:pPr algn="l">
              <a:spcAft>
                <a:spcPts val="600"/>
              </a:spcAft>
            </a:pPr>
            <a:r>
              <a:rPr sz="1500" b="1" i="0">
                <a:solidFill>
                  <a:srgbClr val="262626"/>
                </a:solidFill>
                <a:latin typeface="Calibri"/>
              </a:rPr>
              <a:t>Realidad aumentada:</a:t>
            </a:r>
            <a:r>
              <a:rPr sz="1500" b="0" i="0">
                <a:solidFill>
                  <a:srgbClr val="262626"/>
                </a:solidFill>
                <a:latin typeface="Calibri"/>
              </a:rPr>
              <a:t> La RA necesita visión para ubicar superficies, marcadores y objetos.</a:t>
            </a:r>
          </a:p>
        </p:txBody>
      </p:sp>
      <p:sp>
        <p:nvSpPr>
          <p:cNvPr id="31" name="Oval 30"/>
          <p:cNvSpPr/>
          <p:nvPr/>
        </p:nvSpPr>
        <p:spPr>
          <a:xfrm>
            <a:off x="502920" y="5577840"/>
            <a:ext cx="548640" cy="548640"/>
          </a:xfrm>
          <a:prstGeom prst="ellipse">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robot_r.png"/>
          <p:cNvPicPr>
            <a:picLocks noChangeAspect="1"/>
          </p:cNvPicPr>
          <p:nvPr/>
        </p:nvPicPr>
        <p:blipFill>
          <a:blip r:embed="rId10"/>
          <a:stretch>
            <a:fillRect/>
          </a:stretch>
        </p:blipFill>
        <p:spPr>
          <a:xfrm>
            <a:off x="623620" y="5698540"/>
            <a:ext cx="307238" cy="307238"/>
          </a:xfrm>
          <a:prstGeom prst="rect">
            <a:avLst/>
          </a:prstGeom>
        </p:spPr>
      </p:pic>
      <p:sp>
        <p:nvSpPr>
          <p:cNvPr id="33" name="TextBox 32"/>
          <p:cNvSpPr txBox="1"/>
          <p:nvPr/>
        </p:nvSpPr>
        <p:spPr>
          <a:xfrm>
            <a:off x="1234440" y="5532120"/>
            <a:ext cx="7406640" cy="731520"/>
          </a:xfrm>
          <a:prstGeom prst="rect">
            <a:avLst/>
          </a:prstGeom>
          <a:noFill/>
        </p:spPr>
        <p:txBody>
          <a:bodyPr wrap="square" anchor="ctr">
            <a:spAutoFit/>
          </a:bodyPr>
          <a:lstStyle/>
          <a:p>
            <a:pPr algn="l">
              <a:spcAft>
                <a:spcPts val="600"/>
              </a:spcAft>
            </a:pPr>
            <a:r>
              <a:rPr sz="1500" b="1" i="0">
                <a:solidFill>
                  <a:srgbClr val="262626"/>
                </a:solidFill>
                <a:latin typeface="Calibri"/>
              </a:rPr>
              <a:t>Juegos con IA:</a:t>
            </a:r>
            <a:r>
              <a:rPr sz="1500" b="0" i="0">
                <a:solidFill>
                  <a:srgbClr val="262626"/>
                </a:solidFill>
                <a:latin typeface="Calibri"/>
              </a:rPr>
              <a:t> Un modelo entrenado puede reconocer si una mano muestra piedra, papel o tijera.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Preparar tu computador</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7</a:t>
            </a:r>
          </a:p>
        </p:txBody>
      </p:sp>
      <p:sp>
        <p:nvSpPr>
          <p:cNvPr id="7" name="Oval 6"/>
          <p:cNvSpPr/>
          <p:nvPr/>
        </p:nvSpPr>
        <p:spPr>
          <a:xfrm>
            <a:off x="457200" y="109728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download_w.png"/>
          <p:cNvPicPr>
            <a:picLocks noChangeAspect="1"/>
          </p:cNvPicPr>
          <p:nvPr/>
        </p:nvPicPr>
        <p:blipFill>
          <a:blip r:embed="rId5"/>
          <a:stretch>
            <a:fillRect/>
          </a:stretch>
        </p:blipFill>
        <p:spPr>
          <a:xfrm>
            <a:off x="577900" y="1217980"/>
            <a:ext cx="307238" cy="307238"/>
          </a:xfrm>
          <a:prstGeom prst="rect">
            <a:avLst/>
          </a:prstGeom>
        </p:spPr>
      </p:pic>
      <p:sp>
        <p:nvSpPr>
          <p:cNvPr id="9" name="TextBox 8"/>
          <p:cNvSpPr txBox="1"/>
          <p:nvPr/>
        </p:nvSpPr>
        <p:spPr>
          <a:xfrm>
            <a:off x="1143000" y="1097280"/>
            <a:ext cx="7543800" cy="548640"/>
          </a:xfrm>
          <a:prstGeom prst="rect">
            <a:avLst/>
          </a:prstGeom>
          <a:noFill/>
        </p:spPr>
        <p:txBody>
          <a:bodyPr wrap="square" anchor="ctr">
            <a:spAutoFit/>
          </a:bodyPr>
          <a:lstStyle/>
          <a:p>
            <a:pPr algn="l">
              <a:spcAft>
                <a:spcPts val="600"/>
              </a:spcAft>
            </a:pPr>
            <a:r>
              <a:rPr sz="1500" b="0" i="0">
                <a:solidFill>
                  <a:srgbClr val="262626"/>
                </a:solidFill>
                <a:latin typeface="Calibri"/>
              </a:rPr>
              <a:t>Descarga y descomprime </a:t>
            </a:r>
            <a:r>
              <a:rPr sz="1500" b="1" i="0">
                <a:solidFill>
                  <a:srgbClr val="262626"/>
                </a:solidFill>
                <a:latin typeface="Calibri"/>
              </a:rPr>
              <a:t>practica_vision.zip</a:t>
            </a:r>
            <a:r>
              <a:rPr sz="1500" b="0" i="0">
                <a:solidFill>
                  <a:srgbClr val="262626"/>
                </a:solidFill>
                <a:latin typeface="Calibri"/>
              </a:rPr>
              <a:t> · abre una terminal en esa carpeta</a:t>
            </a:r>
          </a:p>
        </p:txBody>
      </p:sp>
      <p:sp>
        <p:nvSpPr>
          <p:cNvPr id="10" name="Rounded Rectangle 9"/>
          <p:cNvSpPr/>
          <p:nvPr/>
        </p:nvSpPr>
        <p:spPr>
          <a:xfrm>
            <a:off x="457200" y="1828800"/>
            <a:ext cx="8229600" cy="128016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94360" y="1883664"/>
            <a:ext cx="7955279"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Windows / macOS / Linux  ·  Python 3.10 o superior</a:t>
            </a:r>
          </a:p>
        </p:txBody>
      </p:sp>
      <p:sp>
        <p:nvSpPr>
          <p:cNvPr id="12" name="Codigo"/>
          <p:cNvSpPr txBox="1"/>
          <p:nvPr/>
        </p:nvSpPr>
        <p:spPr>
          <a:xfrm>
            <a:off x="594360" y="2176272"/>
            <a:ext cx="7955279" cy="896112"/>
          </a:xfrm>
          <a:prstGeom prst="rect">
            <a:avLst/>
          </a:prstGeom>
          <a:noFill/>
        </p:spPr>
        <p:txBody>
          <a:bodyPr wrap="square" lIns="0" tIns="0" rIns="0" bIns="0">
            <a:spAutoFit/>
          </a:bodyPr>
          <a:lstStyle/>
          <a:p>
            <a:pPr>
              <a:spcAft>
                <a:spcPts val="0"/>
              </a:spcAft>
            </a:pPr>
            <a:r>
              <a:rPr sz="1100">
                <a:solidFill>
                  <a:srgbClr val="E6E6E6"/>
                </a:solidFill>
                <a:latin typeface="Courier New"/>
              </a:rPr>
              <a:t>python -m venv vision</a:t>
            </a:r>
          </a:p>
          <a:p>
            <a:pPr>
              <a:spcAft>
                <a:spcPts val="0"/>
              </a:spcAft>
            </a:pPr>
            <a:r>
              <a:rPr sz="1100">
                <a:solidFill>
                  <a:srgbClr val="E6E6E6"/>
                </a:solidFill>
                <a:latin typeface="Courier New"/>
              </a:rPr>
              <a:t>vision\Scripts\activate</a:t>
            </a:r>
            <a:r>
              <a:rPr sz="1100">
                <a:solidFill>
                  <a:srgbClr val="8FBF8F"/>
                </a:solidFill>
                <a:latin typeface="Courier New"/>
              </a:rPr>
              <a:t>                  # macOS/Linux: source vision/bin/activate</a:t>
            </a:r>
          </a:p>
          <a:p>
            <a:pPr>
              <a:spcAft>
                <a:spcPts val="0"/>
              </a:spcAft>
            </a:pPr>
            <a:r>
              <a:rPr sz="1100">
                <a:solidFill>
                  <a:srgbClr val="E6E6E6"/>
                </a:solidFill>
                <a:latin typeface="Courier New"/>
              </a:rPr>
              <a:t>pip install ultralytics pytesseract requests</a:t>
            </a:r>
          </a:p>
        </p:txBody>
      </p:sp>
      <p:sp>
        <p:nvSpPr>
          <p:cNvPr id="13" name="TextBox 12"/>
          <p:cNvSpPr txBox="1"/>
          <p:nvPr/>
        </p:nvSpPr>
        <p:spPr>
          <a:xfrm>
            <a:off x="457200" y="3246120"/>
            <a:ext cx="8229600" cy="365760"/>
          </a:xfrm>
          <a:prstGeom prst="rect">
            <a:avLst/>
          </a:prstGeom>
          <a:noFill/>
        </p:spPr>
        <p:txBody>
          <a:bodyPr wrap="square" anchor="t">
            <a:spAutoFit/>
          </a:bodyPr>
          <a:lstStyle/>
          <a:p>
            <a:pPr algn="l">
              <a:spcAft>
                <a:spcPts val="200"/>
              </a:spcAft>
            </a:pPr>
            <a:r>
              <a:rPr sz="1400" b="1" i="0">
                <a:solidFill>
                  <a:srgbClr val="262626"/>
                </a:solidFill>
                <a:latin typeface="Calibri"/>
              </a:rPr>
              <a:t>Tesseract</a:t>
            </a:r>
            <a:r>
              <a:rPr sz="1400" b="0" i="0">
                <a:solidFill>
                  <a:srgbClr val="262626"/>
                </a:solidFill>
                <a:latin typeface="Calibri"/>
              </a:rPr>
              <a:t> (para el OCR) se instala aparte:</a:t>
            </a:r>
          </a:p>
        </p:txBody>
      </p:sp>
      <p:sp>
        <p:nvSpPr>
          <p:cNvPr id="14" name="TextBox 13"/>
          <p:cNvSpPr txBox="1"/>
          <p:nvPr/>
        </p:nvSpPr>
        <p:spPr>
          <a:xfrm>
            <a:off x="457200" y="3566160"/>
            <a:ext cx="8229600" cy="1005840"/>
          </a:xfrm>
          <a:prstGeom prst="rect">
            <a:avLst/>
          </a:prstGeom>
          <a:noFill/>
        </p:spPr>
        <p:txBody>
          <a:bodyPr wrap="square" anchor="t">
            <a:spAutoFit/>
          </a:bodyPr>
          <a:lstStyle/>
          <a:p>
            <a:pPr marL="228600" indent="-201168" algn="l">
              <a:spcAft>
                <a:spcPts val="200"/>
              </a:spcAft>
              <a:buClr>
                <a:srgbClr val="8E1B1B"/>
              </a:buClr>
              <a:buFont typeface="Arial"/>
              <a:buChar char="•"/>
            </a:pPr>
            <a:r>
              <a:rPr sz="1300" b="1" i="0">
                <a:solidFill>
                  <a:srgbClr val="262626"/>
                </a:solidFill>
                <a:latin typeface="Calibri"/>
              </a:rPr>
              <a:t>Windows:</a:t>
            </a:r>
            <a:r>
              <a:rPr sz="1300" b="0" i="0">
                <a:solidFill>
                  <a:srgbClr val="262626"/>
                </a:solidFill>
                <a:latin typeface="Calibri"/>
              </a:rPr>
              <a:t> instalador de UB Mannheim; marcar el idioma Spanish y agregarlo al PATH</a:t>
            </a:r>
          </a:p>
          <a:p>
            <a:pPr marL="228600" indent="-201168" algn="l">
              <a:spcAft>
                <a:spcPts val="200"/>
              </a:spcAft>
              <a:buClr>
                <a:srgbClr val="8E1B1B"/>
              </a:buClr>
              <a:buFont typeface="Arial"/>
              <a:buChar char="•"/>
            </a:pPr>
            <a:r>
              <a:rPr sz="1300" b="1" i="0">
                <a:solidFill>
                  <a:srgbClr val="262626"/>
                </a:solidFill>
                <a:latin typeface="Calibri"/>
              </a:rPr>
              <a:t>macOS:</a:t>
            </a:r>
            <a:r>
              <a:rPr sz="1300" b="0" i="0">
                <a:solidFill>
                  <a:srgbClr val="262626"/>
                </a:solidFill>
                <a:latin typeface="Calibri"/>
              </a:rPr>
              <a:t> </a:t>
            </a:r>
            <a:r>
              <a:rPr sz="1200" b="0" i="0">
                <a:solidFill>
                  <a:srgbClr val="8E1B1B"/>
                </a:solidFill>
                <a:latin typeface="Courier New"/>
              </a:rPr>
              <a:t>brew install tesseract tesseract-lang</a:t>
            </a:r>
          </a:p>
          <a:p>
            <a:pPr marL="228600" indent="-201168" algn="l">
              <a:spcAft>
                <a:spcPts val="200"/>
              </a:spcAft>
              <a:buClr>
                <a:srgbClr val="8E1B1B"/>
              </a:buClr>
              <a:buFont typeface="Arial"/>
              <a:buChar char="•"/>
            </a:pPr>
            <a:r>
              <a:rPr sz="1300" b="1" i="0">
                <a:solidFill>
                  <a:srgbClr val="262626"/>
                </a:solidFill>
                <a:latin typeface="Calibri"/>
              </a:rPr>
              <a:t>Linux:</a:t>
            </a:r>
            <a:r>
              <a:rPr sz="1300" b="0" i="0">
                <a:solidFill>
                  <a:srgbClr val="262626"/>
                </a:solidFill>
                <a:latin typeface="Calibri"/>
              </a:rPr>
              <a:t> </a:t>
            </a:r>
            <a:r>
              <a:rPr sz="1200" b="0" i="0">
                <a:solidFill>
                  <a:srgbClr val="8E1B1B"/>
                </a:solidFill>
                <a:latin typeface="Courier New"/>
              </a:rPr>
              <a:t>sudo apt install tesseract-ocr tesseract-ocr-spa</a:t>
            </a:r>
          </a:p>
        </p:txBody>
      </p:sp>
      <p:sp>
        <p:nvSpPr>
          <p:cNvPr id="15" name="Rounded Rectangle 14"/>
          <p:cNvSpPr/>
          <p:nvPr/>
        </p:nvSpPr>
        <p:spPr>
          <a:xfrm>
            <a:off x="457200" y="4754880"/>
            <a:ext cx="8229600" cy="68580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85800" y="4754880"/>
            <a:ext cx="7772400" cy="685800"/>
          </a:xfrm>
          <a:prstGeom prst="rect">
            <a:avLst/>
          </a:prstGeom>
          <a:noFill/>
        </p:spPr>
        <p:txBody>
          <a:bodyPr wrap="square" anchor="ctr">
            <a:spAutoFit/>
          </a:bodyPr>
          <a:lstStyle/>
          <a:p>
            <a:pPr algn="l">
              <a:spcAft>
                <a:spcPts val="600"/>
              </a:spcAft>
            </a:pPr>
            <a:r>
              <a:rPr sz="1500" b="1" i="0">
                <a:solidFill>
                  <a:srgbClr val="262626"/>
                </a:solidFill>
                <a:latin typeface="Calibri"/>
              </a:rPr>
              <a:t>Consejo:</a:t>
            </a:r>
            <a:r>
              <a:rPr sz="1500" b="0" i="0">
                <a:solidFill>
                  <a:srgbClr val="262626"/>
                </a:solidFill>
                <a:latin typeface="Calibri"/>
              </a:rPr>
              <a:t> instálalo en casa antes de la clase. </a:t>
            </a:r>
            <a:r>
              <a:rPr sz="1400" b="0" i="0">
                <a:solidFill>
                  <a:srgbClr val="8E1B1B"/>
                </a:solidFill>
                <a:latin typeface="Courier New"/>
              </a:rPr>
              <a:t>ultralytics</a:t>
            </a:r>
            <a:r>
              <a:rPr sz="1500" b="0" i="0">
                <a:solidFill>
                  <a:srgbClr val="262626"/>
                </a:solidFill>
                <a:latin typeface="Calibri"/>
              </a:rPr>
              <a:t> descarga PyTorch y puede tardar varios minutos.</a:t>
            </a:r>
          </a:p>
        </p:txBody>
      </p:sp>
      <p:sp>
        <p:nvSpPr>
          <p:cNvPr id="17" name="TextBox 16"/>
          <p:cNvSpPr txBox="1"/>
          <p:nvPr/>
        </p:nvSpPr>
        <p:spPr>
          <a:xfrm>
            <a:off x="457200" y="5623560"/>
            <a:ext cx="8229600" cy="640080"/>
          </a:xfrm>
          <a:prstGeom prst="rect">
            <a:avLst/>
          </a:prstGeom>
          <a:noFill/>
        </p:spPr>
        <p:txBody>
          <a:bodyPr wrap="square" anchor="t">
            <a:spAutoFit/>
          </a:bodyPr>
          <a:lstStyle/>
          <a:p>
            <a:pPr algn="l">
              <a:spcAft>
                <a:spcPts val="600"/>
              </a:spcAft>
            </a:pPr>
            <a:r>
              <a:rPr sz="1300" b="0" i="0">
                <a:solidFill>
                  <a:srgbClr val="707070"/>
                </a:solidFill>
                <a:latin typeface="Calibri"/>
              </a:rPr>
              <a:t>Cada vez que abras una terminal nueva, vuelve a activar el entorno: </a:t>
            </a:r>
            <a:r>
              <a:rPr sz="1200" b="0" i="0">
                <a:solidFill>
                  <a:srgbClr val="707070"/>
                </a:solidFill>
                <a:latin typeface="Courier New"/>
              </a:rPr>
              <a:t>vision\Scripts\activate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3272E"/>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Momento de código 0</a:t>
            </a:r>
          </a:p>
        </p:txBody>
      </p:sp>
      <p:sp>
        <p:nvSpPr>
          <p:cNvPr id="5" name="Oval 4"/>
          <p:cNvSpPr/>
          <p:nvPr/>
        </p:nvSpPr>
        <p:spPr>
          <a:xfrm>
            <a:off x="457200" y="105156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aptop_w.png"/>
          <p:cNvPicPr>
            <a:picLocks noChangeAspect="1"/>
          </p:cNvPicPr>
          <p:nvPr/>
        </p:nvPicPr>
        <p:blipFill>
          <a:blip r:embed="rId5"/>
          <a:stretch>
            <a:fillRect/>
          </a:stretch>
        </p:blipFill>
        <p:spPr>
          <a:xfrm>
            <a:off x="598017" y="1192377"/>
            <a:ext cx="358444" cy="358444"/>
          </a:xfrm>
          <a:prstGeom prst="rect">
            <a:avLst/>
          </a:prstGeom>
        </p:spPr>
      </p:pic>
      <p:sp>
        <p:nvSpPr>
          <p:cNvPr id="7" name="TextBox 6"/>
          <p:cNvSpPr txBox="1"/>
          <p:nvPr/>
        </p:nvSpPr>
        <p:spPr>
          <a:xfrm>
            <a:off x="1234440" y="1024128"/>
            <a:ext cx="5120640" cy="365760"/>
          </a:xfrm>
          <a:prstGeom prst="rect">
            <a:avLst/>
          </a:prstGeom>
          <a:noFill/>
        </p:spPr>
        <p:txBody>
          <a:bodyPr wrap="square" lIns="0" tIns="0" rIns="0" bIns="0" anchor="t">
            <a:spAutoFit/>
          </a:bodyPr>
          <a:lstStyle/>
          <a:p>
            <a:pPr algn="l">
              <a:spcAft>
                <a:spcPts val="600"/>
              </a:spcAft>
            </a:pPr>
            <a:r>
              <a:rPr sz="1300" b="1" i="0">
                <a:solidFill>
                  <a:srgbClr val="F2C14E"/>
                </a:solidFill>
                <a:latin typeface="Calibri"/>
              </a:rPr>
              <a:t>AHORA EN TU COMPUTADOR</a:t>
            </a:r>
          </a:p>
        </p:txBody>
      </p:sp>
      <p:sp>
        <p:nvSpPr>
          <p:cNvPr id="8" name="TextBox 7"/>
          <p:cNvSpPr txBox="1"/>
          <p:nvPr/>
        </p:nvSpPr>
        <p:spPr>
          <a:xfrm>
            <a:off x="1234440" y="1344168"/>
            <a:ext cx="5394960" cy="411480"/>
          </a:xfrm>
          <a:prstGeom prst="rect">
            <a:avLst/>
          </a:prstGeom>
          <a:noFill/>
        </p:spPr>
        <p:txBody>
          <a:bodyPr wrap="square" lIns="0" tIns="0" rIns="0" bIns="0" anchor="t">
            <a:spAutoFit/>
          </a:bodyPr>
          <a:lstStyle/>
          <a:p>
            <a:pPr algn="l">
              <a:spcAft>
                <a:spcPts val="600"/>
              </a:spcAft>
            </a:pPr>
            <a:r>
              <a:rPr sz="1800" b="1" i="0">
                <a:solidFill>
                  <a:srgbClr val="FFFFFF"/>
                </a:solidFill>
                <a:latin typeface="Courier New"/>
              </a:rPr>
              <a:t>00_verificar · 01_ver_camara</a:t>
            </a:r>
          </a:p>
        </p:txBody>
      </p:sp>
      <p:sp>
        <p:nvSpPr>
          <p:cNvPr id="9" name="Rounded Rectangle 8"/>
          <p:cNvSpPr/>
          <p:nvPr/>
        </p:nvSpPr>
        <p:spPr>
          <a:xfrm>
            <a:off x="6720840" y="1051560"/>
            <a:ext cx="1965960" cy="6400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imer_w.png"/>
          <p:cNvPicPr>
            <a:picLocks noChangeAspect="1"/>
          </p:cNvPicPr>
          <p:nvPr/>
        </p:nvPicPr>
        <p:blipFill>
          <a:blip r:embed="rId6"/>
          <a:stretch>
            <a:fillRect/>
          </a:stretch>
        </p:blipFill>
        <p:spPr>
          <a:xfrm>
            <a:off x="6858000" y="1143000"/>
            <a:ext cx="457200" cy="457200"/>
          </a:xfrm>
          <a:prstGeom prst="rect">
            <a:avLst/>
          </a:prstGeom>
        </p:spPr>
      </p:pic>
      <p:sp>
        <p:nvSpPr>
          <p:cNvPr id="11" name="TextBox 10"/>
          <p:cNvSpPr txBox="1"/>
          <p:nvPr/>
        </p:nvSpPr>
        <p:spPr>
          <a:xfrm>
            <a:off x="7360920" y="1051560"/>
            <a:ext cx="1280160" cy="640080"/>
          </a:xfrm>
          <a:prstGeom prst="rect">
            <a:avLst/>
          </a:prstGeom>
          <a:noFill/>
        </p:spPr>
        <p:txBody>
          <a:bodyPr wrap="square" lIns="0" tIns="0" rIns="0" bIns="0" anchor="ctr">
            <a:spAutoFit/>
          </a:bodyPr>
          <a:lstStyle/>
          <a:p>
            <a:pPr algn="l">
              <a:spcAft>
                <a:spcPts val="600"/>
              </a:spcAft>
            </a:pPr>
            <a:r>
              <a:rPr sz="1700" b="1" i="0">
                <a:solidFill>
                  <a:srgbClr val="FFFFFF"/>
                </a:solidFill>
                <a:latin typeface="Calibri"/>
              </a:rPr>
              <a:t>≈ 10 min</a:t>
            </a:r>
          </a:p>
        </p:txBody>
      </p:sp>
      <p:sp>
        <p:nvSpPr>
          <p:cNvPr id="12" name="TextBox 11"/>
          <p:cNvSpPr txBox="1"/>
          <p:nvPr/>
        </p:nvSpPr>
        <p:spPr>
          <a:xfrm>
            <a:off x="457200" y="1874519"/>
            <a:ext cx="8229600" cy="457200"/>
          </a:xfrm>
          <a:prstGeom prst="rect">
            <a:avLst/>
          </a:prstGeom>
          <a:noFill/>
        </p:spPr>
        <p:txBody>
          <a:bodyPr wrap="square" lIns="0" tIns="0" rIns="0" bIns="0" anchor="t">
            <a:spAutoFit/>
          </a:bodyPr>
          <a:lstStyle/>
          <a:p>
            <a:pPr algn="l">
              <a:spcAft>
                <a:spcPts val="600"/>
              </a:spcAft>
            </a:pPr>
            <a:r>
              <a:rPr sz="1500" b="0" i="0">
                <a:solidFill>
                  <a:srgbClr val="D9DDE3"/>
                </a:solidFill>
                <a:latin typeface="Calibri"/>
              </a:rPr>
              <a:t>Comprobar que todo está instalado y que tu cámara funciona.</a:t>
            </a:r>
          </a:p>
        </p:txBody>
      </p:sp>
      <p:sp>
        <p:nvSpPr>
          <p:cNvPr id="13" name="Rounded Rectangle 12"/>
          <p:cNvSpPr/>
          <p:nvPr/>
        </p:nvSpPr>
        <p:spPr>
          <a:xfrm>
            <a:off x="457200" y="2377440"/>
            <a:ext cx="8229600" cy="850392"/>
          </a:xfrm>
          <a:prstGeom prst="roundRect">
            <a:avLst>
              <a:gd name="adj" fmla="val 8000"/>
            </a:avLst>
          </a:prstGeom>
          <a:solidFill>
            <a:srgbClr val="141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2395728"/>
            <a:ext cx="7863840" cy="822959"/>
          </a:xfrm>
          <a:prstGeom prst="rect">
            <a:avLst/>
          </a:prstGeom>
          <a:noFill/>
        </p:spPr>
        <p:txBody>
          <a:bodyPr wrap="square" lIns="18288" tIns="18288" rIns="18288" bIns="18288" anchor="ctr">
            <a:spAutoFit/>
          </a:bodyPr>
          <a:lstStyle/>
          <a:p>
            <a:pPr algn="l">
              <a:spcAft>
                <a:spcPts val="0"/>
              </a:spcAft>
            </a:pPr>
            <a:r>
              <a:rPr sz="1400" b="0" i="0">
                <a:solidFill>
                  <a:srgbClr val="9FE29F"/>
                </a:solidFill>
                <a:latin typeface="Courier New"/>
              </a:rPr>
              <a:t>$ python 00_verificar_entorno.py</a:t>
            </a:r>
          </a:p>
          <a:p>
            <a:pPr algn="l">
              <a:spcAft>
                <a:spcPts val="0"/>
              </a:spcAft>
            </a:pPr>
            <a:r>
              <a:rPr sz="1400" b="0" i="0">
                <a:solidFill>
                  <a:srgbClr val="9FE29F"/>
                </a:solidFill>
                <a:latin typeface="Courier New"/>
              </a:rPr>
              <a:t>$ python 01_ver_camara.py</a:t>
            </a:r>
          </a:p>
        </p:txBody>
      </p:sp>
      <p:sp>
        <p:nvSpPr>
          <p:cNvPr id="15" name="TextBox 14"/>
          <p:cNvSpPr txBox="1"/>
          <p:nvPr/>
        </p:nvSpPr>
        <p:spPr>
          <a:xfrm>
            <a:off x="457200" y="3383280"/>
            <a:ext cx="8229600" cy="365760"/>
          </a:xfrm>
          <a:prstGeom prst="rect">
            <a:avLst/>
          </a:prstGeom>
          <a:noFill/>
        </p:spPr>
        <p:txBody>
          <a:bodyPr wrap="square" lIns="0" tIns="0" rIns="0" bIns="0" anchor="t">
            <a:spAutoFit/>
          </a:bodyPr>
          <a:lstStyle/>
          <a:p>
            <a:pPr algn="l">
              <a:spcAft>
                <a:spcPts val="600"/>
              </a:spcAft>
            </a:pPr>
            <a:r>
              <a:rPr sz="1500" b="1" i="0">
                <a:solidFill>
                  <a:srgbClr val="F2C14E"/>
                </a:solidFill>
                <a:latin typeface="Calibri"/>
              </a:rPr>
              <a:t>Prueba esto:</a:t>
            </a:r>
          </a:p>
        </p:txBody>
      </p:sp>
      <p:sp>
        <p:nvSpPr>
          <p:cNvPr id="16" name="Rounded Rectangle 15"/>
          <p:cNvSpPr/>
          <p:nvPr/>
        </p:nvSpPr>
        <p:spPr>
          <a:xfrm>
            <a:off x="457200" y="379476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94360" y="395020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395020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1</a:t>
            </a:r>
          </a:p>
        </p:txBody>
      </p:sp>
      <p:sp>
        <p:nvSpPr>
          <p:cNvPr id="19" name="TextBox 18"/>
          <p:cNvSpPr txBox="1"/>
          <p:nvPr/>
        </p:nvSpPr>
        <p:spPr>
          <a:xfrm>
            <a:off x="1097280" y="379476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Que todas las líneas digan OK. Si alguna dice </a:t>
            </a:r>
            <a:r>
              <a:rPr sz="1400" b="1" i="0">
                <a:solidFill>
                  <a:srgbClr val="FFFFFF"/>
                </a:solidFill>
                <a:latin typeface="Calibri"/>
              </a:rPr>
              <a:t>FALTA</a:t>
            </a:r>
            <a:r>
              <a:rPr sz="1400" b="0" i="0">
                <a:solidFill>
                  <a:srgbClr val="FFFFFF"/>
                </a:solidFill>
                <a:latin typeface="Calibri"/>
              </a:rPr>
              <a:t>, sigue la indicación que aparece.</a:t>
            </a:r>
          </a:p>
        </p:txBody>
      </p:sp>
      <p:sp>
        <p:nvSpPr>
          <p:cNvPr id="20" name="Rounded Rectangle 19"/>
          <p:cNvSpPr/>
          <p:nvPr/>
        </p:nvSpPr>
        <p:spPr>
          <a:xfrm>
            <a:off x="457200" y="452628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594360" y="468172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94360" y="468172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2</a:t>
            </a:r>
          </a:p>
        </p:txBody>
      </p:sp>
      <p:sp>
        <p:nvSpPr>
          <p:cNvPr id="23" name="TextBox 22"/>
          <p:cNvSpPr txBox="1"/>
          <p:nvPr/>
        </p:nvSpPr>
        <p:spPr>
          <a:xfrm>
            <a:off x="1097280" y="452628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Abre tu cámara y toma 3 fotos con la tecla </a:t>
            </a:r>
            <a:r>
              <a:rPr sz="1400" b="1" i="0">
                <a:solidFill>
                  <a:srgbClr val="FFFFFF"/>
                </a:solidFill>
                <a:latin typeface="Calibri"/>
              </a:rPr>
              <a:t>f</a:t>
            </a:r>
            <a:r>
              <a:rPr sz="1400" b="0" i="0">
                <a:solidFill>
                  <a:srgbClr val="FFFFFF"/>
                </a:solidFill>
                <a:latin typeface="Calibri"/>
              </a:rPr>
              <a:t>: un texto impreso, un objeto y tu grupo.</a:t>
            </a:r>
          </a:p>
        </p:txBody>
      </p:sp>
      <p:sp>
        <p:nvSpPr>
          <p:cNvPr id="24" name="Rounded Rectangle 23"/>
          <p:cNvSpPr/>
          <p:nvPr/>
        </p:nvSpPr>
        <p:spPr>
          <a:xfrm>
            <a:off x="457200" y="525780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594360" y="541324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4360" y="541324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3</a:t>
            </a:r>
          </a:p>
        </p:txBody>
      </p:sp>
      <p:sp>
        <p:nvSpPr>
          <p:cNvPr id="27" name="TextBox 26"/>
          <p:cNvSpPr txBox="1"/>
          <p:nvPr/>
        </p:nvSpPr>
        <p:spPr>
          <a:xfrm>
            <a:off x="1097280" y="525780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¿Sin webcam? Usa el celular: </a:t>
            </a:r>
            <a:r>
              <a:rPr sz="1300" b="0" i="0">
                <a:solidFill>
                  <a:srgbClr val="FFFFFF"/>
                </a:solidFill>
                <a:latin typeface="Courier New"/>
              </a:rPr>
              <a:t>python 01_ver_camara.py http://IP:8080/video</a:t>
            </a:r>
          </a:p>
        </p:txBody>
      </p:sp>
      <p:sp>
        <p:nvSpPr>
          <p:cNvPr id="28" name="TextBox 27"/>
          <p:cNvSpPr txBox="1"/>
          <p:nvPr/>
        </p:nvSpPr>
        <p:spPr>
          <a:xfrm>
            <a:off x="457200" y="6053328"/>
            <a:ext cx="8229600" cy="411480"/>
          </a:xfrm>
          <a:prstGeom prst="rect">
            <a:avLst/>
          </a:prstGeom>
          <a:noFill/>
        </p:spPr>
        <p:txBody>
          <a:bodyPr wrap="square" lIns="0" tIns="0" rIns="0" bIns="0" anchor="t">
            <a:spAutoFit/>
          </a:bodyPr>
          <a:lstStyle/>
          <a:p>
            <a:pPr algn="l">
              <a:spcAft>
                <a:spcPts val="600"/>
              </a:spcAft>
            </a:pPr>
            <a:r>
              <a:rPr sz="1200" b="0" i="1">
                <a:solidFill>
                  <a:srgbClr val="AEB4BD"/>
                </a:solidFill>
                <a:latin typeface="Calibri"/>
              </a:rPr>
              <a:t>Las fotos quedan en imagenes/ y las usaremos en los próximos momentos de código.</a:t>
            </a:r>
          </a:p>
        </p:txBody>
      </p:sp>
      <p:sp>
        <p:nvSpPr>
          <p:cNvPr id="29" name="TextBox 28"/>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8A9099"/>
                </a:solidFill>
                <a:latin typeface="Calibri"/>
              </a:rPr>
              <a:t>Tecnologías Disruptivas  ·  Escuela de Informática  ·  Universidad Andrés Bello</a:t>
            </a:r>
          </a:p>
        </p:txBody>
      </p:sp>
      <p:sp>
        <p:nvSpPr>
          <p:cNvPr id="30" name="TextBox 29"/>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8A9099"/>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E1B1B"/>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548640" y="2743200"/>
            <a:ext cx="822960" cy="768096"/>
          </a:xfrm>
          <a:prstGeom prst="rect">
            <a:avLst/>
          </a:prstGeom>
        </p:spPr>
      </p:pic>
      <p:sp>
        <p:nvSpPr>
          <p:cNvPr id="4" name="TextBox 3"/>
          <p:cNvSpPr txBox="1"/>
          <p:nvPr/>
        </p:nvSpPr>
        <p:spPr>
          <a:xfrm>
            <a:off x="548640" y="3611880"/>
            <a:ext cx="8046720" cy="411480"/>
          </a:xfrm>
          <a:prstGeom prst="rect">
            <a:avLst/>
          </a:prstGeom>
          <a:noFill/>
        </p:spPr>
        <p:txBody>
          <a:bodyPr wrap="square" lIns="0" tIns="0" rIns="0" bIns="0" anchor="t">
            <a:spAutoFit/>
          </a:bodyPr>
          <a:lstStyle/>
          <a:p>
            <a:pPr algn="l">
              <a:spcAft>
                <a:spcPts val="600"/>
              </a:spcAft>
            </a:pPr>
            <a:r>
              <a:rPr sz="1400" b="1" i="0">
                <a:solidFill>
                  <a:srgbClr val="F2D6D6"/>
                </a:solidFill>
                <a:latin typeface="Calibri"/>
              </a:rPr>
              <a:t>PARTE 1</a:t>
            </a:r>
          </a:p>
        </p:txBody>
      </p:sp>
      <p:sp>
        <p:nvSpPr>
          <p:cNvPr id="5" name="TextBox 4"/>
          <p:cNvSpPr txBox="1"/>
          <p:nvPr/>
        </p:nvSpPr>
        <p:spPr>
          <a:xfrm>
            <a:off x="548640" y="3977639"/>
            <a:ext cx="8046720" cy="914400"/>
          </a:xfrm>
          <a:prstGeom prst="rect">
            <a:avLst/>
          </a:prstGeom>
          <a:noFill/>
        </p:spPr>
        <p:txBody>
          <a:bodyPr wrap="square" lIns="0" tIns="0" rIns="0" bIns="0" anchor="t">
            <a:spAutoFit/>
          </a:bodyPr>
          <a:lstStyle/>
          <a:p>
            <a:pPr algn="l">
              <a:spcAft>
                <a:spcPts val="600"/>
              </a:spcAft>
            </a:pPr>
            <a:r>
              <a:rPr sz="3400" b="1" i="0">
                <a:solidFill>
                  <a:srgbClr val="FFFFFF"/>
                </a:solidFill>
                <a:latin typeface="Calibri"/>
              </a:rPr>
              <a:t>Fundamentos: ¿cómo «ve» un computador?</a:t>
            </a:r>
          </a:p>
        </p:txBody>
      </p:sp>
      <p:sp>
        <p:nvSpPr>
          <p:cNvPr id="6" name="TextBox 5"/>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E8C9C9"/>
                </a:solidFill>
                <a:latin typeface="Calibri"/>
              </a:rPr>
              <a:t>Tecnologías Disruptivas  ·  Escuela de Informática  ·  Universidad Andrés Bello</a:t>
            </a:r>
          </a:p>
        </p:txBody>
      </p:sp>
      <p:sp>
        <p:nvSpPr>
          <p:cNvPr id="7" name="TextBox 6"/>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E8C9C9"/>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Una imagen es una matriz de números</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10</a:t>
            </a:r>
          </a:p>
        </p:txBody>
      </p:sp>
      <p:pic>
        <p:nvPicPr>
          <p:cNvPr id="7" name="Picture 6" descr="pixeles_grid.png"/>
          <p:cNvPicPr>
            <a:picLocks noChangeAspect="1"/>
          </p:cNvPicPr>
          <p:nvPr/>
        </p:nvPicPr>
        <p:blipFill>
          <a:blip r:embed="rId5"/>
          <a:stretch>
            <a:fillRect/>
          </a:stretch>
        </p:blipFill>
        <p:spPr>
          <a:xfrm>
            <a:off x="457200" y="1143000"/>
            <a:ext cx="3931920" cy="3931920"/>
          </a:xfrm>
          <a:prstGeom prst="rect">
            <a:avLst/>
          </a:prstGeom>
        </p:spPr>
      </p:pic>
      <p:sp>
        <p:nvSpPr>
          <p:cNvPr id="8" name="TextBox 7"/>
          <p:cNvSpPr txBox="1"/>
          <p:nvPr/>
        </p:nvSpPr>
        <p:spPr>
          <a:xfrm>
            <a:off x="457200" y="5120640"/>
            <a:ext cx="3931920" cy="365760"/>
          </a:xfrm>
          <a:prstGeom prst="rect">
            <a:avLst/>
          </a:prstGeom>
          <a:noFill/>
        </p:spPr>
        <p:txBody>
          <a:bodyPr wrap="square" anchor="t">
            <a:spAutoFit/>
          </a:bodyPr>
          <a:lstStyle/>
          <a:p>
            <a:pPr algn="ctr">
              <a:spcAft>
                <a:spcPts val="600"/>
              </a:spcAft>
            </a:pPr>
            <a:r>
              <a:rPr sz="1100" b="0" i="1">
                <a:solidFill>
                  <a:srgbClr val="707070"/>
                </a:solidFill>
                <a:latin typeface="Calibri"/>
              </a:rPr>
              <a:t>Dígito «7» en 12 × 12 píxeles (escala de grises)</a:t>
            </a:r>
          </a:p>
        </p:txBody>
      </p:sp>
      <p:sp>
        <p:nvSpPr>
          <p:cNvPr id="9" name="TextBox 8"/>
          <p:cNvSpPr txBox="1"/>
          <p:nvPr/>
        </p:nvSpPr>
        <p:spPr>
          <a:xfrm>
            <a:off x="4663440" y="1188720"/>
            <a:ext cx="4023360" cy="2377440"/>
          </a:xfrm>
          <a:prstGeom prst="rect">
            <a:avLst/>
          </a:prstGeom>
          <a:noFill/>
        </p:spPr>
        <p:txBody>
          <a:bodyPr wrap="square" anchor="t">
            <a:spAutoFit/>
          </a:bodyPr>
          <a:lstStyle/>
          <a:p>
            <a:pPr marL="228600" indent="-201168" algn="l">
              <a:spcAft>
                <a:spcPts val="800"/>
              </a:spcAft>
              <a:buClr>
                <a:srgbClr val="8E1B1B"/>
              </a:buClr>
              <a:buFont typeface="Arial"/>
              <a:buChar char="•"/>
            </a:pPr>
            <a:r>
              <a:rPr sz="1500" b="0" i="0">
                <a:solidFill>
                  <a:srgbClr val="262626"/>
                </a:solidFill>
                <a:latin typeface="Calibri"/>
              </a:rPr>
              <a:t>Cada píxel es un número de </a:t>
            </a:r>
            <a:r>
              <a:rPr sz="1500" b="1" i="0">
                <a:solidFill>
                  <a:srgbClr val="262626"/>
                </a:solidFill>
                <a:latin typeface="Calibri"/>
              </a:rPr>
              <a:t>0 (negro) a 255 (blanco)</a:t>
            </a:r>
            <a:r>
              <a:rPr sz="1500" b="0" i="0">
                <a:solidFill>
                  <a:srgbClr val="262626"/>
                </a:solidFill>
                <a:latin typeface="Calibri"/>
              </a:rPr>
              <a:t>.</a:t>
            </a:r>
          </a:p>
          <a:p>
            <a:pPr marL="228600" indent="-201168" algn="l">
              <a:spcAft>
                <a:spcPts val="800"/>
              </a:spcAft>
              <a:buClr>
                <a:srgbClr val="8E1B1B"/>
              </a:buClr>
              <a:buFont typeface="Arial"/>
              <a:buChar char="•"/>
            </a:pPr>
            <a:r>
              <a:rPr sz="1500" b="0" i="0">
                <a:solidFill>
                  <a:srgbClr val="262626"/>
                </a:solidFill>
                <a:latin typeface="Calibri"/>
              </a:rPr>
              <a:t>Una foto a color tiene </a:t>
            </a:r>
            <a:r>
              <a:rPr sz="1500" b="1" i="0">
                <a:solidFill>
                  <a:srgbClr val="262626"/>
                </a:solidFill>
                <a:latin typeface="Calibri"/>
              </a:rPr>
              <a:t>3 canales</a:t>
            </a:r>
            <a:r>
              <a:rPr sz="1500" b="0" i="0">
                <a:solidFill>
                  <a:srgbClr val="262626"/>
                </a:solidFill>
                <a:latin typeface="Calibri"/>
              </a:rPr>
              <a:t>: azul, verde y rojo (OpenCV usa el orden </a:t>
            </a:r>
            <a:r>
              <a:rPr sz="1500" b="1" i="0">
                <a:solidFill>
                  <a:srgbClr val="262626"/>
                </a:solidFill>
                <a:latin typeface="Calibri"/>
              </a:rPr>
              <a:t>BGR</a:t>
            </a:r>
            <a:r>
              <a:rPr sz="1500" b="0" i="0">
                <a:solidFill>
                  <a:srgbClr val="262626"/>
                </a:solidFill>
                <a:latin typeface="Calibri"/>
              </a:rPr>
              <a:t>).</a:t>
            </a:r>
          </a:p>
          <a:p>
            <a:pPr marL="228600" indent="-201168" algn="l">
              <a:spcAft>
                <a:spcPts val="800"/>
              </a:spcAft>
              <a:buClr>
                <a:srgbClr val="8E1B1B"/>
              </a:buClr>
              <a:buFont typeface="Arial"/>
              <a:buChar char="•"/>
            </a:pPr>
            <a:r>
              <a:rPr sz="1500" b="0" i="0">
                <a:solidFill>
                  <a:srgbClr val="262626"/>
                </a:solidFill>
                <a:latin typeface="Calibri"/>
              </a:rPr>
              <a:t>Para el programa, «ver» es hacer operaciones sobre esa matriz.</a:t>
            </a:r>
          </a:p>
        </p:txBody>
      </p:sp>
      <p:sp>
        <p:nvSpPr>
          <p:cNvPr id="10" name="Rounded Rectangle 9"/>
          <p:cNvSpPr/>
          <p:nvPr/>
        </p:nvSpPr>
        <p:spPr>
          <a:xfrm>
            <a:off x="4663440" y="3794760"/>
            <a:ext cx="4023360" cy="16916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800600" y="3840480"/>
            <a:ext cx="3749039" cy="868680"/>
          </a:xfrm>
          <a:prstGeom prst="rect">
            <a:avLst/>
          </a:prstGeom>
          <a:noFill/>
        </p:spPr>
        <p:txBody>
          <a:bodyPr wrap="square" anchor="ctr">
            <a:spAutoFit/>
          </a:bodyPr>
          <a:lstStyle/>
          <a:p>
            <a:pPr algn="ctr">
              <a:spcAft>
                <a:spcPts val="600"/>
              </a:spcAft>
            </a:pPr>
            <a:r>
              <a:rPr sz="4400" b="1" i="0">
                <a:solidFill>
                  <a:srgbClr val="8E1B1B"/>
                </a:solidFill>
                <a:latin typeface="Calibri"/>
              </a:rPr>
              <a:t>921.600</a:t>
            </a:r>
          </a:p>
        </p:txBody>
      </p:sp>
      <p:sp>
        <p:nvSpPr>
          <p:cNvPr id="12" name="TextBox 11"/>
          <p:cNvSpPr txBox="1"/>
          <p:nvPr/>
        </p:nvSpPr>
        <p:spPr>
          <a:xfrm>
            <a:off x="4800600" y="4663440"/>
            <a:ext cx="3749039" cy="731520"/>
          </a:xfrm>
          <a:prstGeom prst="rect">
            <a:avLst/>
          </a:prstGeom>
          <a:noFill/>
        </p:spPr>
        <p:txBody>
          <a:bodyPr wrap="square" anchor="t">
            <a:spAutoFit/>
          </a:bodyPr>
          <a:lstStyle/>
          <a:p>
            <a:pPr algn="ctr">
              <a:spcAft>
                <a:spcPts val="600"/>
              </a:spcAft>
            </a:pPr>
            <a:r>
              <a:rPr sz="1300" b="0" i="0">
                <a:solidFill>
                  <a:srgbClr val="262626"/>
                </a:solidFill>
                <a:latin typeface="Calibri"/>
              </a:rPr>
              <a:t>números en una sola foto a color de 640 × 480 píxeles</a:t>
            </a:r>
          </a:p>
        </p:txBody>
      </p:sp>
      <p:sp>
        <p:nvSpPr>
          <p:cNvPr id="13" name="Rounded Rectangle 12"/>
          <p:cNvSpPr/>
          <p:nvPr/>
        </p:nvSpPr>
        <p:spPr>
          <a:xfrm>
            <a:off x="457200" y="5623560"/>
            <a:ext cx="8229600" cy="73152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Codigo"/>
          <p:cNvSpPr txBox="1"/>
          <p:nvPr/>
        </p:nvSpPr>
        <p:spPr>
          <a:xfrm>
            <a:off x="594360" y="5696712"/>
            <a:ext cx="7955279" cy="621792"/>
          </a:xfrm>
          <a:prstGeom prst="rect">
            <a:avLst/>
          </a:prstGeom>
          <a:noFill/>
        </p:spPr>
        <p:txBody>
          <a:bodyPr wrap="square" lIns="0" tIns="0" rIns="0" bIns="0">
            <a:spAutoFit/>
          </a:bodyPr>
          <a:lstStyle/>
          <a:p>
            <a:pPr>
              <a:spcAft>
                <a:spcPts val="0"/>
              </a:spcAft>
            </a:pPr>
            <a:r>
              <a:rPr sz="1100">
                <a:solidFill>
                  <a:srgbClr val="E6E6E6"/>
                </a:solidFill>
                <a:latin typeface="Courier New"/>
              </a:rPr>
              <a:t>img = cv2.imread("foto.jpg")</a:t>
            </a:r>
          </a:p>
          <a:p>
            <a:pPr>
              <a:spcAft>
                <a:spcPts val="0"/>
              </a:spcAft>
            </a:pPr>
            <a:r>
              <a:rPr sz="1100">
                <a:solidFill>
                  <a:srgbClr val="E6E6E6"/>
                </a:solidFill>
                <a:latin typeface="Courier New"/>
              </a:rPr>
              <a:t>print(img.shape)</a:t>
            </a:r>
            <a:r>
              <a:rPr sz="1100">
                <a:solidFill>
                  <a:srgbClr val="8FBF8F"/>
                </a:solidFill>
                <a:latin typeface="Courier New"/>
              </a:rPr>
              <a:t>      # (480, 640, 3)  -&gt;  alto, ancho, canales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Procesamiento clásico de imágenes</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11</a:t>
            </a:r>
          </a:p>
        </p:txBody>
      </p:sp>
      <p:pic>
        <p:nvPicPr>
          <p:cNvPr id="7" name="Picture 6" descr="01_procesamiento.jpg"/>
          <p:cNvPicPr>
            <a:picLocks noChangeAspect="1"/>
          </p:cNvPicPr>
          <p:nvPr/>
        </p:nvPicPr>
        <p:blipFill>
          <a:blip r:embed="rId5"/>
          <a:stretch>
            <a:fillRect/>
          </a:stretch>
        </p:blipFill>
        <p:spPr>
          <a:xfrm>
            <a:off x="457200" y="1097280"/>
            <a:ext cx="4846320" cy="2800096"/>
          </a:xfrm>
          <a:prstGeom prst="rect">
            <a:avLst/>
          </a:prstGeom>
        </p:spPr>
      </p:pic>
      <p:sp>
        <p:nvSpPr>
          <p:cNvPr id="8" name="TextBox 7"/>
          <p:cNvSpPr txBox="1"/>
          <p:nvPr/>
        </p:nvSpPr>
        <p:spPr>
          <a:xfrm>
            <a:off x="457200" y="1097280"/>
            <a:ext cx="2423160" cy="274320"/>
          </a:xfrm>
          <a:prstGeom prst="rect">
            <a:avLst/>
          </a:prstGeom>
          <a:noFill/>
        </p:spPr>
        <p:txBody>
          <a:bodyPr wrap="square" lIns="36576" tIns="36576" rIns="36576" bIns="36576" anchor="t">
            <a:spAutoFit/>
          </a:bodyPr>
          <a:lstStyle/>
          <a:p>
            <a:pPr algn="l">
              <a:spcAft>
                <a:spcPts val="600"/>
              </a:spcAft>
            </a:pPr>
            <a:r>
              <a:rPr sz="1000" b="1" i="0">
                <a:solidFill>
                  <a:srgbClr val="FFFFFF"/>
                </a:solidFill>
                <a:latin typeface="Calibri"/>
              </a:rPr>
              <a:t>1 · Grises</a:t>
            </a:r>
          </a:p>
        </p:txBody>
      </p:sp>
      <p:sp>
        <p:nvSpPr>
          <p:cNvPr id="9" name="TextBox 8"/>
          <p:cNvSpPr txBox="1"/>
          <p:nvPr/>
        </p:nvSpPr>
        <p:spPr>
          <a:xfrm>
            <a:off x="2880360" y="1097280"/>
            <a:ext cx="2423160" cy="274320"/>
          </a:xfrm>
          <a:prstGeom prst="rect">
            <a:avLst/>
          </a:prstGeom>
          <a:noFill/>
        </p:spPr>
        <p:txBody>
          <a:bodyPr wrap="square" lIns="36576" tIns="36576" rIns="36576" bIns="36576" anchor="t">
            <a:spAutoFit/>
          </a:bodyPr>
          <a:lstStyle/>
          <a:p>
            <a:pPr algn="l">
              <a:spcAft>
                <a:spcPts val="600"/>
              </a:spcAft>
            </a:pPr>
            <a:r>
              <a:rPr sz="1000" b="1" i="0">
                <a:solidFill>
                  <a:srgbClr val="FFFFFF"/>
                </a:solidFill>
                <a:latin typeface="Calibri"/>
              </a:rPr>
              <a:t>2 · Umbral</a:t>
            </a:r>
          </a:p>
        </p:txBody>
      </p:sp>
      <p:sp>
        <p:nvSpPr>
          <p:cNvPr id="10" name="TextBox 9"/>
          <p:cNvSpPr txBox="1"/>
          <p:nvPr/>
        </p:nvSpPr>
        <p:spPr>
          <a:xfrm>
            <a:off x="457200" y="2496312"/>
            <a:ext cx="2423160" cy="274320"/>
          </a:xfrm>
          <a:prstGeom prst="rect">
            <a:avLst/>
          </a:prstGeom>
          <a:noFill/>
        </p:spPr>
        <p:txBody>
          <a:bodyPr wrap="square" lIns="36576" tIns="36576" rIns="36576" bIns="36576" anchor="t">
            <a:spAutoFit/>
          </a:bodyPr>
          <a:lstStyle/>
          <a:p>
            <a:pPr algn="l">
              <a:spcAft>
                <a:spcPts val="600"/>
              </a:spcAft>
            </a:pPr>
            <a:r>
              <a:rPr sz="1000" b="1" i="0">
                <a:solidFill>
                  <a:srgbClr val="FFFFFF"/>
                </a:solidFill>
                <a:latin typeface="Calibri"/>
              </a:rPr>
              <a:t>3 · Bordes</a:t>
            </a:r>
          </a:p>
        </p:txBody>
      </p:sp>
      <p:sp>
        <p:nvSpPr>
          <p:cNvPr id="11" name="TextBox 10"/>
          <p:cNvSpPr txBox="1"/>
          <p:nvPr/>
        </p:nvSpPr>
        <p:spPr>
          <a:xfrm>
            <a:off x="2880360" y="2496312"/>
            <a:ext cx="2423160" cy="274320"/>
          </a:xfrm>
          <a:prstGeom prst="rect">
            <a:avLst/>
          </a:prstGeom>
          <a:noFill/>
        </p:spPr>
        <p:txBody>
          <a:bodyPr wrap="square" lIns="36576" tIns="36576" rIns="36576" bIns="36576" anchor="t">
            <a:spAutoFit/>
          </a:bodyPr>
          <a:lstStyle/>
          <a:p>
            <a:pPr algn="l">
              <a:spcAft>
                <a:spcPts val="600"/>
              </a:spcAft>
            </a:pPr>
            <a:r>
              <a:rPr sz="1000" b="1" i="0">
                <a:solidFill>
                  <a:srgbClr val="FFFFFF"/>
                </a:solidFill>
                <a:latin typeface="Calibri"/>
              </a:rPr>
              <a:t>4 · Zonas de texto</a:t>
            </a:r>
          </a:p>
        </p:txBody>
      </p:sp>
      <p:sp>
        <p:nvSpPr>
          <p:cNvPr id="12" name="TextBox 11"/>
          <p:cNvSpPr txBox="1"/>
          <p:nvPr/>
        </p:nvSpPr>
        <p:spPr>
          <a:xfrm>
            <a:off x="5532120" y="1051560"/>
            <a:ext cx="3200400" cy="603504"/>
          </a:xfrm>
          <a:prstGeom prst="rect">
            <a:avLst/>
          </a:prstGeom>
          <a:noFill/>
        </p:spPr>
        <p:txBody>
          <a:bodyPr wrap="square" anchor="t">
            <a:spAutoFit/>
          </a:bodyPr>
          <a:lstStyle/>
          <a:p>
            <a:pPr algn="l">
              <a:lnSpc>
                <a:spcPct val="100000"/>
              </a:lnSpc>
              <a:spcAft>
                <a:spcPts val="600"/>
              </a:spcAft>
            </a:pPr>
            <a:r>
              <a:rPr sz="1300" b="1" i="0">
                <a:solidFill>
                  <a:srgbClr val="262626"/>
                </a:solidFill>
                <a:latin typeface="Calibri"/>
              </a:rPr>
              <a:t>Escala de grises:</a:t>
            </a:r>
            <a:r>
              <a:rPr sz="1300" b="0" i="0">
                <a:solidFill>
                  <a:srgbClr val="262626"/>
                </a:solidFill>
                <a:latin typeface="Calibri"/>
              </a:rPr>
              <a:t> 3 canales → 1; menos datos que procesar.</a:t>
            </a:r>
          </a:p>
        </p:txBody>
      </p:sp>
      <p:sp>
        <p:nvSpPr>
          <p:cNvPr id="13" name="TextBox 12"/>
          <p:cNvSpPr txBox="1"/>
          <p:nvPr/>
        </p:nvSpPr>
        <p:spPr>
          <a:xfrm>
            <a:off x="5532120" y="1655064"/>
            <a:ext cx="3200400" cy="603504"/>
          </a:xfrm>
          <a:prstGeom prst="rect">
            <a:avLst/>
          </a:prstGeom>
          <a:noFill/>
        </p:spPr>
        <p:txBody>
          <a:bodyPr wrap="square" anchor="t">
            <a:spAutoFit/>
          </a:bodyPr>
          <a:lstStyle/>
          <a:p>
            <a:pPr algn="l">
              <a:lnSpc>
                <a:spcPct val="100000"/>
              </a:lnSpc>
              <a:spcAft>
                <a:spcPts val="600"/>
              </a:spcAft>
            </a:pPr>
            <a:r>
              <a:rPr sz="1300" b="1" i="0">
                <a:solidFill>
                  <a:srgbClr val="262626"/>
                </a:solidFill>
                <a:latin typeface="Calibri"/>
              </a:rPr>
              <a:t>Suavizado (blur):</a:t>
            </a:r>
            <a:r>
              <a:rPr sz="1300" b="0" i="0">
                <a:solidFill>
                  <a:srgbClr val="262626"/>
                </a:solidFill>
                <a:latin typeface="Calibri"/>
              </a:rPr>
              <a:t> Elimina ruido antes de decidir.</a:t>
            </a:r>
          </a:p>
        </p:txBody>
      </p:sp>
      <p:sp>
        <p:nvSpPr>
          <p:cNvPr id="14" name="TextBox 13"/>
          <p:cNvSpPr txBox="1"/>
          <p:nvPr/>
        </p:nvSpPr>
        <p:spPr>
          <a:xfrm>
            <a:off x="5532120" y="2258568"/>
            <a:ext cx="3200400" cy="603504"/>
          </a:xfrm>
          <a:prstGeom prst="rect">
            <a:avLst/>
          </a:prstGeom>
          <a:noFill/>
        </p:spPr>
        <p:txBody>
          <a:bodyPr wrap="square" anchor="t">
            <a:spAutoFit/>
          </a:bodyPr>
          <a:lstStyle/>
          <a:p>
            <a:pPr algn="l">
              <a:lnSpc>
                <a:spcPct val="100000"/>
              </a:lnSpc>
              <a:spcAft>
                <a:spcPts val="600"/>
              </a:spcAft>
            </a:pPr>
            <a:r>
              <a:rPr sz="1300" b="1" i="0">
                <a:solidFill>
                  <a:srgbClr val="262626"/>
                </a:solidFill>
                <a:latin typeface="Calibri"/>
              </a:rPr>
              <a:t>Umbral:</a:t>
            </a:r>
            <a:r>
              <a:rPr sz="1300" b="0" i="0">
                <a:solidFill>
                  <a:srgbClr val="262626"/>
                </a:solidFill>
                <a:latin typeface="Calibri"/>
              </a:rPr>
              <a:t> Cada píxel pasa a blanco o negro.</a:t>
            </a:r>
          </a:p>
        </p:txBody>
      </p:sp>
      <p:sp>
        <p:nvSpPr>
          <p:cNvPr id="15" name="TextBox 14"/>
          <p:cNvSpPr txBox="1"/>
          <p:nvPr/>
        </p:nvSpPr>
        <p:spPr>
          <a:xfrm>
            <a:off x="5532120" y="2862072"/>
            <a:ext cx="3200400" cy="603504"/>
          </a:xfrm>
          <a:prstGeom prst="rect">
            <a:avLst/>
          </a:prstGeom>
          <a:noFill/>
        </p:spPr>
        <p:txBody>
          <a:bodyPr wrap="square" anchor="t">
            <a:spAutoFit/>
          </a:bodyPr>
          <a:lstStyle/>
          <a:p>
            <a:pPr algn="l">
              <a:lnSpc>
                <a:spcPct val="100000"/>
              </a:lnSpc>
              <a:spcAft>
                <a:spcPts val="600"/>
              </a:spcAft>
            </a:pPr>
            <a:r>
              <a:rPr sz="1300" b="1" i="0">
                <a:solidFill>
                  <a:srgbClr val="262626"/>
                </a:solidFill>
                <a:latin typeface="Calibri"/>
              </a:rPr>
              <a:t>Bordes (Canny):</a:t>
            </a:r>
            <a:r>
              <a:rPr sz="1300" b="0" i="0">
                <a:solidFill>
                  <a:srgbClr val="262626"/>
                </a:solidFill>
                <a:latin typeface="Calibri"/>
              </a:rPr>
              <a:t> Marca cambios bruscos de intensidad.</a:t>
            </a:r>
          </a:p>
        </p:txBody>
      </p:sp>
      <p:sp>
        <p:nvSpPr>
          <p:cNvPr id="16" name="TextBox 15"/>
          <p:cNvSpPr txBox="1"/>
          <p:nvPr/>
        </p:nvSpPr>
        <p:spPr>
          <a:xfrm>
            <a:off x="5532120" y="3465576"/>
            <a:ext cx="3200400" cy="603504"/>
          </a:xfrm>
          <a:prstGeom prst="rect">
            <a:avLst/>
          </a:prstGeom>
          <a:noFill/>
        </p:spPr>
        <p:txBody>
          <a:bodyPr wrap="square" anchor="t">
            <a:spAutoFit/>
          </a:bodyPr>
          <a:lstStyle/>
          <a:p>
            <a:pPr algn="l">
              <a:lnSpc>
                <a:spcPct val="100000"/>
              </a:lnSpc>
              <a:spcAft>
                <a:spcPts val="600"/>
              </a:spcAft>
            </a:pPr>
            <a:r>
              <a:rPr sz="1300" b="1" i="0">
                <a:solidFill>
                  <a:srgbClr val="262626"/>
                </a:solidFill>
                <a:latin typeface="Calibri"/>
              </a:rPr>
              <a:t>Contornos:</a:t>
            </a:r>
            <a:r>
              <a:rPr sz="1300" b="0" i="0">
                <a:solidFill>
                  <a:srgbClr val="262626"/>
                </a:solidFill>
                <a:latin typeface="Calibri"/>
              </a:rPr>
              <a:t> Agrupa píxeles en formas y cajas.</a:t>
            </a:r>
          </a:p>
        </p:txBody>
      </p:sp>
      <p:sp>
        <p:nvSpPr>
          <p:cNvPr id="17" name="Rounded Rectangle 16"/>
          <p:cNvSpPr/>
          <p:nvPr/>
        </p:nvSpPr>
        <p:spPr>
          <a:xfrm>
            <a:off x="457200" y="4206240"/>
            <a:ext cx="8229600" cy="7772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5800" y="4206240"/>
            <a:ext cx="7772400" cy="777240"/>
          </a:xfrm>
          <a:prstGeom prst="rect">
            <a:avLst/>
          </a:prstGeom>
          <a:noFill/>
        </p:spPr>
        <p:txBody>
          <a:bodyPr wrap="square" anchor="ctr">
            <a:spAutoFit/>
          </a:bodyPr>
          <a:lstStyle/>
          <a:p>
            <a:pPr algn="l">
              <a:spcAft>
                <a:spcPts val="600"/>
              </a:spcAft>
            </a:pPr>
            <a:r>
              <a:rPr sz="1500" b="1" i="0">
                <a:solidFill>
                  <a:srgbClr val="262626"/>
                </a:solidFill>
                <a:latin typeface="Calibri"/>
              </a:rPr>
              <a:t>Idea clave:</a:t>
            </a:r>
            <a:r>
              <a:rPr sz="1500" b="0" i="0">
                <a:solidFill>
                  <a:srgbClr val="262626"/>
                </a:solidFill>
                <a:latin typeface="Calibri"/>
              </a:rPr>
              <a:t> aquí no hay inteligencia artificial. Son </a:t>
            </a:r>
            <a:r>
              <a:rPr sz="1500" b="1" i="0">
                <a:solidFill>
                  <a:srgbClr val="262626"/>
                </a:solidFill>
                <a:latin typeface="Calibri"/>
              </a:rPr>
              <a:t>reglas</a:t>
            </a:r>
            <a:r>
              <a:rPr sz="1500" b="0" i="0">
                <a:solidFill>
                  <a:srgbClr val="262626"/>
                </a:solidFill>
                <a:latin typeface="Calibri"/>
              </a:rPr>
              <a:t> que el programador define y ajusta a mano (tamaños, umbrales, filtros).</a:t>
            </a:r>
          </a:p>
        </p:txBody>
      </p:sp>
      <p:sp>
        <p:nvSpPr>
          <p:cNvPr id="19" name="TextBox 18"/>
          <p:cNvSpPr txBox="1"/>
          <p:nvPr/>
        </p:nvSpPr>
        <p:spPr>
          <a:xfrm>
            <a:off x="457200" y="5120640"/>
            <a:ext cx="8229600" cy="1188720"/>
          </a:xfrm>
          <a:prstGeom prst="rect">
            <a:avLst/>
          </a:prstGeom>
          <a:noFill/>
        </p:spPr>
        <p:txBody>
          <a:bodyPr wrap="square" anchor="t">
            <a:spAutoFit/>
          </a:bodyPr>
          <a:lstStyle/>
          <a:p>
            <a:pPr marL="228600" indent="-201168" algn="l">
              <a:spcAft>
                <a:spcPts val="600"/>
              </a:spcAft>
              <a:buClr>
                <a:srgbClr val="8E1B1B"/>
              </a:buClr>
              <a:buFont typeface="Arial"/>
              <a:buChar char="•"/>
            </a:pPr>
            <a:r>
              <a:rPr sz="1400" b="0" i="0">
                <a:solidFill>
                  <a:srgbClr val="262626"/>
                </a:solidFill>
                <a:latin typeface="Calibri"/>
              </a:rPr>
              <a:t>Muy rápido y liviano: corre sin problemas en una Raspberry Pi o incluso en una ESP32-CAM.</a:t>
            </a:r>
          </a:p>
          <a:p>
            <a:pPr marL="228600" indent="-201168" algn="l">
              <a:spcAft>
                <a:spcPts val="600"/>
              </a:spcAft>
              <a:buClr>
                <a:srgbClr val="8E1B1B"/>
              </a:buClr>
              <a:buFont typeface="Arial"/>
              <a:buChar char="•"/>
            </a:pPr>
            <a:r>
              <a:rPr sz="1400" b="0" i="0">
                <a:solidFill>
                  <a:srgbClr val="262626"/>
                </a:solidFill>
                <a:latin typeface="Calibri"/>
              </a:rPr>
              <a:t>Frágil: si cambia la luz, el ángulo o el fondo, las reglas dejan de funcionar.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Código · Procesar una imagen con OpenCV</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12</a:t>
            </a:r>
          </a:p>
        </p:txBody>
      </p:sp>
      <p:sp>
        <p:nvSpPr>
          <p:cNvPr id="7" name="Rounded Rectangle 6"/>
          <p:cNvSpPr/>
          <p:nvPr/>
        </p:nvSpPr>
        <p:spPr>
          <a:xfrm>
            <a:off x="457200" y="1097280"/>
            <a:ext cx="4846320" cy="388620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4360" y="1152144"/>
            <a:ext cx="4572000"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02_procesamiento.py (extracto)</a:t>
            </a:r>
          </a:p>
        </p:txBody>
      </p:sp>
      <p:sp>
        <p:nvSpPr>
          <p:cNvPr id="9" name="Codigo"/>
          <p:cNvSpPr txBox="1"/>
          <p:nvPr/>
        </p:nvSpPr>
        <p:spPr>
          <a:xfrm>
            <a:off x="594360" y="1444752"/>
            <a:ext cx="4572000" cy="3502152"/>
          </a:xfrm>
          <a:prstGeom prst="rect">
            <a:avLst/>
          </a:prstGeom>
          <a:noFill/>
        </p:spPr>
        <p:txBody>
          <a:bodyPr wrap="square" lIns="0" tIns="0" rIns="0" bIns="0">
            <a:spAutoFit/>
          </a:bodyPr>
          <a:lstStyle/>
          <a:p>
            <a:pPr>
              <a:spcAft>
                <a:spcPts val="0"/>
              </a:spcAft>
            </a:pPr>
            <a:r>
              <a:rPr sz="1000">
                <a:solidFill>
                  <a:srgbClr val="E6E6E6"/>
                </a:solidFill>
                <a:latin typeface="Courier New"/>
              </a:rPr>
              <a:t>img = cv2.imread("imagenes/etiqueta.jpg")</a:t>
            </a:r>
          </a:p>
          <a:p>
            <a:pPr>
              <a:spcAft>
                <a:spcPts val="0"/>
              </a:spcAft>
            </a:pPr>
            <a:r>
              <a:rPr sz="1000">
                <a:solidFill>
                  <a:srgbClr val="E6E6E6"/>
                </a:solidFill>
                <a:latin typeface="Courier New"/>
              </a:rPr>
              <a:t>gris  = cv2.cvtColor(img, cv2.COLOR_BGR2GRAY)</a:t>
            </a:r>
          </a:p>
          <a:p>
            <a:pPr>
              <a:spcAft>
                <a:spcPts val="0"/>
              </a:spcAft>
            </a:pPr>
            <a:r>
              <a:rPr sz="1000">
                <a:solidFill>
                  <a:srgbClr val="E6E6E6"/>
                </a:solidFill>
                <a:latin typeface="Courier New"/>
              </a:rPr>
              <a:t>suave = cv2.GaussianBlur(gris, (5, 5), 0)</a:t>
            </a:r>
          </a:p>
          <a:p>
            <a:pPr>
              <a:spcAft>
                <a:spcPts val="0"/>
              </a:spcAft>
            </a:pPr>
            <a:r>
              <a:rPr sz="1000">
                <a:solidFill>
                  <a:srgbClr val="E6E6E6"/>
                </a:solidFill>
                <a:latin typeface="Courier New"/>
              </a:rPr>
              <a:t>binaria = cv2.adaptiveThreshold(suave, 255,</a:t>
            </a:r>
          </a:p>
          <a:p>
            <a:pPr>
              <a:spcAft>
                <a:spcPts val="0"/>
              </a:spcAft>
            </a:pPr>
            <a:r>
              <a:rPr sz="1000">
                <a:solidFill>
                  <a:srgbClr val="E6E6E6"/>
                </a:solidFill>
                <a:latin typeface="Courier New"/>
              </a:rPr>
              <a:t>    cv2.ADAPTIVE_THRESH_GAUSSIAN_C,</a:t>
            </a:r>
          </a:p>
          <a:p>
            <a:pPr>
              <a:spcAft>
                <a:spcPts val="0"/>
              </a:spcAft>
            </a:pPr>
            <a:r>
              <a:rPr sz="1000">
                <a:solidFill>
                  <a:srgbClr val="E6E6E6"/>
                </a:solidFill>
                <a:latin typeface="Courier New"/>
              </a:rPr>
              <a:t>    cv2.THRESH_BINARY_INV, 31, 15)</a:t>
            </a:r>
          </a:p>
          <a:p>
            <a:pPr>
              <a:spcAft>
                <a:spcPts val="0"/>
              </a:spcAft>
            </a:pPr>
            <a:r>
              <a:rPr sz="1000">
                <a:solidFill>
                  <a:srgbClr val="E6E6E6"/>
                </a:solidFill>
                <a:latin typeface="Courier New"/>
              </a:rPr>
              <a:t>bordes = cv2.Canny(suave, 50, 150)</a:t>
            </a:r>
          </a:p>
          <a:p>
            <a:pPr>
              <a:spcAft>
                <a:spcPts val="0"/>
              </a:spcAft>
            </a:pPr>
            <a:r>
              <a:rPr sz="1000">
                <a:solidFill>
                  <a:srgbClr val="E6E6E6"/>
                </a:solidFill>
                <a:latin typeface="Courier New"/>
              </a:rPr>
              <a:t> </a:t>
            </a:r>
          </a:p>
          <a:p>
            <a:pPr>
              <a:spcAft>
                <a:spcPts val="0"/>
              </a:spcAft>
            </a:pPr>
            <a:r>
              <a:rPr sz="1000">
                <a:solidFill>
                  <a:srgbClr val="8FBF8F"/>
                </a:solidFill>
                <a:latin typeface="Courier New"/>
              </a:rPr>
              <a:t># unir letras vecinas y buscar zonas con texto</a:t>
            </a:r>
          </a:p>
          <a:p>
            <a:pPr>
              <a:spcAft>
                <a:spcPts val="0"/>
              </a:spcAft>
            </a:pPr>
            <a:r>
              <a:rPr sz="1000">
                <a:solidFill>
                  <a:srgbClr val="E6E6E6"/>
                </a:solidFill>
                <a:latin typeface="Courier New"/>
              </a:rPr>
              <a:t>unidas = cv2.dilate(binaria, np.ones((3, 15), np.uint8))</a:t>
            </a:r>
          </a:p>
          <a:p>
            <a:pPr>
              <a:spcAft>
                <a:spcPts val="0"/>
              </a:spcAft>
            </a:pPr>
            <a:r>
              <a:rPr sz="1000">
                <a:solidFill>
                  <a:srgbClr val="E6E6E6"/>
                </a:solidFill>
                <a:latin typeface="Courier New"/>
              </a:rPr>
              <a:t>contornos, _ = cv2.findContours(unidas,</a:t>
            </a:r>
          </a:p>
          <a:p>
            <a:pPr>
              <a:spcAft>
                <a:spcPts val="0"/>
              </a:spcAft>
            </a:pPr>
            <a:r>
              <a:rPr sz="1000">
                <a:solidFill>
                  <a:srgbClr val="E6E6E6"/>
                </a:solidFill>
                <a:latin typeface="Courier New"/>
              </a:rPr>
              <a:t>    cv2.RETR_LIST, cv2.CHAIN_APPROX_SIMPLE)</a:t>
            </a:r>
          </a:p>
          <a:p>
            <a:pPr>
              <a:spcAft>
                <a:spcPts val="0"/>
              </a:spcAft>
            </a:pPr>
            <a:r>
              <a:rPr sz="1000">
                <a:solidFill>
                  <a:srgbClr val="E6E6E6"/>
                </a:solidFill>
                <a:latin typeface="Courier New"/>
              </a:rPr>
              <a:t>for c in contornos:</a:t>
            </a:r>
          </a:p>
          <a:p>
            <a:pPr>
              <a:spcAft>
                <a:spcPts val="0"/>
              </a:spcAft>
            </a:pPr>
            <a:r>
              <a:rPr sz="1000">
                <a:solidFill>
                  <a:srgbClr val="E6E6E6"/>
                </a:solidFill>
                <a:latin typeface="Courier New"/>
              </a:rPr>
              <a:t>    x, y, w, h = cv2.boundingRect(c)</a:t>
            </a:r>
          </a:p>
          <a:p>
            <a:pPr>
              <a:spcAft>
                <a:spcPts val="0"/>
              </a:spcAft>
            </a:pPr>
            <a:r>
              <a:rPr sz="1000">
                <a:solidFill>
                  <a:srgbClr val="E6E6E6"/>
                </a:solidFill>
                <a:latin typeface="Courier New"/>
              </a:rPr>
              <a:t>    cv2.rectangle(img, (x, y), (x+w, y+h), (0,0,255), 2)</a:t>
            </a:r>
          </a:p>
        </p:txBody>
      </p:sp>
      <p:pic>
        <p:nvPicPr>
          <p:cNvPr id="10" name="Picture 9" descr="01_procesamiento.jpg"/>
          <p:cNvPicPr>
            <a:picLocks noChangeAspect="1"/>
          </p:cNvPicPr>
          <p:nvPr/>
        </p:nvPicPr>
        <p:blipFill>
          <a:blip r:embed="rId5"/>
          <a:stretch>
            <a:fillRect/>
          </a:stretch>
        </p:blipFill>
        <p:spPr>
          <a:xfrm>
            <a:off x="5486400" y="1097280"/>
            <a:ext cx="3200400" cy="1849120"/>
          </a:xfrm>
          <a:prstGeom prst="rect">
            <a:avLst/>
          </a:prstGeom>
        </p:spPr>
      </p:pic>
      <p:sp>
        <p:nvSpPr>
          <p:cNvPr id="11" name="TextBox 10"/>
          <p:cNvSpPr txBox="1"/>
          <p:nvPr/>
        </p:nvSpPr>
        <p:spPr>
          <a:xfrm>
            <a:off x="5486400" y="3017520"/>
            <a:ext cx="3200400" cy="365760"/>
          </a:xfrm>
          <a:prstGeom prst="rect">
            <a:avLst/>
          </a:prstGeom>
          <a:noFill/>
        </p:spPr>
        <p:txBody>
          <a:bodyPr wrap="square" anchor="t">
            <a:spAutoFit/>
          </a:bodyPr>
          <a:lstStyle/>
          <a:p>
            <a:pPr algn="l">
              <a:spcAft>
                <a:spcPts val="600"/>
              </a:spcAft>
            </a:pPr>
            <a:r>
              <a:rPr sz="1100" b="0" i="1">
                <a:solidFill>
                  <a:srgbClr val="707070"/>
                </a:solidFill>
                <a:latin typeface="Calibri"/>
              </a:rPr>
              <a:t>resultados/02_procesamiento.jpg</a:t>
            </a:r>
          </a:p>
        </p:txBody>
      </p:sp>
      <p:sp>
        <p:nvSpPr>
          <p:cNvPr id="12" name="TextBox 11"/>
          <p:cNvSpPr txBox="1"/>
          <p:nvPr/>
        </p:nvSpPr>
        <p:spPr>
          <a:xfrm>
            <a:off x="5486400" y="3429000"/>
            <a:ext cx="3200400" cy="1554480"/>
          </a:xfrm>
          <a:prstGeom prst="rect">
            <a:avLst/>
          </a:prstGeom>
          <a:noFill/>
        </p:spPr>
        <p:txBody>
          <a:bodyPr wrap="square" anchor="t">
            <a:spAutoFit/>
          </a:bodyPr>
          <a:lstStyle/>
          <a:p>
            <a:pPr marL="228600" indent="-201168" algn="l">
              <a:spcAft>
                <a:spcPts val="300"/>
              </a:spcAft>
              <a:buClr>
                <a:srgbClr val="8E1B1B"/>
              </a:buClr>
              <a:buFont typeface="Arial"/>
              <a:buChar char="•"/>
            </a:pPr>
            <a:r>
              <a:rPr sz="1200" b="0" i="0">
                <a:solidFill>
                  <a:srgbClr val="8E1B1B"/>
                </a:solidFill>
                <a:latin typeface="Courier New"/>
              </a:rPr>
              <a:t>cvtColor</a:t>
            </a:r>
            <a:r>
              <a:rPr sz="1300" b="0" i="0">
                <a:solidFill>
                  <a:srgbClr val="262626"/>
                </a:solidFill>
                <a:latin typeface="Calibri"/>
              </a:rPr>
              <a:t>: a grises</a:t>
            </a:r>
          </a:p>
          <a:p>
            <a:pPr marL="228600" indent="-201168" algn="l">
              <a:spcAft>
                <a:spcPts val="300"/>
              </a:spcAft>
              <a:buClr>
                <a:srgbClr val="8E1B1B"/>
              </a:buClr>
              <a:buFont typeface="Arial"/>
              <a:buChar char="•"/>
            </a:pPr>
            <a:r>
              <a:rPr sz="1200" b="0" i="0">
                <a:solidFill>
                  <a:srgbClr val="8E1B1B"/>
                </a:solidFill>
                <a:latin typeface="Courier New"/>
              </a:rPr>
              <a:t>GaussianBlur</a:t>
            </a:r>
            <a:r>
              <a:rPr sz="1300" b="0" i="0">
                <a:solidFill>
                  <a:srgbClr val="262626"/>
                </a:solidFill>
                <a:latin typeface="Calibri"/>
              </a:rPr>
              <a:t>: suavizar</a:t>
            </a:r>
          </a:p>
          <a:p>
            <a:pPr marL="228600" indent="-201168" algn="l">
              <a:spcAft>
                <a:spcPts val="300"/>
              </a:spcAft>
              <a:buClr>
                <a:srgbClr val="8E1B1B"/>
              </a:buClr>
              <a:buFont typeface="Arial"/>
              <a:buChar char="•"/>
            </a:pPr>
            <a:r>
              <a:rPr sz="1200" b="0" i="0">
                <a:solidFill>
                  <a:srgbClr val="8E1B1B"/>
                </a:solidFill>
                <a:latin typeface="Courier New"/>
              </a:rPr>
              <a:t>adaptiveThreshold</a:t>
            </a:r>
            <a:r>
              <a:rPr sz="1300" b="0" i="0">
                <a:solidFill>
                  <a:srgbClr val="262626"/>
                </a:solidFill>
                <a:latin typeface="Calibri"/>
              </a:rPr>
              <a:t>: blanco/negro</a:t>
            </a:r>
          </a:p>
          <a:p>
            <a:pPr marL="228600" indent="-201168" algn="l">
              <a:spcAft>
                <a:spcPts val="300"/>
              </a:spcAft>
              <a:buClr>
                <a:srgbClr val="8E1B1B"/>
              </a:buClr>
              <a:buFont typeface="Arial"/>
              <a:buChar char="•"/>
            </a:pPr>
            <a:r>
              <a:rPr sz="1200" b="0" i="0">
                <a:solidFill>
                  <a:srgbClr val="8E1B1B"/>
                </a:solidFill>
                <a:latin typeface="Courier New"/>
              </a:rPr>
              <a:t>Canny</a:t>
            </a:r>
            <a:r>
              <a:rPr sz="1300" b="0" i="0">
                <a:solidFill>
                  <a:srgbClr val="262626"/>
                </a:solidFill>
                <a:latin typeface="Calibri"/>
              </a:rPr>
              <a:t>: bordes</a:t>
            </a:r>
          </a:p>
          <a:p>
            <a:pPr marL="228600" indent="-201168" algn="l">
              <a:spcAft>
                <a:spcPts val="300"/>
              </a:spcAft>
              <a:buClr>
                <a:srgbClr val="8E1B1B"/>
              </a:buClr>
              <a:buFont typeface="Arial"/>
              <a:buChar char="•"/>
            </a:pPr>
            <a:r>
              <a:rPr sz="1200" b="0" i="0">
                <a:solidFill>
                  <a:srgbClr val="8E1B1B"/>
                </a:solidFill>
                <a:latin typeface="Courier New"/>
              </a:rPr>
              <a:t>findContours</a:t>
            </a:r>
            <a:r>
              <a:rPr sz="1300" b="0" i="0">
                <a:solidFill>
                  <a:srgbClr val="262626"/>
                </a:solidFill>
                <a:latin typeface="Calibri"/>
              </a:rPr>
              <a:t>: formas</a:t>
            </a:r>
          </a:p>
        </p:txBody>
      </p:sp>
      <p:sp>
        <p:nvSpPr>
          <p:cNvPr id="13" name="Rounded Rectangle 12"/>
          <p:cNvSpPr/>
          <p:nvPr/>
        </p:nvSpPr>
        <p:spPr>
          <a:xfrm>
            <a:off x="457200" y="5166360"/>
            <a:ext cx="8229600" cy="10058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85800" y="5166360"/>
            <a:ext cx="7772400" cy="1005840"/>
          </a:xfrm>
          <a:prstGeom prst="rect">
            <a:avLst/>
          </a:prstGeom>
          <a:noFill/>
        </p:spPr>
        <p:txBody>
          <a:bodyPr wrap="square" anchor="ctr">
            <a:spAutoFit/>
          </a:bodyPr>
          <a:lstStyle/>
          <a:p>
            <a:pPr algn="l">
              <a:spcAft>
                <a:spcPts val="600"/>
              </a:spcAft>
            </a:pPr>
            <a:r>
              <a:rPr sz="1500" b="0" i="0">
                <a:solidFill>
                  <a:srgbClr val="262626"/>
                </a:solidFill>
                <a:latin typeface="Calibri"/>
              </a:rPr>
              <a:t>Cada línea es una </a:t>
            </a:r>
            <a:r>
              <a:rPr sz="1500" b="1" i="0">
                <a:solidFill>
                  <a:srgbClr val="262626"/>
                </a:solidFill>
                <a:latin typeface="Calibri"/>
              </a:rPr>
              <a:t>regla</a:t>
            </a:r>
            <a:r>
              <a:rPr sz="1500" b="0" i="0">
                <a:solidFill>
                  <a:srgbClr val="262626"/>
                </a:solidFill>
                <a:latin typeface="Calibri"/>
              </a:rPr>
              <a:t> con </a:t>
            </a:r>
            <a:r>
              <a:rPr sz="1500" b="1" i="0">
                <a:solidFill>
                  <a:srgbClr val="262626"/>
                </a:solidFill>
                <a:latin typeface="Calibri"/>
              </a:rPr>
              <a:t>parámetros</a:t>
            </a:r>
            <a:r>
              <a:rPr sz="1500" b="0" i="0">
                <a:solidFill>
                  <a:srgbClr val="262626"/>
                </a:solidFill>
                <a:latin typeface="Calibri"/>
              </a:rPr>
              <a:t> elegidos a mano, como </a:t>
            </a:r>
            <a:r>
              <a:rPr sz="1400" b="0" i="0">
                <a:solidFill>
                  <a:srgbClr val="8E1B1B"/>
                </a:solidFill>
                <a:latin typeface="Courier New"/>
              </a:rPr>
              <a:t>(5, 5)</a:t>
            </a:r>
            <a:r>
              <a:rPr sz="1500" b="0" i="0">
                <a:solidFill>
                  <a:srgbClr val="262626"/>
                </a:solidFill>
                <a:latin typeface="Calibri"/>
              </a:rPr>
              <a:t> o </a:t>
            </a:r>
            <a:r>
              <a:rPr sz="1400" b="0" i="0">
                <a:solidFill>
                  <a:srgbClr val="8E1B1B"/>
                </a:solidFill>
                <a:latin typeface="Courier New"/>
              </a:rPr>
              <a:t>(3, 15)</a:t>
            </a:r>
            <a:r>
              <a:rPr sz="1500" b="0" i="0">
                <a:solidFill>
                  <a:srgbClr val="262626"/>
                </a:solidFill>
                <a:latin typeface="Calibri"/>
              </a:rPr>
              <a:t>. En el momento de código los vas a cambiar.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3272E"/>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Momento de código 1</a:t>
            </a:r>
          </a:p>
        </p:txBody>
      </p:sp>
      <p:sp>
        <p:nvSpPr>
          <p:cNvPr id="5" name="Oval 4"/>
          <p:cNvSpPr/>
          <p:nvPr/>
        </p:nvSpPr>
        <p:spPr>
          <a:xfrm>
            <a:off x="457200" y="105156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aptop_w.png"/>
          <p:cNvPicPr>
            <a:picLocks noChangeAspect="1"/>
          </p:cNvPicPr>
          <p:nvPr/>
        </p:nvPicPr>
        <p:blipFill>
          <a:blip r:embed="rId4"/>
          <a:stretch>
            <a:fillRect/>
          </a:stretch>
        </p:blipFill>
        <p:spPr>
          <a:xfrm>
            <a:off x="598017" y="1192377"/>
            <a:ext cx="358444" cy="358444"/>
          </a:xfrm>
          <a:prstGeom prst="rect">
            <a:avLst/>
          </a:prstGeom>
        </p:spPr>
      </p:pic>
      <p:sp>
        <p:nvSpPr>
          <p:cNvPr id="7" name="TextBox 6"/>
          <p:cNvSpPr txBox="1"/>
          <p:nvPr/>
        </p:nvSpPr>
        <p:spPr>
          <a:xfrm>
            <a:off x="1234440" y="1024128"/>
            <a:ext cx="5120640" cy="365760"/>
          </a:xfrm>
          <a:prstGeom prst="rect">
            <a:avLst/>
          </a:prstGeom>
          <a:noFill/>
        </p:spPr>
        <p:txBody>
          <a:bodyPr wrap="square" lIns="0" tIns="0" rIns="0" bIns="0" anchor="t">
            <a:spAutoFit/>
          </a:bodyPr>
          <a:lstStyle/>
          <a:p>
            <a:pPr algn="l">
              <a:spcAft>
                <a:spcPts val="600"/>
              </a:spcAft>
            </a:pPr>
            <a:r>
              <a:rPr sz="1300" b="1" i="0">
                <a:solidFill>
                  <a:srgbClr val="F2C14E"/>
                </a:solidFill>
                <a:latin typeface="Calibri"/>
              </a:rPr>
              <a:t>AHORA EN TU COMPUTADOR</a:t>
            </a:r>
          </a:p>
        </p:txBody>
      </p:sp>
      <p:sp>
        <p:nvSpPr>
          <p:cNvPr id="8" name="TextBox 7"/>
          <p:cNvSpPr txBox="1"/>
          <p:nvPr/>
        </p:nvSpPr>
        <p:spPr>
          <a:xfrm>
            <a:off x="1234440" y="1344168"/>
            <a:ext cx="5394960" cy="411480"/>
          </a:xfrm>
          <a:prstGeom prst="rect">
            <a:avLst/>
          </a:prstGeom>
          <a:noFill/>
        </p:spPr>
        <p:txBody>
          <a:bodyPr wrap="square" lIns="0" tIns="0" rIns="0" bIns="0" anchor="t">
            <a:spAutoFit/>
          </a:bodyPr>
          <a:lstStyle/>
          <a:p>
            <a:pPr algn="l">
              <a:spcAft>
                <a:spcPts val="600"/>
              </a:spcAft>
            </a:pPr>
            <a:r>
              <a:rPr sz="2200" b="1" i="0">
                <a:solidFill>
                  <a:srgbClr val="FFFFFF"/>
                </a:solidFill>
                <a:latin typeface="Courier New"/>
              </a:rPr>
              <a:t>02_procesamiento.py</a:t>
            </a:r>
          </a:p>
        </p:txBody>
      </p:sp>
      <p:sp>
        <p:nvSpPr>
          <p:cNvPr id="9" name="Rounded Rectangle 8"/>
          <p:cNvSpPr/>
          <p:nvPr/>
        </p:nvSpPr>
        <p:spPr>
          <a:xfrm>
            <a:off x="6720840" y="1051560"/>
            <a:ext cx="1965960" cy="6400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imer_w.png"/>
          <p:cNvPicPr>
            <a:picLocks noChangeAspect="1"/>
          </p:cNvPicPr>
          <p:nvPr/>
        </p:nvPicPr>
        <p:blipFill>
          <a:blip r:embed="rId5"/>
          <a:stretch>
            <a:fillRect/>
          </a:stretch>
        </p:blipFill>
        <p:spPr>
          <a:xfrm>
            <a:off x="6858000" y="1143000"/>
            <a:ext cx="457200" cy="457200"/>
          </a:xfrm>
          <a:prstGeom prst="rect">
            <a:avLst/>
          </a:prstGeom>
        </p:spPr>
      </p:pic>
      <p:sp>
        <p:nvSpPr>
          <p:cNvPr id="11" name="TextBox 10"/>
          <p:cNvSpPr txBox="1"/>
          <p:nvPr/>
        </p:nvSpPr>
        <p:spPr>
          <a:xfrm>
            <a:off x="7360920" y="1051560"/>
            <a:ext cx="1280160" cy="640080"/>
          </a:xfrm>
          <a:prstGeom prst="rect">
            <a:avLst/>
          </a:prstGeom>
          <a:noFill/>
        </p:spPr>
        <p:txBody>
          <a:bodyPr wrap="square" lIns="0" tIns="0" rIns="0" bIns="0" anchor="ctr">
            <a:spAutoFit/>
          </a:bodyPr>
          <a:lstStyle/>
          <a:p>
            <a:pPr algn="l">
              <a:spcAft>
                <a:spcPts val="600"/>
              </a:spcAft>
            </a:pPr>
            <a:r>
              <a:rPr sz="1700" b="1" i="0">
                <a:solidFill>
                  <a:srgbClr val="FFFFFF"/>
                </a:solidFill>
                <a:latin typeface="Calibri"/>
              </a:rPr>
              <a:t>≈ 10 min</a:t>
            </a:r>
          </a:p>
        </p:txBody>
      </p:sp>
      <p:sp>
        <p:nvSpPr>
          <p:cNvPr id="12" name="TextBox 11"/>
          <p:cNvSpPr txBox="1"/>
          <p:nvPr/>
        </p:nvSpPr>
        <p:spPr>
          <a:xfrm>
            <a:off x="457200" y="1874519"/>
            <a:ext cx="8229600" cy="457200"/>
          </a:xfrm>
          <a:prstGeom prst="rect">
            <a:avLst/>
          </a:prstGeom>
          <a:noFill/>
        </p:spPr>
        <p:txBody>
          <a:bodyPr wrap="square" lIns="0" tIns="0" rIns="0" bIns="0" anchor="t">
            <a:spAutoFit/>
          </a:bodyPr>
          <a:lstStyle/>
          <a:p>
            <a:pPr algn="l">
              <a:spcAft>
                <a:spcPts val="600"/>
              </a:spcAft>
            </a:pPr>
            <a:r>
              <a:rPr sz="1500" b="0" i="0">
                <a:solidFill>
                  <a:srgbClr val="D9DDE3"/>
                </a:solidFill>
                <a:latin typeface="Calibri"/>
              </a:rPr>
              <a:t>Ver cómo los parámetros de las reglas manuales cambian el resultado.</a:t>
            </a:r>
          </a:p>
        </p:txBody>
      </p:sp>
      <p:sp>
        <p:nvSpPr>
          <p:cNvPr id="13" name="Rounded Rectangle 12"/>
          <p:cNvSpPr/>
          <p:nvPr/>
        </p:nvSpPr>
        <p:spPr>
          <a:xfrm>
            <a:off x="457200" y="2377440"/>
            <a:ext cx="8229600" cy="850392"/>
          </a:xfrm>
          <a:prstGeom prst="roundRect">
            <a:avLst>
              <a:gd name="adj" fmla="val 8000"/>
            </a:avLst>
          </a:prstGeom>
          <a:solidFill>
            <a:srgbClr val="141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2395728"/>
            <a:ext cx="7863840" cy="822959"/>
          </a:xfrm>
          <a:prstGeom prst="rect">
            <a:avLst/>
          </a:prstGeom>
          <a:noFill/>
        </p:spPr>
        <p:txBody>
          <a:bodyPr wrap="square" lIns="18288" tIns="18288" rIns="18288" bIns="18288" anchor="ctr">
            <a:spAutoFit/>
          </a:bodyPr>
          <a:lstStyle/>
          <a:p>
            <a:pPr algn="l">
              <a:spcAft>
                <a:spcPts val="0"/>
              </a:spcAft>
            </a:pPr>
            <a:r>
              <a:rPr sz="1400" b="0" i="0">
                <a:solidFill>
                  <a:srgbClr val="9FE29F"/>
                </a:solidFill>
                <a:latin typeface="Courier New"/>
              </a:rPr>
              <a:t>$ python 02_procesamiento.py imagenes/etiqueta.jpg</a:t>
            </a:r>
          </a:p>
          <a:p>
            <a:pPr algn="l">
              <a:spcAft>
                <a:spcPts val="0"/>
              </a:spcAft>
            </a:pPr>
            <a:r>
              <a:rPr sz="1400" b="0" i="0">
                <a:solidFill>
                  <a:srgbClr val="9FE29F"/>
                </a:solidFill>
                <a:latin typeface="Courier New"/>
              </a:rPr>
              <a:t>$ python 02_procesamiento.py imagenes/foto_1.jpg</a:t>
            </a:r>
          </a:p>
        </p:txBody>
      </p:sp>
      <p:sp>
        <p:nvSpPr>
          <p:cNvPr id="15" name="TextBox 14"/>
          <p:cNvSpPr txBox="1"/>
          <p:nvPr/>
        </p:nvSpPr>
        <p:spPr>
          <a:xfrm>
            <a:off x="457200" y="3383280"/>
            <a:ext cx="8229600" cy="365760"/>
          </a:xfrm>
          <a:prstGeom prst="rect">
            <a:avLst/>
          </a:prstGeom>
          <a:noFill/>
        </p:spPr>
        <p:txBody>
          <a:bodyPr wrap="square" lIns="0" tIns="0" rIns="0" bIns="0" anchor="t">
            <a:spAutoFit/>
          </a:bodyPr>
          <a:lstStyle/>
          <a:p>
            <a:pPr algn="l">
              <a:spcAft>
                <a:spcPts val="600"/>
              </a:spcAft>
            </a:pPr>
            <a:r>
              <a:rPr sz="1500" b="1" i="0">
                <a:solidFill>
                  <a:srgbClr val="F2C14E"/>
                </a:solidFill>
                <a:latin typeface="Calibri"/>
              </a:rPr>
              <a:t>Prueba esto:</a:t>
            </a:r>
          </a:p>
        </p:txBody>
      </p:sp>
      <p:sp>
        <p:nvSpPr>
          <p:cNvPr id="16" name="Rounded Rectangle 15"/>
          <p:cNvSpPr/>
          <p:nvPr/>
        </p:nvSpPr>
        <p:spPr>
          <a:xfrm>
            <a:off x="457200" y="379476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94360" y="395020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395020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1</a:t>
            </a:r>
          </a:p>
        </p:txBody>
      </p:sp>
      <p:sp>
        <p:nvSpPr>
          <p:cNvPr id="19" name="TextBox 18"/>
          <p:cNvSpPr txBox="1"/>
          <p:nvPr/>
        </p:nvSpPr>
        <p:spPr>
          <a:xfrm>
            <a:off x="1097280" y="379476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Ejecuta con la etiqueta de ejemplo y luego con </a:t>
            </a:r>
            <a:r>
              <a:rPr sz="1400" b="1" i="0">
                <a:solidFill>
                  <a:srgbClr val="FFFFFF"/>
                </a:solidFill>
                <a:latin typeface="Calibri"/>
              </a:rPr>
              <a:t>tu propia foto</a:t>
            </a:r>
            <a:r>
              <a:rPr sz="1400" b="0" i="0">
                <a:solidFill>
                  <a:srgbClr val="FFFFFF"/>
                </a:solidFill>
                <a:latin typeface="Calibri"/>
              </a:rPr>
              <a:t>. Abre resultados/02_procesamiento.jpg.</a:t>
            </a:r>
          </a:p>
        </p:txBody>
      </p:sp>
      <p:sp>
        <p:nvSpPr>
          <p:cNvPr id="20" name="Rounded Rectangle 19"/>
          <p:cNvSpPr/>
          <p:nvPr/>
        </p:nvSpPr>
        <p:spPr>
          <a:xfrm>
            <a:off x="457200" y="452628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594360" y="468172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94360" y="468172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2</a:t>
            </a:r>
          </a:p>
        </p:txBody>
      </p:sp>
      <p:sp>
        <p:nvSpPr>
          <p:cNvPr id="23" name="TextBox 22"/>
          <p:cNvSpPr txBox="1"/>
          <p:nvPr/>
        </p:nvSpPr>
        <p:spPr>
          <a:xfrm>
            <a:off x="1097280" y="452628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Cambia el suavizado </a:t>
            </a:r>
            <a:r>
              <a:rPr sz="1300" b="0" i="0">
                <a:solidFill>
                  <a:srgbClr val="FFFFFF"/>
                </a:solidFill>
                <a:latin typeface="Courier New"/>
              </a:rPr>
              <a:t>(5, 5)</a:t>
            </a:r>
            <a:r>
              <a:rPr sz="1400" b="0" i="0">
                <a:solidFill>
                  <a:srgbClr val="FFFFFF"/>
                </a:solidFill>
                <a:latin typeface="Calibri"/>
              </a:rPr>
              <a:t> por </a:t>
            </a:r>
            <a:r>
              <a:rPr sz="1300" b="0" i="0">
                <a:solidFill>
                  <a:srgbClr val="FFFFFF"/>
                </a:solidFill>
                <a:latin typeface="Courier New"/>
              </a:rPr>
              <a:t>(15, 15)</a:t>
            </a:r>
            <a:r>
              <a:rPr sz="1400" b="0" i="0">
                <a:solidFill>
                  <a:srgbClr val="FFFFFF"/>
                </a:solidFill>
                <a:latin typeface="Calibri"/>
              </a:rPr>
              <a:t>: ¿qué pasa con los bordes?</a:t>
            </a:r>
          </a:p>
        </p:txBody>
      </p:sp>
      <p:sp>
        <p:nvSpPr>
          <p:cNvPr id="24" name="Rounded Rectangle 23"/>
          <p:cNvSpPr/>
          <p:nvPr/>
        </p:nvSpPr>
        <p:spPr>
          <a:xfrm>
            <a:off x="457200" y="525780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594360" y="541324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4360" y="541324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3</a:t>
            </a:r>
          </a:p>
        </p:txBody>
      </p:sp>
      <p:sp>
        <p:nvSpPr>
          <p:cNvPr id="27" name="TextBox 26"/>
          <p:cNvSpPr txBox="1"/>
          <p:nvPr/>
        </p:nvSpPr>
        <p:spPr>
          <a:xfrm>
            <a:off x="1097280" y="525780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Cambia el kernel </a:t>
            </a:r>
            <a:r>
              <a:rPr sz="1300" b="0" i="0">
                <a:solidFill>
                  <a:srgbClr val="FFFFFF"/>
                </a:solidFill>
                <a:latin typeface="Courier New"/>
              </a:rPr>
              <a:t>(3, 15)</a:t>
            </a:r>
            <a:r>
              <a:rPr sz="1400" b="0" i="0">
                <a:solidFill>
                  <a:srgbClr val="FFFFFF"/>
                </a:solidFill>
                <a:latin typeface="Calibri"/>
              </a:rPr>
              <a:t> por </a:t>
            </a:r>
            <a:r>
              <a:rPr sz="1300" b="0" i="0">
                <a:solidFill>
                  <a:srgbClr val="FFFFFF"/>
                </a:solidFill>
                <a:latin typeface="Courier New"/>
              </a:rPr>
              <a:t>(3, 40)</a:t>
            </a:r>
            <a:r>
              <a:rPr sz="1400" b="0" i="0">
                <a:solidFill>
                  <a:srgbClr val="FFFFFF"/>
                </a:solidFill>
                <a:latin typeface="Calibri"/>
              </a:rPr>
              <a:t> y por </a:t>
            </a:r>
            <a:r>
              <a:rPr sz="1300" b="0" i="0">
                <a:solidFill>
                  <a:srgbClr val="FFFFFF"/>
                </a:solidFill>
                <a:latin typeface="Courier New"/>
              </a:rPr>
              <a:t>(3, 5)</a:t>
            </a:r>
            <a:r>
              <a:rPr sz="1400" b="0" i="0">
                <a:solidFill>
                  <a:srgbClr val="FFFFFF"/>
                </a:solidFill>
                <a:latin typeface="Calibri"/>
              </a:rPr>
              <a:t>: ¿qué pasa con las cajas?</a:t>
            </a:r>
          </a:p>
        </p:txBody>
      </p:sp>
      <p:sp>
        <p:nvSpPr>
          <p:cNvPr id="28" name="TextBox 27"/>
          <p:cNvSpPr txBox="1"/>
          <p:nvPr/>
        </p:nvSpPr>
        <p:spPr>
          <a:xfrm>
            <a:off x="457200" y="6053328"/>
            <a:ext cx="8229600" cy="411480"/>
          </a:xfrm>
          <a:prstGeom prst="rect">
            <a:avLst/>
          </a:prstGeom>
          <a:noFill/>
        </p:spPr>
        <p:txBody>
          <a:bodyPr wrap="square" lIns="0" tIns="0" rIns="0" bIns="0" anchor="t">
            <a:spAutoFit/>
          </a:bodyPr>
          <a:lstStyle/>
          <a:p>
            <a:pPr algn="l">
              <a:spcAft>
                <a:spcPts val="600"/>
              </a:spcAft>
            </a:pPr>
            <a:r>
              <a:rPr sz="1200" b="0" i="1">
                <a:solidFill>
                  <a:srgbClr val="AEB4BD"/>
                </a:solidFill>
                <a:latin typeface="Calibri"/>
              </a:rPr>
              <a:t>Conclusión que buscamos: un pequeño cambio de luz o de parámetro cambia mucho el resultado.</a:t>
            </a:r>
          </a:p>
        </p:txBody>
      </p:sp>
      <p:sp>
        <p:nvSpPr>
          <p:cNvPr id="29" name="TextBox 28"/>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8A9099"/>
                </a:solidFill>
                <a:latin typeface="Calibri"/>
              </a:rPr>
              <a:t>Tecnologías Disruptivas  ·  Escuela de Informática  ·  Universidad Andrés Bello</a:t>
            </a:r>
          </a:p>
        </p:txBody>
      </p:sp>
      <p:sp>
        <p:nvSpPr>
          <p:cNvPr id="30" name="TextBox 29"/>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8A9099"/>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Visión clásica vs visión con IA</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14</a:t>
            </a:r>
          </a:p>
        </p:txBody>
      </p:sp>
      <p:sp>
        <p:nvSpPr>
          <p:cNvPr id="7" name="TextBox 6"/>
          <p:cNvSpPr txBox="1"/>
          <p:nvPr/>
        </p:nvSpPr>
        <p:spPr>
          <a:xfrm>
            <a:off x="457200" y="1097280"/>
            <a:ext cx="8229600" cy="548640"/>
          </a:xfrm>
          <a:prstGeom prst="rect">
            <a:avLst/>
          </a:prstGeom>
          <a:noFill/>
        </p:spPr>
        <p:txBody>
          <a:bodyPr wrap="square" anchor="t">
            <a:spAutoFit/>
          </a:bodyPr>
          <a:lstStyle/>
          <a:p>
            <a:pPr algn="l">
              <a:spcAft>
                <a:spcPts val="600"/>
              </a:spcAft>
            </a:pPr>
            <a:r>
              <a:rPr sz="1600" b="0" i="0">
                <a:solidFill>
                  <a:srgbClr val="262626"/>
                </a:solidFill>
                <a:latin typeface="Calibri"/>
              </a:rPr>
              <a:t>Dos formas de llegar a la misma respuesta: «en esta imagen hay una persona».</a:t>
            </a:r>
          </a:p>
        </p:txBody>
      </p:sp>
      <p:sp>
        <p:nvSpPr>
          <p:cNvPr id="8" name="Rounded Rectangle 7"/>
          <p:cNvSpPr/>
          <p:nvPr/>
        </p:nvSpPr>
        <p:spPr>
          <a:xfrm>
            <a:off x="457200" y="1783080"/>
            <a:ext cx="3931920" cy="33375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85800" y="196596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tune_w.png"/>
          <p:cNvPicPr>
            <a:picLocks noChangeAspect="1"/>
          </p:cNvPicPr>
          <p:nvPr/>
        </p:nvPicPr>
        <p:blipFill>
          <a:blip r:embed="rId4"/>
          <a:stretch>
            <a:fillRect/>
          </a:stretch>
        </p:blipFill>
        <p:spPr>
          <a:xfrm>
            <a:off x="816559" y="2096719"/>
            <a:ext cx="332841" cy="332841"/>
          </a:xfrm>
          <a:prstGeom prst="rect">
            <a:avLst/>
          </a:prstGeom>
        </p:spPr>
      </p:pic>
      <p:sp>
        <p:nvSpPr>
          <p:cNvPr id="11" name="TextBox 10"/>
          <p:cNvSpPr txBox="1"/>
          <p:nvPr/>
        </p:nvSpPr>
        <p:spPr>
          <a:xfrm>
            <a:off x="1417320" y="1965960"/>
            <a:ext cx="2834640" cy="594360"/>
          </a:xfrm>
          <a:prstGeom prst="rect">
            <a:avLst/>
          </a:prstGeom>
          <a:noFill/>
        </p:spPr>
        <p:txBody>
          <a:bodyPr wrap="square" anchor="ctr">
            <a:spAutoFit/>
          </a:bodyPr>
          <a:lstStyle/>
          <a:p>
            <a:pPr algn="l">
              <a:spcAft>
                <a:spcPts val="600"/>
              </a:spcAft>
            </a:pPr>
            <a:r>
              <a:rPr sz="1700" b="1" i="0">
                <a:solidFill>
                  <a:srgbClr val="8E1B1B"/>
                </a:solidFill>
                <a:latin typeface="Calibri"/>
              </a:rPr>
              <a:t>Reglas escritas a mano</a:t>
            </a:r>
          </a:p>
        </p:txBody>
      </p:sp>
      <p:sp>
        <p:nvSpPr>
          <p:cNvPr id="12" name="TextBox 11"/>
          <p:cNvSpPr txBox="1"/>
          <p:nvPr/>
        </p:nvSpPr>
        <p:spPr>
          <a:xfrm>
            <a:off x="685800" y="2743200"/>
            <a:ext cx="3520440" cy="2286000"/>
          </a:xfrm>
          <a:prstGeom prst="rect">
            <a:avLst/>
          </a:prstGeom>
          <a:noFill/>
        </p:spPr>
        <p:txBody>
          <a:bodyPr wrap="square" anchor="t">
            <a:spAutoFit/>
          </a:bodyPr>
          <a:lstStyle/>
          <a:p>
            <a:pPr marL="228600" indent="-201168" algn="l">
              <a:spcAft>
                <a:spcPts val="600"/>
              </a:spcAft>
              <a:buClr>
                <a:srgbClr val="8E1B1B"/>
              </a:buClr>
              <a:buFont typeface="Arial"/>
              <a:buChar char="•"/>
            </a:pPr>
            <a:r>
              <a:rPr sz="1400" b="0" i="0">
                <a:solidFill>
                  <a:srgbClr val="262626"/>
                </a:solidFill>
                <a:latin typeface="Calibri"/>
              </a:rPr>
              <a:t>El programador decide qué buscar: bordes, colores, formas.</a:t>
            </a:r>
          </a:p>
          <a:p>
            <a:pPr marL="228600" indent="-201168" algn="l">
              <a:spcAft>
                <a:spcPts val="600"/>
              </a:spcAft>
              <a:buClr>
                <a:srgbClr val="8E1B1B"/>
              </a:buClr>
              <a:buFont typeface="Arial"/>
              <a:buChar char="•"/>
            </a:pPr>
            <a:r>
              <a:rPr sz="1400" b="0" i="0">
                <a:solidFill>
                  <a:srgbClr val="262626"/>
                </a:solidFill>
                <a:latin typeface="Calibri"/>
              </a:rPr>
              <a:t>Rápido, explicable y liviano.</a:t>
            </a:r>
          </a:p>
          <a:p>
            <a:pPr marL="228600" indent="-201168" algn="l">
              <a:spcAft>
                <a:spcPts val="600"/>
              </a:spcAft>
              <a:buClr>
                <a:srgbClr val="8E1B1B"/>
              </a:buClr>
              <a:buFont typeface="Arial"/>
              <a:buChar char="•"/>
            </a:pPr>
            <a:r>
              <a:rPr sz="1400" b="0" i="0">
                <a:solidFill>
                  <a:srgbClr val="262626"/>
                </a:solidFill>
                <a:latin typeface="Calibri"/>
              </a:rPr>
              <a:t>Se rompe con condiciones nuevas.</a:t>
            </a:r>
          </a:p>
          <a:p>
            <a:pPr marL="228600" indent="-201168" algn="l">
              <a:spcAft>
                <a:spcPts val="600"/>
              </a:spcAft>
              <a:buClr>
                <a:srgbClr val="8E1B1B"/>
              </a:buClr>
              <a:buFont typeface="Arial"/>
              <a:buChar char="•"/>
            </a:pPr>
            <a:r>
              <a:rPr sz="1400" b="0" i="0">
                <a:solidFill>
                  <a:srgbClr val="262626"/>
                </a:solidFill>
                <a:latin typeface="Calibri"/>
              </a:rPr>
              <a:t>Ej.: leer un dígito sobre fondo controlado.</a:t>
            </a:r>
          </a:p>
        </p:txBody>
      </p:sp>
      <p:sp>
        <p:nvSpPr>
          <p:cNvPr id="13" name="Rounded Rectangle 12"/>
          <p:cNvSpPr/>
          <p:nvPr/>
        </p:nvSpPr>
        <p:spPr>
          <a:xfrm>
            <a:off x="4754880" y="1783080"/>
            <a:ext cx="3931920" cy="333756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983480" y="196596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ayers_w.png"/>
          <p:cNvPicPr>
            <a:picLocks noChangeAspect="1"/>
          </p:cNvPicPr>
          <p:nvPr/>
        </p:nvPicPr>
        <p:blipFill>
          <a:blip r:embed="rId5"/>
          <a:stretch>
            <a:fillRect/>
          </a:stretch>
        </p:blipFill>
        <p:spPr>
          <a:xfrm>
            <a:off x="5114239" y="2096719"/>
            <a:ext cx="332841" cy="332841"/>
          </a:xfrm>
          <a:prstGeom prst="rect">
            <a:avLst/>
          </a:prstGeom>
        </p:spPr>
      </p:pic>
      <p:sp>
        <p:nvSpPr>
          <p:cNvPr id="16" name="TextBox 15"/>
          <p:cNvSpPr txBox="1"/>
          <p:nvPr/>
        </p:nvSpPr>
        <p:spPr>
          <a:xfrm>
            <a:off x="5715000" y="1965960"/>
            <a:ext cx="2834640" cy="594360"/>
          </a:xfrm>
          <a:prstGeom prst="rect">
            <a:avLst/>
          </a:prstGeom>
          <a:noFill/>
        </p:spPr>
        <p:txBody>
          <a:bodyPr wrap="square" anchor="ctr">
            <a:spAutoFit/>
          </a:bodyPr>
          <a:lstStyle/>
          <a:p>
            <a:pPr algn="l">
              <a:spcAft>
                <a:spcPts val="600"/>
              </a:spcAft>
            </a:pPr>
            <a:r>
              <a:rPr sz="1700" b="1" i="0">
                <a:solidFill>
                  <a:srgbClr val="8E1B1B"/>
                </a:solidFill>
                <a:latin typeface="Calibri"/>
              </a:rPr>
              <a:t>Modelo que aprende</a:t>
            </a:r>
          </a:p>
        </p:txBody>
      </p:sp>
      <p:sp>
        <p:nvSpPr>
          <p:cNvPr id="17" name="TextBox 16"/>
          <p:cNvSpPr txBox="1"/>
          <p:nvPr/>
        </p:nvSpPr>
        <p:spPr>
          <a:xfrm>
            <a:off x="4983480" y="2743200"/>
            <a:ext cx="3520440" cy="2286000"/>
          </a:xfrm>
          <a:prstGeom prst="rect">
            <a:avLst/>
          </a:prstGeom>
          <a:noFill/>
        </p:spPr>
        <p:txBody>
          <a:bodyPr wrap="square" anchor="t">
            <a:spAutoFit/>
          </a:bodyPr>
          <a:lstStyle/>
          <a:p>
            <a:pPr marL="228600" indent="-201168" algn="l">
              <a:spcAft>
                <a:spcPts val="600"/>
              </a:spcAft>
              <a:buClr>
                <a:srgbClr val="8E1B1B"/>
              </a:buClr>
              <a:buFont typeface="Arial"/>
              <a:buChar char="•"/>
            </a:pPr>
            <a:r>
              <a:rPr sz="1400" b="0" i="0">
                <a:solidFill>
                  <a:srgbClr val="262626"/>
                </a:solidFill>
                <a:latin typeface="Calibri"/>
              </a:rPr>
              <a:t>Aprende de </a:t>
            </a:r>
            <a:r>
              <a:rPr sz="1400" b="1" i="0">
                <a:solidFill>
                  <a:srgbClr val="262626"/>
                </a:solidFill>
                <a:latin typeface="Calibri"/>
              </a:rPr>
              <a:t>miles de ejemplos etiquetados</a:t>
            </a:r>
            <a:r>
              <a:rPr sz="1400" b="0" i="0">
                <a:solidFill>
                  <a:srgbClr val="262626"/>
                </a:solidFill>
                <a:latin typeface="Calibri"/>
              </a:rPr>
              <a:t>.</a:t>
            </a:r>
          </a:p>
          <a:p>
            <a:pPr marL="228600" indent="-201168" algn="l">
              <a:spcAft>
                <a:spcPts val="600"/>
              </a:spcAft>
              <a:buClr>
                <a:srgbClr val="8E1B1B"/>
              </a:buClr>
              <a:buFont typeface="Arial"/>
              <a:buChar char="•"/>
            </a:pPr>
            <a:r>
              <a:rPr sz="1400" b="0" i="0">
                <a:solidFill>
                  <a:srgbClr val="262626"/>
                </a:solidFill>
                <a:latin typeface="Calibri"/>
              </a:rPr>
              <a:t>Tolera cambios de luz, ángulo y fondo.</a:t>
            </a:r>
          </a:p>
          <a:p>
            <a:pPr marL="228600" indent="-201168" algn="l">
              <a:spcAft>
                <a:spcPts val="600"/>
              </a:spcAft>
              <a:buClr>
                <a:srgbClr val="8E1B1B"/>
              </a:buClr>
              <a:buFont typeface="Arial"/>
              <a:buChar char="•"/>
            </a:pPr>
            <a:r>
              <a:rPr sz="1400" b="0" i="0">
                <a:solidFill>
                  <a:srgbClr val="262626"/>
                </a:solidFill>
                <a:latin typeface="Calibri"/>
              </a:rPr>
              <a:t>Necesita datos y más cómputo.</a:t>
            </a:r>
          </a:p>
          <a:p>
            <a:pPr marL="228600" indent="-201168" algn="l">
              <a:spcAft>
                <a:spcPts val="600"/>
              </a:spcAft>
              <a:buClr>
                <a:srgbClr val="8E1B1B"/>
              </a:buClr>
              <a:buFont typeface="Arial"/>
              <a:buChar char="•"/>
            </a:pPr>
            <a:r>
              <a:rPr sz="1400" b="0" i="0">
                <a:solidFill>
                  <a:srgbClr val="262626"/>
                </a:solidFill>
                <a:latin typeface="Calibri"/>
              </a:rPr>
              <a:t>Ej.: YOLO detectando personas en la calle.</a:t>
            </a:r>
          </a:p>
        </p:txBody>
      </p:sp>
      <p:sp>
        <p:nvSpPr>
          <p:cNvPr id="18" name="Rounded Rectangle 17"/>
          <p:cNvSpPr/>
          <p:nvPr/>
        </p:nvSpPr>
        <p:spPr>
          <a:xfrm>
            <a:off x="457200" y="5349240"/>
            <a:ext cx="8229600" cy="68580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85800" y="5349240"/>
            <a:ext cx="7772400" cy="685800"/>
          </a:xfrm>
          <a:prstGeom prst="rect">
            <a:avLst/>
          </a:prstGeom>
          <a:noFill/>
        </p:spPr>
        <p:txBody>
          <a:bodyPr wrap="square" anchor="ctr">
            <a:spAutoFit/>
          </a:bodyPr>
          <a:lstStyle/>
          <a:p>
            <a:pPr algn="l">
              <a:spcAft>
                <a:spcPts val="600"/>
              </a:spcAft>
            </a:pPr>
            <a:r>
              <a:rPr sz="1500" b="0" i="0">
                <a:solidFill>
                  <a:srgbClr val="262626"/>
                </a:solidFill>
                <a:latin typeface="Calibri"/>
              </a:rPr>
              <a:t>En la práctica se </a:t>
            </a:r>
            <a:r>
              <a:rPr sz="1500" b="1" i="0">
                <a:solidFill>
                  <a:srgbClr val="262626"/>
                </a:solidFill>
                <a:latin typeface="Calibri"/>
              </a:rPr>
              <a:t>combinan</a:t>
            </a:r>
            <a:r>
              <a:rPr sz="1500" b="0" i="0">
                <a:solidFill>
                  <a:srgbClr val="262626"/>
                </a:solidFill>
                <a:latin typeface="Calibri"/>
              </a:rPr>
              <a:t>: el procesamiento clásico prepara la imagen y el modelo toma la decisión.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¿Qué hay dentro del modelo? (vista rápida)</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15</a:t>
            </a:r>
          </a:p>
        </p:txBody>
      </p:sp>
      <p:sp>
        <p:nvSpPr>
          <p:cNvPr id="7" name="TextBox 6"/>
          <p:cNvSpPr txBox="1"/>
          <p:nvPr/>
        </p:nvSpPr>
        <p:spPr>
          <a:xfrm>
            <a:off x="457200" y="1097280"/>
            <a:ext cx="8229600" cy="640080"/>
          </a:xfrm>
          <a:prstGeom prst="rect">
            <a:avLst/>
          </a:prstGeom>
          <a:noFill/>
        </p:spPr>
        <p:txBody>
          <a:bodyPr wrap="square" anchor="t">
            <a:spAutoFit/>
          </a:bodyPr>
          <a:lstStyle/>
          <a:p>
            <a:pPr algn="l">
              <a:spcAft>
                <a:spcPts val="600"/>
              </a:spcAft>
            </a:pPr>
            <a:r>
              <a:rPr sz="1600" b="0" i="0">
                <a:solidFill>
                  <a:srgbClr val="262626"/>
                </a:solidFill>
                <a:latin typeface="Calibri"/>
              </a:rPr>
              <a:t>Una </a:t>
            </a:r>
            <a:r>
              <a:rPr sz="1600" b="1" i="0">
                <a:solidFill>
                  <a:srgbClr val="262626"/>
                </a:solidFill>
                <a:latin typeface="Calibri"/>
              </a:rPr>
              <a:t>red neuronal convolucional</a:t>
            </a:r>
            <a:r>
              <a:rPr sz="1600" b="0" i="0">
                <a:solidFill>
                  <a:srgbClr val="262626"/>
                </a:solidFill>
                <a:latin typeface="Calibri"/>
              </a:rPr>
              <a:t> aprende sola los filtros que antes escribíamos a mano, y los apila en capas.</a:t>
            </a:r>
          </a:p>
        </p:txBody>
      </p:sp>
      <p:sp>
        <p:nvSpPr>
          <p:cNvPr id="8" name="Rounded Rectangle 7"/>
          <p:cNvSpPr/>
          <p:nvPr/>
        </p:nvSpPr>
        <p:spPr>
          <a:xfrm>
            <a:off x="457200" y="1965960"/>
            <a:ext cx="2514600" cy="214884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371600" y="210312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grid_w.png"/>
          <p:cNvPicPr>
            <a:picLocks noChangeAspect="1"/>
          </p:cNvPicPr>
          <p:nvPr/>
        </p:nvPicPr>
        <p:blipFill>
          <a:blip r:embed="rId5"/>
          <a:stretch>
            <a:fillRect/>
          </a:stretch>
        </p:blipFill>
        <p:spPr>
          <a:xfrm>
            <a:off x="1522476" y="2253996"/>
            <a:ext cx="384048" cy="384048"/>
          </a:xfrm>
          <a:prstGeom prst="rect">
            <a:avLst/>
          </a:prstGeom>
        </p:spPr>
      </p:pic>
      <p:sp>
        <p:nvSpPr>
          <p:cNvPr id="11" name="TextBox 10"/>
          <p:cNvSpPr txBox="1"/>
          <p:nvPr/>
        </p:nvSpPr>
        <p:spPr>
          <a:xfrm>
            <a:off x="548640" y="2880360"/>
            <a:ext cx="2331720" cy="365760"/>
          </a:xfrm>
          <a:prstGeom prst="rect">
            <a:avLst/>
          </a:prstGeom>
          <a:noFill/>
        </p:spPr>
        <p:txBody>
          <a:bodyPr wrap="square" anchor="t">
            <a:spAutoFit/>
          </a:bodyPr>
          <a:lstStyle/>
          <a:p>
            <a:pPr algn="ctr">
              <a:spcAft>
                <a:spcPts val="600"/>
              </a:spcAft>
            </a:pPr>
            <a:r>
              <a:rPr sz="1500" b="1" i="0">
                <a:solidFill>
                  <a:srgbClr val="8E1B1B"/>
                </a:solidFill>
                <a:latin typeface="Calibri"/>
              </a:rPr>
              <a:t>Capas iniciales</a:t>
            </a:r>
          </a:p>
        </p:txBody>
      </p:sp>
      <p:sp>
        <p:nvSpPr>
          <p:cNvPr id="12" name="TextBox 11"/>
          <p:cNvSpPr txBox="1"/>
          <p:nvPr/>
        </p:nvSpPr>
        <p:spPr>
          <a:xfrm>
            <a:off x="594360" y="3291840"/>
            <a:ext cx="2240280" cy="777240"/>
          </a:xfrm>
          <a:prstGeom prst="rect">
            <a:avLst/>
          </a:prstGeom>
          <a:noFill/>
        </p:spPr>
        <p:txBody>
          <a:bodyPr wrap="square" anchor="t">
            <a:spAutoFit/>
          </a:bodyPr>
          <a:lstStyle/>
          <a:p>
            <a:pPr algn="ctr">
              <a:spcAft>
                <a:spcPts val="600"/>
              </a:spcAft>
            </a:pPr>
            <a:r>
              <a:rPr sz="1300" b="0" i="0">
                <a:solidFill>
                  <a:srgbClr val="262626"/>
                </a:solidFill>
                <a:latin typeface="Calibri"/>
              </a:rPr>
              <a:t>Detectan bordes, líneas y colores</a:t>
            </a:r>
          </a:p>
        </p:txBody>
      </p:sp>
      <p:sp>
        <p:nvSpPr>
          <p:cNvPr id="13" name="Right Arrow 12"/>
          <p:cNvSpPr/>
          <p:nvPr/>
        </p:nvSpPr>
        <p:spPr>
          <a:xfrm>
            <a:off x="2999232" y="2880360"/>
            <a:ext cx="274320" cy="274320"/>
          </a:xfrm>
          <a:prstGeom prst="rightArrow">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291840" y="1965960"/>
            <a:ext cx="2514600" cy="214884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206240" y="210312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ayers_w.png"/>
          <p:cNvPicPr>
            <a:picLocks noChangeAspect="1"/>
          </p:cNvPicPr>
          <p:nvPr/>
        </p:nvPicPr>
        <p:blipFill>
          <a:blip r:embed="rId6"/>
          <a:stretch>
            <a:fillRect/>
          </a:stretch>
        </p:blipFill>
        <p:spPr>
          <a:xfrm>
            <a:off x="4357116" y="2253996"/>
            <a:ext cx="384048" cy="384048"/>
          </a:xfrm>
          <a:prstGeom prst="rect">
            <a:avLst/>
          </a:prstGeom>
        </p:spPr>
      </p:pic>
      <p:sp>
        <p:nvSpPr>
          <p:cNvPr id="17" name="TextBox 16"/>
          <p:cNvSpPr txBox="1"/>
          <p:nvPr/>
        </p:nvSpPr>
        <p:spPr>
          <a:xfrm>
            <a:off x="3383280" y="2880360"/>
            <a:ext cx="2331720" cy="365760"/>
          </a:xfrm>
          <a:prstGeom prst="rect">
            <a:avLst/>
          </a:prstGeom>
          <a:noFill/>
        </p:spPr>
        <p:txBody>
          <a:bodyPr wrap="square" anchor="t">
            <a:spAutoFit/>
          </a:bodyPr>
          <a:lstStyle/>
          <a:p>
            <a:pPr algn="ctr">
              <a:spcAft>
                <a:spcPts val="600"/>
              </a:spcAft>
            </a:pPr>
            <a:r>
              <a:rPr sz="1500" b="1" i="0">
                <a:solidFill>
                  <a:srgbClr val="8E1B1B"/>
                </a:solidFill>
                <a:latin typeface="Calibri"/>
              </a:rPr>
              <a:t>Capas intermedias</a:t>
            </a:r>
          </a:p>
        </p:txBody>
      </p:sp>
      <p:sp>
        <p:nvSpPr>
          <p:cNvPr id="18" name="TextBox 17"/>
          <p:cNvSpPr txBox="1"/>
          <p:nvPr/>
        </p:nvSpPr>
        <p:spPr>
          <a:xfrm>
            <a:off x="3429000" y="3291840"/>
            <a:ext cx="2240280" cy="777240"/>
          </a:xfrm>
          <a:prstGeom prst="rect">
            <a:avLst/>
          </a:prstGeom>
          <a:noFill/>
        </p:spPr>
        <p:txBody>
          <a:bodyPr wrap="square" anchor="t">
            <a:spAutoFit/>
          </a:bodyPr>
          <a:lstStyle/>
          <a:p>
            <a:pPr algn="ctr">
              <a:spcAft>
                <a:spcPts val="600"/>
              </a:spcAft>
            </a:pPr>
            <a:r>
              <a:rPr sz="1300" b="0" i="0">
                <a:solidFill>
                  <a:srgbClr val="262626"/>
                </a:solidFill>
                <a:latin typeface="Calibri"/>
              </a:rPr>
              <a:t>Combinan bordes en formas: ruedas, ojos, letras</a:t>
            </a:r>
          </a:p>
        </p:txBody>
      </p:sp>
      <p:sp>
        <p:nvSpPr>
          <p:cNvPr id="19" name="Right Arrow 18"/>
          <p:cNvSpPr/>
          <p:nvPr/>
        </p:nvSpPr>
        <p:spPr>
          <a:xfrm>
            <a:off x="5833872" y="2880360"/>
            <a:ext cx="274320" cy="274320"/>
          </a:xfrm>
          <a:prstGeom prst="rightArrow">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126480" y="1965960"/>
            <a:ext cx="2514600" cy="21488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7040880" y="210312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eye_w.png"/>
          <p:cNvPicPr>
            <a:picLocks noChangeAspect="1"/>
          </p:cNvPicPr>
          <p:nvPr/>
        </p:nvPicPr>
        <p:blipFill>
          <a:blip r:embed="rId7"/>
          <a:stretch>
            <a:fillRect/>
          </a:stretch>
        </p:blipFill>
        <p:spPr>
          <a:xfrm>
            <a:off x="7191756" y="2253996"/>
            <a:ext cx="384048" cy="384048"/>
          </a:xfrm>
          <a:prstGeom prst="rect">
            <a:avLst/>
          </a:prstGeom>
        </p:spPr>
      </p:pic>
      <p:sp>
        <p:nvSpPr>
          <p:cNvPr id="23" name="TextBox 22"/>
          <p:cNvSpPr txBox="1"/>
          <p:nvPr/>
        </p:nvSpPr>
        <p:spPr>
          <a:xfrm>
            <a:off x="6217920" y="2880360"/>
            <a:ext cx="2331720" cy="365760"/>
          </a:xfrm>
          <a:prstGeom prst="rect">
            <a:avLst/>
          </a:prstGeom>
          <a:noFill/>
        </p:spPr>
        <p:txBody>
          <a:bodyPr wrap="square" anchor="t">
            <a:spAutoFit/>
          </a:bodyPr>
          <a:lstStyle/>
          <a:p>
            <a:pPr algn="ctr">
              <a:spcAft>
                <a:spcPts val="600"/>
              </a:spcAft>
            </a:pPr>
            <a:r>
              <a:rPr sz="1500" b="1" i="0">
                <a:solidFill>
                  <a:srgbClr val="8E1B1B"/>
                </a:solidFill>
                <a:latin typeface="Calibri"/>
              </a:rPr>
              <a:t>Capas finales</a:t>
            </a:r>
          </a:p>
        </p:txBody>
      </p:sp>
      <p:sp>
        <p:nvSpPr>
          <p:cNvPr id="24" name="TextBox 23"/>
          <p:cNvSpPr txBox="1"/>
          <p:nvPr/>
        </p:nvSpPr>
        <p:spPr>
          <a:xfrm>
            <a:off x="6263640" y="3291840"/>
            <a:ext cx="2240280" cy="777240"/>
          </a:xfrm>
          <a:prstGeom prst="rect">
            <a:avLst/>
          </a:prstGeom>
          <a:noFill/>
        </p:spPr>
        <p:txBody>
          <a:bodyPr wrap="square" anchor="t">
            <a:spAutoFit/>
          </a:bodyPr>
          <a:lstStyle/>
          <a:p>
            <a:pPr algn="ctr">
              <a:spcAft>
                <a:spcPts val="600"/>
              </a:spcAft>
            </a:pPr>
            <a:r>
              <a:rPr sz="1300" b="0" i="0">
                <a:solidFill>
                  <a:srgbClr val="262626"/>
                </a:solidFill>
                <a:latin typeface="Calibri"/>
              </a:rPr>
              <a:t>Deciden: «persona 87 %», «bus 88 %»</a:t>
            </a:r>
          </a:p>
        </p:txBody>
      </p:sp>
      <p:sp>
        <p:nvSpPr>
          <p:cNvPr id="25" name="TextBox 24"/>
          <p:cNvSpPr txBox="1"/>
          <p:nvPr/>
        </p:nvSpPr>
        <p:spPr>
          <a:xfrm>
            <a:off x="457200" y="4343400"/>
            <a:ext cx="8229600" cy="1097280"/>
          </a:xfrm>
          <a:prstGeom prst="rect">
            <a:avLst/>
          </a:prstGeom>
          <a:noFill/>
        </p:spPr>
        <p:txBody>
          <a:bodyPr wrap="square" anchor="t">
            <a:spAutoFit/>
          </a:bodyPr>
          <a:lstStyle/>
          <a:p>
            <a:pPr marL="228600" indent="-201168" algn="l">
              <a:spcAft>
                <a:spcPts val="600"/>
              </a:spcAft>
              <a:buClr>
                <a:srgbClr val="8E1B1B"/>
              </a:buClr>
              <a:buFont typeface="Arial"/>
              <a:buChar char="•"/>
            </a:pPr>
            <a:r>
              <a:rPr sz="1500" b="1" i="0">
                <a:solidFill>
                  <a:srgbClr val="262626"/>
                </a:solidFill>
                <a:latin typeface="Calibri"/>
              </a:rPr>
              <a:t>Entrenar</a:t>
            </a:r>
            <a:r>
              <a:rPr sz="1500" b="0" i="0">
                <a:solidFill>
                  <a:srgbClr val="262626"/>
                </a:solidFill>
                <a:latin typeface="Calibri"/>
              </a:rPr>
              <a:t> = mostrarle miles de imágenes con su respuesta correcta hasta que acierte.</a:t>
            </a:r>
          </a:p>
          <a:p>
            <a:pPr marL="228600" indent="-201168" algn="l">
              <a:spcAft>
                <a:spcPts val="600"/>
              </a:spcAft>
              <a:buClr>
                <a:srgbClr val="8E1B1B"/>
              </a:buClr>
              <a:buFont typeface="Arial"/>
              <a:buChar char="•"/>
            </a:pPr>
            <a:r>
              <a:rPr sz="1500" b="1" i="0">
                <a:solidFill>
                  <a:srgbClr val="262626"/>
                </a:solidFill>
                <a:latin typeface="Calibri"/>
              </a:rPr>
              <a:t>Inferir</a:t>
            </a:r>
            <a:r>
              <a:rPr sz="1500" b="0" i="0">
                <a:solidFill>
                  <a:srgbClr val="262626"/>
                </a:solidFill>
                <a:latin typeface="Calibri"/>
              </a:rPr>
              <a:t> = usar el modelo ya entrenado con imágenes nuevas. Es lo que haremos en sus computadores.</a:t>
            </a:r>
          </a:p>
        </p:txBody>
      </p:sp>
      <p:sp>
        <p:nvSpPr>
          <p:cNvPr id="26" name="Rounded Rectangle 25"/>
          <p:cNvSpPr/>
          <p:nvPr/>
        </p:nvSpPr>
        <p:spPr>
          <a:xfrm>
            <a:off x="457200" y="5532120"/>
            <a:ext cx="8229600" cy="731520"/>
          </a:xfrm>
          <a:prstGeom prst="roundRect">
            <a:avLst>
              <a:gd name="adj" fmla="val 6000"/>
            </a:avLst>
          </a:prstGeom>
          <a:solidFill>
            <a:srgbClr val="F6F6F6"/>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594360" y="5623560"/>
            <a:ext cx="548640" cy="548640"/>
          </a:xfrm>
          <a:prstGeom prst="ellipse">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chool_r.png"/>
          <p:cNvPicPr>
            <a:picLocks noChangeAspect="1"/>
          </p:cNvPicPr>
          <p:nvPr/>
        </p:nvPicPr>
        <p:blipFill>
          <a:blip r:embed="rId8"/>
          <a:stretch>
            <a:fillRect/>
          </a:stretch>
        </p:blipFill>
        <p:spPr>
          <a:xfrm>
            <a:off x="715060" y="5744260"/>
            <a:ext cx="307238" cy="307238"/>
          </a:xfrm>
          <a:prstGeom prst="rect">
            <a:avLst/>
          </a:prstGeom>
        </p:spPr>
      </p:pic>
      <p:sp>
        <p:nvSpPr>
          <p:cNvPr id="29" name="TextBox 28"/>
          <p:cNvSpPr txBox="1"/>
          <p:nvPr/>
        </p:nvSpPr>
        <p:spPr>
          <a:xfrm>
            <a:off x="1280160" y="5532120"/>
            <a:ext cx="7315200" cy="731520"/>
          </a:xfrm>
          <a:prstGeom prst="rect">
            <a:avLst/>
          </a:prstGeom>
          <a:noFill/>
        </p:spPr>
        <p:txBody>
          <a:bodyPr wrap="square" anchor="ctr">
            <a:spAutoFit/>
          </a:bodyPr>
          <a:lstStyle/>
          <a:p>
            <a:pPr algn="l">
              <a:spcAft>
                <a:spcPts val="600"/>
              </a:spcAft>
            </a:pPr>
            <a:r>
              <a:rPr sz="1400" b="0" i="0">
                <a:solidFill>
                  <a:srgbClr val="262626"/>
                </a:solidFill>
                <a:latin typeface="Calibri"/>
              </a:rPr>
              <a:t>Cómo se entrenan y ajustan estas redes lo verán en profundidad en </a:t>
            </a:r>
            <a:r>
              <a:rPr sz="1400" b="1" i="0">
                <a:solidFill>
                  <a:srgbClr val="262626"/>
                </a:solidFill>
                <a:latin typeface="Calibri"/>
              </a:rPr>
              <a:t>Minería de Datos</a:t>
            </a:r>
            <a:r>
              <a:rPr sz="1400" b="0" i="0">
                <a:solidFill>
                  <a:srgbClr val="262626"/>
                </a:solidFill>
                <a:latin typeface="Calibri"/>
              </a:rPr>
              <a:t>. Hoy las usamos como una herramienta.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Ejemplo: enseñarle a jugar piedra, papel o tijera</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16</a:t>
            </a:r>
          </a:p>
        </p:txBody>
      </p:sp>
      <p:sp>
        <p:nvSpPr>
          <p:cNvPr id="7" name="Oval 6"/>
          <p:cNvSpPr/>
          <p:nvPr/>
        </p:nvSpPr>
        <p:spPr>
          <a:xfrm>
            <a:off x="731520" y="1143000"/>
            <a:ext cx="868680" cy="8686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rock_w.png"/>
          <p:cNvPicPr>
            <a:picLocks noChangeAspect="1"/>
          </p:cNvPicPr>
          <p:nvPr/>
        </p:nvPicPr>
        <p:blipFill>
          <a:blip r:embed="rId5"/>
          <a:stretch>
            <a:fillRect/>
          </a:stretch>
        </p:blipFill>
        <p:spPr>
          <a:xfrm>
            <a:off x="922629" y="1334109"/>
            <a:ext cx="486460" cy="486460"/>
          </a:xfrm>
          <a:prstGeom prst="rect">
            <a:avLst/>
          </a:prstGeom>
        </p:spPr>
      </p:pic>
      <p:sp>
        <p:nvSpPr>
          <p:cNvPr id="9" name="TextBox 8"/>
          <p:cNvSpPr txBox="1"/>
          <p:nvPr/>
        </p:nvSpPr>
        <p:spPr>
          <a:xfrm>
            <a:off x="457200" y="2057400"/>
            <a:ext cx="1417320" cy="365760"/>
          </a:xfrm>
          <a:prstGeom prst="rect">
            <a:avLst/>
          </a:prstGeom>
          <a:noFill/>
        </p:spPr>
        <p:txBody>
          <a:bodyPr wrap="square" anchor="t">
            <a:spAutoFit/>
          </a:bodyPr>
          <a:lstStyle/>
          <a:p>
            <a:pPr algn="ctr">
              <a:spcAft>
                <a:spcPts val="600"/>
              </a:spcAft>
            </a:pPr>
            <a:r>
              <a:rPr sz="1400" b="1" i="0">
                <a:solidFill>
                  <a:srgbClr val="262626"/>
                </a:solidFill>
                <a:latin typeface="Calibri"/>
              </a:rPr>
              <a:t>Piedra</a:t>
            </a:r>
          </a:p>
        </p:txBody>
      </p:sp>
      <p:sp>
        <p:nvSpPr>
          <p:cNvPr id="10" name="Oval 9"/>
          <p:cNvSpPr/>
          <p:nvPr/>
        </p:nvSpPr>
        <p:spPr>
          <a:xfrm>
            <a:off x="2148840" y="1143000"/>
            <a:ext cx="868680" cy="8686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paper_w.png"/>
          <p:cNvPicPr>
            <a:picLocks noChangeAspect="1"/>
          </p:cNvPicPr>
          <p:nvPr/>
        </p:nvPicPr>
        <p:blipFill>
          <a:blip r:embed="rId6"/>
          <a:stretch>
            <a:fillRect/>
          </a:stretch>
        </p:blipFill>
        <p:spPr>
          <a:xfrm>
            <a:off x="2339949" y="1334109"/>
            <a:ext cx="486460" cy="486460"/>
          </a:xfrm>
          <a:prstGeom prst="rect">
            <a:avLst/>
          </a:prstGeom>
        </p:spPr>
      </p:pic>
      <p:sp>
        <p:nvSpPr>
          <p:cNvPr id="12" name="TextBox 11"/>
          <p:cNvSpPr txBox="1"/>
          <p:nvPr/>
        </p:nvSpPr>
        <p:spPr>
          <a:xfrm>
            <a:off x="1874520" y="2057400"/>
            <a:ext cx="1417320" cy="365760"/>
          </a:xfrm>
          <a:prstGeom prst="rect">
            <a:avLst/>
          </a:prstGeom>
          <a:noFill/>
        </p:spPr>
        <p:txBody>
          <a:bodyPr wrap="square" anchor="t">
            <a:spAutoFit/>
          </a:bodyPr>
          <a:lstStyle/>
          <a:p>
            <a:pPr algn="ctr">
              <a:spcAft>
                <a:spcPts val="600"/>
              </a:spcAft>
            </a:pPr>
            <a:r>
              <a:rPr sz="1400" b="1" i="0">
                <a:solidFill>
                  <a:srgbClr val="262626"/>
                </a:solidFill>
                <a:latin typeface="Calibri"/>
              </a:rPr>
              <a:t>Papel</a:t>
            </a:r>
          </a:p>
        </p:txBody>
      </p:sp>
      <p:sp>
        <p:nvSpPr>
          <p:cNvPr id="13" name="Oval 12"/>
          <p:cNvSpPr/>
          <p:nvPr/>
        </p:nvSpPr>
        <p:spPr>
          <a:xfrm>
            <a:off x="3566160" y="1143000"/>
            <a:ext cx="868680" cy="8686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cissors_w.png"/>
          <p:cNvPicPr>
            <a:picLocks noChangeAspect="1"/>
          </p:cNvPicPr>
          <p:nvPr/>
        </p:nvPicPr>
        <p:blipFill>
          <a:blip r:embed="rId7"/>
          <a:stretch>
            <a:fillRect/>
          </a:stretch>
        </p:blipFill>
        <p:spPr>
          <a:xfrm>
            <a:off x="3757269" y="1334109"/>
            <a:ext cx="486460" cy="486460"/>
          </a:xfrm>
          <a:prstGeom prst="rect">
            <a:avLst/>
          </a:prstGeom>
        </p:spPr>
      </p:pic>
      <p:sp>
        <p:nvSpPr>
          <p:cNvPr id="15" name="TextBox 14"/>
          <p:cNvSpPr txBox="1"/>
          <p:nvPr/>
        </p:nvSpPr>
        <p:spPr>
          <a:xfrm>
            <a:off x="3291840" y="2057400"/>
            <a:ext cx="1417320" cy="365760"/>
          </a:xfrm>
          <a:prstGeom prst="rect">
            <a:avLst/>
          </a:prstGeom>
          <a:noFill/>
        </p:spPr>
        <p:txBody>
          <a:bodyPr wrap="square" anchor="t">
            <a:spAutoFit/>
          </a:bodyPr>
          <a:lstStyle/>
          <a:p>
            <a:pPr algn="ctr">
              <a:spcAft>
                <a:spcPts val="600"/>
              </a:spcAft>
            </a:pPr>
            <a:r>
              <a:rPr sz="1400" b="1" i="0">
                <a:solidFill>
                  <a:srgbClr val="262626"/>
                </a:solidFill>
                <a:latin typeface="Calibri"/>
              </a:rPr>
              <a:t>Tijera</a:t>
            </a:r>
          </a:p>
        </p:txBody>
      </p:sp>
      <p:sp>
        <p:nvSpPr>
          <p:cNvPr id="16" name="TextBox 15"/>
          <p:cNvSpPr txBox="1"/>
          <p:nvPr/>
        </p:nvSpPr>
        <p:spPr>
          <a:xfrm>
            <a:off x="5120640" y="1097280"/>
            <a:ext cx="3566160" cy="1371600"/>
          </a:xfrm>
          <a:prstGeom prst="rect">
            <a:avLst/>
          </a:prstGeom>
          <a:noFill/>
        </p:spPr>
        <p:txBody>
          <a:bodyPr wrap="square" anchor="ctr">
            <a:spAutoFit/>
          </a:bodyPr>
          <a:lstStyle/>
          <a:p>
            <a:pPr algn="l">
              <a:spcAft>
                <a:spcPts val="600"/>
              </a:spcAft>
            </a:pPr>
            <a:r>
              <a:rPr sz="1500" b="0" i="0">
                <a:solidFill>
                  <a:srgbClr val="262626"/>
                </a:solidFill>
                <a:latin typeface="Calibri"/>
              </a:rPr>
              <a:t>No le escribimos reglas del tipo «si hay 5 dedos estirados es papel». Le mostramos </a:t>
            </a:r>
            <a:r>
              <a:rPr sz="1500" b="1" i="0">
                <a:solidFill>
                  <a:srgbClr val="262626"/>
                </a:solidFill>
                <a:latin typeface="Calibri"/>
              </a:rPr>
              <a:t>ejemplos</a:t>
            </a:r>
            <a:r>
              <a:rPr sz="1500" b="0" i="0">
                <a:solidFill>
                  <a:srgbClr val="262626"/>
                </a:solidFill>
                <a:latin typeface="Calibri"/>
              </a:rPr>
              <a:t> y el modelo encuentra el patrón.</a:t>
            </a:r>
          </a:p>
        </p:txBody>
      </p:sp>
      <p:sp>
        <p:nvSpPr>
          <p:cNvPr id="17" name="Rounded Rectangle 16"/>
          <p:cNvSpPr/>
          <p:nvPr/>
        </p:nvSpPr>
        <p:spPr>
          <a:xfrm>
            <a:off x="457200" y="2697480"/>
            <a:ext cx="1920240" cy="21031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097280" y="283464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photo_w.png"/>
          <p:cNvPicPr>
            <a:picLocks noChangeAspect="1"/>
          </p:cNvPicPr>
          <p:nvPr/>
        </p:nvPicPr>
        <p:blipFill>
          <a:blip r:embed="rId8"/>
          <a:stretch>
            <a:fillRect/>
          </a:stretch>
        </p:blipFill>
        <p:spPr>
          <a:xfrm>
            <a:off x="1238097" y="2975457"/>
            <a:ext cx="358444" cy="358444"/>
          </a:xfrm>
          <a:prstGeom prst="rect">
            <a:avLst/>
          </a:prstGeom>
        </p:spPr>
      </p:pic>
      <p:sp>
        <p:nvSpPr>
          <p:cNvPr id="20" name="TextBox 19"/>
          <p:cNvSpPr txBox="1"/>
          <p:nvPr/>
        </p:nvSpPr>
        <p:spPr>
          <a:xfrm>
            <a:off x="548640" y="3520440"/>
            <a:ext cx="1737360" cy="365760"/>
          </a:xfrm>
          <a:prstGeom prst="rect">
            <a:avLst/>
          </a:prstGeom>
          <a:noFill/>
        </p:spPr>
        <p:txBody>
          <a:bodyPr wrap="square" anchor="t">
            <a:spAutoFit/>
          </a:bodyPr>
          <a:lstStyle/>
          <a:p>
            <a:pPr algn="ctr">
              <a:spcAft>
                <a:spcPts val="600"/>
              </a:spcAft>
            </a:pPr>
            <a:r>
              <a:rPr sz="1400" b="1" i="0">
                <a:solidFill>
                  <a:srgbClr val="8E1B1B"/>
                </a:solidFill>
                <a:latin typeface="Calibri"/>
              </a:rPr>
              <a:t>1 · Recolectar</a:t>
            </a:r>
          </a:p>
        </p:txBody>
      </p:sp>
      <p:sp>
        <p:nvSpPr>
          <p:cNvPr id="21" name="TextBox 20"/>
          <p:cNvSpPr txBox="1"/>
          <p:nvPr/>
        </p:nvSpPr>
        <p:spPr>
          <a:xfrm>
            <a:off x="566928" y="3886200"/>
            <a:ext cx="1700784" cy="914400"/>
          </a:xfrm>
          <a:prstGeom prst="rect">
            <a:avLst/>
          </a:prstGeom>
          <a:noFill/>
        </p:spPr>
        <p:txBody>
          <a:bodyPr wrap="square" anchor="t">
            <a:spAutoFit/>
          </a:bodyPr>
          <a:lstStyle/>
          <a:p>
            <a:pPr algn="ctr">
              <a:spcAft>
                <a:spcPts val="600"/>
              </a:spcAft>
            </a:pPr>
            <a:r>
              <a:rPr sz="1200" b="0" i="0">
                <a:solidFill>
                  <a:srgbClr val="262626"/>
                </a:solidFill>
                <a:latin typeface="Calibri"/>
              </a:rPr>
              <a:t>Cientos de fotos de cada gesto: distintas manos, luces y fondos.</a:t>
            </a:r>
          </a:p>
        </p:txBody>
      </p:sp>
      <p:sp>
        <p:nvSpPr>
          <p:cNvPr id="22" name="Right Arrow 21"/>
          <p:cNvSpPr/>
          <p:nvPr/>
        </p:nvSpPr>
        <p:spPr>
          <a:xfrm>
            <a:off x="2386584" y="3611880"/>
            <a:ext cx="164592" cy="228600"/>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560320" y="2697480"/>
            <a:ext cx="1920240" cy="21031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3200400" y="283464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label_w.png"/>
          <p:cNvPicPr>
            <a:picLocks noChangeAspect="1"/>
          </p:cNvPicPr>
          <p:nvPr/>
        </p:nvPicPr>
        <p:blipFill>
          <a:blip r:embed="rId9"/>
          <a:stretch>
            <a:fillRect/>
          </a:stretch>
        </p:blipFill>
        <p:spPr>
          <a:xfrm>
            <a:off x="3341217" y="2975457"/>
            <a:ext cx="358444" cy="358444"/>
          </a:xfrm>
          <a:prstGeom prst="rect">
            <a:avLst/>
          </a:prstGeom>
        </p:spPr>
      </p:pic>
      <p:sp>
        <p:nvSpPr>
          <p:cNvPr id="26" name="TextBox 25"/>
          <p:cNvSpPr txBox="1"/>
          <p:nvPr/>
        </p:nvSpPr>
        <p:spPr>
          <a:xfrm>
            <a:off x="2651760" y="3520440"/>
            <a:ext cx="1737360" cy="365760"/>
          </a:xfrm>
          <a:prstGeom prst="rect">
            <a:avLst/>
          </a:prstGeom>
          <a:noFill/>
        </p:spPr>
        <p:txBody>
          <a:bodyPr wrap="square" anchor="t">
            <a:spAutoFit/>
          </a:bodyPr>
          <a:lstStyle/>
          <a:p>
            <a:pPr algn="ctr">
              <a:spcAft>
                <a:spcPts val="600"/>
              </a:spcAft>
            </a:pPr>
            <a:r>
              <a:rPr sz="1400" b="1" i="0">
                <a:solidFill>
                  <a:srgbClr val="8E1B1B"/>
                </a:solidFill>
                <a:latin typeface="Calibri"/>
              </a:rPr>
              <a:t>2 · Etiquetar</a:t>
            </a:r>
          </a:p>
        </p:txBody>
      </p:sp>
      <p:sp>
        <p:nvSpPr>
          <p:cNvPr id="27" name="TextBox 26"/>
          <p:cNvSpPr txBox="1"/>
          <p:nvPr/>
        </p:nvSpPr>
        <p:spPr>
          <a:xfrm>
            <a:off x="2670048" y="3886200"/>
            <a:ext cx="1700784" cy="914400"/>
          </a:xfrm>
          <a:prstGeom prst="rect">
            <a:avLst/>
          </a:prstGeom>
          <a:noFill/>
        </p:spPr>
        <p:txBody>
          <a:bodyPr wrap="square" anchor="t">
            <a:spAutoFit/>
          </a:bodyPr>
          <a:lstStyle/>
          <a:p>
            <a:pPr algn="ctr">
              <a:spcAft>
                <a:spcPts val="600"/>
              </a:spcAft>
            </a:pPr>
            <a:r>
              <a:rPr sz="1200" b="0" i="0">
                <a:solidFill>
                  <a:srgbClr val="262626"/>
                </a:solidFill>
                <a:latin typeface="Calibri"/>
              </a:rPr>
              <a:t>Indicar cuál foto es piedra, cuál papel y cuál tijera.</a:t>
            </a:r>
          </a:p>
        </p:txBody>
      </p:sp>
      <p:sp>
        <p:nvSpPr>
          <p:cNvPr id="28" name="Right Arrow 27"/>
          <p:cNvSpPr/>
          <p:nvPr/>
        </p:nvSpPr>
        <p:spPr>
          <a:xfrm>
            <a:off x="4489704" y="3611880"/>
            <a:ext cx="164592" cy="228600"/>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663440" y="2697480"/>
            <a:ext cx="1920240" cy="21031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5303520" y="283464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model_w.png"/>
          <p:cNvPicPr>
            <a:picLocks noChangeAspect="1"/>
          </p:cNvPicPr>
          <p:nvPr/>
        </p:nvPicPr>
        <p:blipFill>
          <a:blip r:embed="rId10"/>
          <a:stretch>
            <a:fillRect/>
          </a:stretch>
        </p:blipFill>
        <p:spPr>
          <a:xfrm>
            <a:off x="5444337" y="2975457"/>
            <a:ext cx="358444" cy="358444"/>
          </a:xfrm>
          <a:prstGeom prst="rect">
            <a:avLst/>
          </a:prstGeom>
        </p:spPr>
      </p:pic>
      <p:sp>
        <p:nvSpPr>
          <p:cNvPr id="32" name="TextBox 31"/>
          <p:cNvSpPr txBox="1"/>
          <p:nvPr/>
        </p:nvSpPr>
        <p:spPr>
          <a:xfrm>
            <a:off x="4754879" y="3520440"/>
            <a:ext cx="1737360" cy="365760"/>
          </a:xfrm>
          <a:prstGeom prst="rect">
            <a:avLst/>
          </a:prstGeom>
          <a:noFill/>
        </p:spPr>
        <p:txBody>
          <a:bodyPr wrap="square" anchor="t">
            <a:spAutoFit/>
          </a:bodyPr>
          <a:lstStyle/>
          <a:p>
            <a:pPr algn="ctr">
              <a:spcAft>
                <a:spcPts val="600"/>
              </a:spcAft>
            </a:pPr>
            <a:r>
              <a:rPr sz="1400" b="1" i="0">
                <a:solidFill>
                  <a:srgbClr val="8E1B1B"/>
                </a:solidFill>
                <a:latin typeface="Calibri"/>
              </a:rPr>
              <a:t>3 · Entrenar</a:t>
            </a:r>
          </a:p>
        </p:txBody>
      </p:sp>
      <p:sp>
        <p:nvSpPr>
          <p:cNvPr id="33" name="TextBox 32"/>
          <p:cNvSpPr txBox="1"/>
          <p:nvPr/>
        </p:nvSpPr>
        <p:spPr>
          <a:xfrm>
            <a:off x="4773168" y="3886200"/>
            <a:ext cx="1700784" cy="914400"/>
          </a:xfrm>
          <a:prstGeom prst="rect">
            <a:avLst/>
          </a:prstGeom>
          <a:noFill/>
        </p:spPr>
        <p:txBody>
          <a:bodyPr wrap="square" anchor="t">
            <a:spAutoFit/>
          </a:bodyPr>
          <a:lstStyle/>
          <a:p>
            <a:pPr algn="ctr">
              <a:spcAft>
                <a:spcPts val="600"/>
              </a:spcAft>
            </a:pPr>
            <a:r>
              <a:rPr sz="1200" b="0" i="0">
                <a:solidFill>
                  <a:srgbClr val="262626"/>
                </a:solidFill>
                <a:latin typeface="Calibri"/>
              </a:rPr>
              <a:t>El modelo ajusta sus números hasta acertar en los ejemplos.</a:t>
            </a:r>
          </a:p>
        </p:txBody>
      </p:sp>
      <p:sp>
        <p:nvSpPr>
          <p:cNvPr id="34" name="Right Arrow 33"/>
          <p:cNvSpPr/>
          <p:nvPr/>
        </p:nvSpPr>
        <p:spPr>
          <a:xfrm>
            <a:off x="6592823" y="3611880"/>
            <a:ext cx="164592" cy="228600"/>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766559" y="2697480"/>
            <a:ext cx="1920240" cy="210312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7406640" y="283464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eye_w.png"/>
          <p:cNvPicPr>
            <a:picLocks noChangeAspect="1"/>
          </p:cNvPicPr>
          <p:nvPr/>
        </p:nvPicPr>
        <p:blipFill>
          <a:blip r:embed="rId11"/>
          <a:stretch>
            <a:fillRect/>
          </a:stretch>
        </p:blipFill>
        <p:spPr>
          <a:xfrm>
            <a:off x="7547457" y="2975457"/>
            <a:ext cx="358444" cy="358444"/>
          </a:xfrm>
          <a:prstGeom prst="rect">
            <a:avLst/>
          </a:prstGeom>
        </p:spPr>
      </p:pic>
      <p:sp>
        <p:nvSpPr>
          <p:cNvPr id="38" name="TextBox 37"/>
          <p:cNvSpPr txBox="1"/>
          <p:nvPr/>
        </p:nvSpPr>
        <p:spPr>
          <a:xfrm>
            <a:off x="6857999" y="3520440"/>
            <a:ext cx="1737360" cy="365760"/>
          </a:xfrm>
          <a:prstGeom prst="rect">
            <a:avLst/>
          </a:prstGeom>
          <a:noFill/>
        </p:spPr>
        <p:txBody>
          <a:bodyPr wrap="square" anchor="t">
            <a:spAutoFit/>
          </a:bodyPr>
          <a:lstStyle/>
          <a:p>
            <a:pPr algn="ctr">
              <a:spcAft>
                <a:spcPts val="600"/>
              </a:spcAft>
            </a:pPr>
            <a:r>
              <a:rPr sz="1400" b="1" i="0">
                <a:solidFill>
                  <a:srgbClr val="8E1B1B"/>
                </a:solidFill>
                <a:latin typeface="Calibri"/>
              </a:rPr>
              <a:t>4 · Predecir</a:t>
            </a:r>
          </a:p>
        </p:txBody>
      </p:sp>
      <p:sp>
        <p:nvSpPr>
          <p:cNvPr id="39" name="TextBox 38"/>
          <p:cNvSpPr txBox="1"/>
          <p:nvPr/>
        </p:nvSpPr>
        <p:spPr>
          <a:xfrm>
            <a:off x="6876288" y="3886200"/>
            <a:ext cx="1700784" cy="914400"/>
          </a:xfrm>
          <a:prstGeom prst="rect">
            <a:avLst/>
          </a:prstGeom>
          <a:noFill/>
        </p:spPr>
        <p:txBody>
          <a:bodyPr wrap="square" anchor="t">
            <a:spAutoFit/>
          </a:bodyPr>
          <a:lstStyle/>
          <a:p>
            <a:pPr algn="ctr">
              <a:spcAft>
                <a:spcPts val="600"/>
              </a:spcAft>
            </a:pPr>
            <a:r>
              <a:rPr sz="1200" b="0" i="0">
                <a:solidFill>
                  <a:srgbClr val="262626"/>
                </a:solidFill>
                <a:latin typeface="Calibri"/>
              </a:rPr>
              <a:t>Cámara → modelo → «tijera, 92 %». Luego un robot o un juego responde.</a:t>
            </a:r>
          </a:p>
        </p:txBody>
      </p:sp>
      <p:sp>
        <p:nvSpPr>
          <p:cNvPr id="40" name="Rounded Rectangle 39"/>
          <p:cNvSpPr/>
          <p:nvPr/>
        </p:nvSpPr>
        <p:spPr>
          <a:xfrm>
            <a:off x="457200" y="5029200"/>
            <a:ext cx="8229600" cy="10058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85800" y="5029200"/>
            <a:ext cx="7772400" cy="1005840"/>
          </a:xfrm>
          <a:prstGeom prst="rect">
            <a:avLst/>
          </a:prstGeom>
          <a:noFill/>
        </p:spPr>
        <p:txBody>
          <a:bodyPr wrap="square" anchor="ctr">
            <a:spAutoFit/>
          </a:bodyPr>
          <a:lstStyle/>
          <a:p>
            <a:pPr algn="l">
              <a:spcAft>
                <a:spcPts val="600"/>
              </a:spcAft>
            </a:pPr>
            <a:r>
              <a:rPr sz="1500" b="1" i="0">
                <a:solidFill>
                  <a:srgbClr val="262626"/>
                </a:solidFill>
                <a:latin typeface="Calibri"/>
              </a:rPr>
              <a:t>Para nosotros</a:t>
            </a:r>
            <a:r>
              <a:rPr sz="1500" b="0" i="0">
                <a:solidFill>
                  <a:srgbClr val="262626"/>
                </a:solidFill>
                <a:latin typeface="Calibri"/>
              </a:rPr>
              <a:t> es una mano abierta. </a:t>
            </a:r>
            <a:r>
              <a:rPr sz="1500" b="1" i="0">
                <a:solidFill>
                  <a:srgbClr val="262626"/>
                </a:solidFill>
                <a:latin typeface="Calibri"/>
              </a:rPr>
              <a:t>Para el modelo</a:t>
            </a:r>
            <a:r>
              <a:rPr sz="1500" b="0" i="0">
                <a:solidFill>
                  <a:srgbClr val="262626"/>
                </a:solidFill>
                <a:latin typeface="Calibri"/>
              </a:rPr>
              <a:t> es una tabla de números con un patrón. Si le muestras algo muy distinto a sus ejemplos (otra luz, otro fondo), se equivoca.</a:t>
            </a:r>
          </a:p>
        </p:txBody>
      </p:sp>
      <p:sp>
        <p:nvSpPr>
          <p:cNvPr id="42" name="TextBox 41"/>
          <p:cNvSpPr txBox="1"/>
          <p:nvPr/>
        </p:nvSpPr>
        <p:spPr>
          <a:xfrm>
            <a:off x="457200" y="6126480"/>
            <a:ext cx="8229600" cy="320040"/>
          </a:xfrm>
          <a:prstGeom prst="rect">
            <a:avLst/>
          </a:prstGeom>
          <a:noFill/>
        </p:spPr>
        <p:txBody>
          <a:bodyPr wrap="square" anchor="t">
            <a:spAutoFit/>
          </a:bodyPr>
          <a:lstStyle/>
          <a:p>
            <a:pPr algn="l">
              <a:spcAft>
                <a:spcPts val="600"/>
              </a:spcAft>
            </a:pPr>
            <a:r>
              <a:rPr sz="1200" b="0" i="1">
                <a:solidFill>
                  <a:srgbClr val="707070"/>
                </a:solidFill>
                <a:latin typeface="Calibri"/>
              </a:rPr>
              <a:t>La misma idea sirve para detectar componentes, plagas o cascos. Cómo se entrena por dentro: Minería de Datos.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8E1B1B"/>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548640" y="2743200"/>
            <a:ext cx="822960" cy="768096"/>
          </a:xfrm>
          <a:prstGeom prst="rect">
            <a:avLst/>
          </a:prstGeom>
        </p:spPr>
      </p:pic>
      <p:sp>
        <p:nvSpPr>
          <p:cNvPr id="4" name="TextBox 3"/>
          <p:cNvSpPr txBox="1"/>
          <p:nvPr/>
        </p:nvSpPr>
        <p:spPr>
          <a:xfrm>
            <a:off x="548640" y="3611880"/>
            <a:ext cx="8046720" cy="411480"/>
          </a:xfrm>
          <a:prstGeom prst="rect">
            <a:avLst/>
          </a:prstGeom>
          <a:noFill/>
        </p:spPr>
        <p:txBody>
          <a:bodyPr wrap="square" lIns="0" tIns="0" rIns="0" bIns="0" anchor="t">
            <a:spAutoFit/>
          </a:bodyPr>
          <a:lstStyle/>
          <a:p>
            <a:pPr algn="l">
              <a:spcAft>
                <a:spcPts val="600"/>
              </a:spcAft>
            </a:pPr>
            <a:r>
              <a:rPr sz="1400" b="1" i="0">
                <a:solidFill>
                  <a:srgbClr val="F2D6D6"/>
                </a:solidFill>
                <a:latin typeface="Calibri"/>
              </a:rPr>
              <a:t>PARTE 2</a:t>
            </a:r>
          </a:p>
        </p:txBody>
      </p:sp>
      <p:sp>
        <p:nvSpPr>
          <p:cNvPr id="5" name="TextBox 4"/>
          <p:cNvSpPr txBox="1"/>
          <p:nvPr/>
        </p:nvSpPr>
        <p:spPr>
          <a:xfrm>
            <a:off x="548640" y="3977639"/>
            <a:ext cx="8046720" cy="914400"/>
          </a:xfrm>
          <a:prstGeom prst="rect">
            <a:avLst/>
          </a:prstGeom>
          <a:noFill/>
        </p:spPr>
        <p:txBody>
          <a:bodyPr wrap="square" lIns="0" tIns="0" rIns="0" bIns="0" anchor="t">
            <a:spAutoFit/>
          </a:bodyPr>
          <a:lstStyle/>
          <a:p>
            <a:pPr algn="l">
              <a:spcAft>
                <a:spcPts val="600"/>
              </a:spcAft>
            </a:pPr>
            <a:r>
              <a:rPr sz="3400" b="1" i="0">
                <a:solidFill>
                  <a:srgbClr val="FFFFFF"/>
                </a:solidFill>
                <a:latin typeface="Calibri"/>
              </a:rPr>
              <a:t>OCR: enseñarle a leer a una máquina</a:t>
            </a:r>
          </a:p>
        </p:txBody>
      </p:sp>
      <p:sp>
        <p:nvSpPr>
          <p:cNvPr id="6" name="TextBox 5"/>
          <p:cNvSpPr txBox="1"/>
          <p:nvPr/>
        </p:nvSpPr>
        <p:spPr>
          <a:xfrm>
            <a:off x="548640" y="4892040"/>
            <a:ext cx="8046720" cy="731520"/>
          </a:xfrm>
          <a:prstGeom prst="rect">
            <a:avLst/>
          </a:prstGeom>
          <a:noFill/>
        </p:spPr>
        <p:txBody>
          <a:bodyPr wrap="square" lIns="0" tIns="0" rIns="0" bIns="0" anchor="t">
            <a:spAutoFit/>
          </a:bodyPr>
          <a:lstStyle/>
          <a:p>
            <a:pPr algn="l">
              <a:spcAft>
                <a:spcPts val="600"/>
              </a:spcAft>
            </a:pPr>
            <a:r>
              <a:rPr sz="1600" b="0" i="1">
                <a:solidFill>
                  <a:srgbClr val="F2D6D6"/>
                </a:solidFill>
                <a:latin typeface="Calibri"/>
              </a:rPr>
              <a:t>Optical Character Recognition — reconocimiento óptico de caracteres</a:t>
            </a:r>
          </a:p>
        </p:txBody>
      </p:sp>
      <p:sp>
        <p:nvSpPr>
          <p:cNvPr id="7" name="TextBox 6"/>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E8C9C9"/>
                </a:solidFill>
                <a:latin typeface="Calibri"/>
              </a:rPr>
              <a:t>Tecnologías Disruptivas  ·  Escuela de Informática  ·  Universidad Andrés Bello</a:t>
            </a:r>
          </a:p>
        </p:txBody>
      </p:sp>
      <p:sp>
        <p:nvSpPr>
          <p:cNvPr id="8" name="TextBox 7"/>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E8C9C9"/>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¿Cómo funciona el OCR?</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18</a:t>
            </a:r>
          </a:p>
        </p:txBody>
      </p:sp>
      <p:sp>
        <p:nvSpPr>
          <p:cNvPr id="7" name="Oval 6"/>
          <p:cNvSpPr/>
          <p:nvPr/>
        </p:nvSpPr>
        <p:spPr>
          <a:xfrm>
            <a:off x="822960" y="114300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_w.png"/>
          <p:cNvPicPr>
            <a:picLocks noChangeAspect="1"/>
          </p:cNvPicPr>
          <p:nvPr/>
        </p:nvPicPr>
        <p:blipFill>
          <a:blip r:embed="rId5"/>
          <a:stretch>
            <a:fillRect/>
          </a:stretch>
        </p:blipFill>
        <p:spPr>
          <a:xfrm>
            <a:off x="953719" y="1273759"/>
            <a:ext cx="332841" cy="332841"/>
          </a:xfrm>
          <a:prstGeom prst="rect">
            <a:avLst/>
          </a:prstGeom>
        </p:spPr>
      </p:pic>
      <p:sp>
        <p:nvSpPr>
          <p:cNvPr id="9" name="TextBox 8"/>
          <p:cNvSpPr txBox="1"/>
          <p:nvPr/>
        </p:nvSpPr>
        <p:spPr>
          <a:xfrm>
            <a:off x="411480" y="1783080"/>
            <a:ext cx="1417320" cy="365760"/>
          </a:xfrm>
          <a:prstGeom prst="rect">
            <a:avLst/>
          </a:prstGeom>
          <a:noFill/>
        </p:spPr>
        <p:txBody>
          <a:bodyPr wrap="square" anchor="t">
            <a:spAutoFit/>
          </a:bodyPr>
          <a:lstStyle/>
          <a:p>
            <a:pPr algn="ctr">
              <a:spcAft>
                <a:spcPts val="600"/>
              </a:spcAft>
            </a:pPr>
            <a:r>
              <a:rPr sz="1400" b="1" i="0">
                <a:solidFill>
                  <a:srgbClr val="262626"/>
                </a:solidFill>
                <a:latin typeface="Calibri"/>
              </a:rPr>
              <a:t>Imagen</a:t>
            </a:r>
          </a:p>
        </p:txBody>
      </p:sp>
      <p:sp>
        <p:nvSpPr>
          <p:cNvPr id="10" name="Right Arrow 9"/>
          <p:cNvSpPr/>
          <p:nvPr/>
        </p:nvSpPr>
        <p:spPr>
          <a:xfrm>
            <a:off x="1600200" y="1325880"/>
            <a:ext cx="365760" cy="228600"/>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514600" y="1143000"/>
            <a:ext cx="594360" cy="594360"/>
          </a:xfrm>
          <a:prstGeom prst="ellipse">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tune_w.png"/>
          <p:cNvPicPr>
            <a:picLocks noChangeAspect="1"/>
          </p:cNvPicPr>
          <p:nvPr/>
        </p:nvPicPr>
        <p:blipFill>
          <a:blip r:embed="rId6"/>
          <a:stretch>
            <a:fillRect/>
          </a:stretch>
        </p:blipFill>
        <p:spPr>
          <a:xfrm>
            <a:off x="2645359" y="1273759"/>
            <a:ext cx="332841" cy="332841"/>
          </a:xfrm>
          <a:prstGeom prst="rect">
            <a:avLst/>
          </a:prstGeom>
        </p:spPr>
      </p:pic>
      <p:sp>
        <p:nvSpPr>
          <p:cNvPr id="13" name="TextBox 12"/>
          <p:cNvSpPr txBox="1"/>
          <p:nvPr/>
        </p:nvSpPr>
        <p:spPr>
          <a:xfrm>
            <a:off x="2103120" y="1783080"/>
            <a:ext cx="1417320" cy="365760"/>
          </a:xfrm>
          <a:prstGeom prst="rect">
            <a:avLst/>
          </a:prstGeom>
          <a:noFill/>
        </p:spPr>
        <p:txBody>
          <a:bodyPr wrap="square" anchor="t">
            <a:spAutoFit/>
          </a:bodyPr>
          <a:lstStyle/>
          <a:p>
            <a:pPr algn="ctr">
              <a:spcAft>
                <a:spcPts val="600"/>
              </a:spcAft>
            </a:pPr>
            <a:r>
              <a:rPr sz="1400" b="1" i="0">
                <a:solidFill>
                  <a:srgbClr val="262626"/>
                </a:solidFill>
                <a:latin typeface="Calibri"/>
              </a:rPr>
              <a:t>Preprocesar</a:t>
            </a:r>
          </a:p>
        </p:txBody>
      </p:sp>
      <p:sp>
        <p:nvSpPr>
          <p:cNvPr id="14" name="Right Arrow 13"/>
          <p:cNvSpPr/>
          <p:nvPr/>
        </p:nvSpPr>
        <p:spPr>
          <a:xfrm>
            <a:off x="3291840" y="1325880"/>
            <a:ext cx="365760" cy="228600"/>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206240" y="1143000"/>
            <a:ext cx="594360" cy="594360"/>
          </a:xfrm>
          <a:prstGeom prst="ellipse">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grid_w.png"/>
          <p:cNvPicPr>
            <a:picLocks noChangeAspect="1"/>
          </p:cNvPicPr>
          <p:nvPr/>
        </p:nvPicPr>
        <p:blipFill>
          <a:blip r:embed="rId7"/>
          <a:stretch>
            <a:fillRect/>
          </a:stretch>
        </p:blipFill>
        <p:spPr>
          <a:xfrm>
            <a:off x="4336999" y="1273759"/>
            <a:ext cx="332841" cy="332841"/>
          </a:xfrm>
          <a:prstGeom prst="rect">
            <a:avLst/>
          </a:prstGeom>
        </p:spPr>
      </p:pic>
      <p:sp>
        <p:nvSpPr>
          <p:cNvPr id="17" name="TextBox 16"/>
          <p:cNvSpPr txBox="1"/>
          <p:nvPr/>
        </p:nvSpPr>
        <p:spPr>
          <a:xfrm>
            <a:off x="3794760" y="1783080"/>
            <a:ext cx="1417320" cy="365760"/>
          </a:xfrm>
          <a:prstGeom prst="rect">
            <a:avLst/>
          </a:prstGeom>
          <a:noFill/>
        </p:spPr>
        <p:txBody>
          <a:bodyPr wrap="square" anchor="t">
            <a:spAutoFit/>
          </a:bodyPr>
          <a:lstStyle/>
          <a:p>
            <a:pPr algn="ctr">
              <a:spcAft>
                <a:spcPts val="600"/>
              </a:spcAft>
            </a:pPr>
            <a:r>
              <a:rPr sz="1400" b="1" i="0">
                <a:solidFill>
                  <a:srgbClr val="262626"/>
                </a:solidFill>
                <a:latin typeface="Calibri"/>
              </a:rPr>
              <a:t>Ubicar texto</a:t>
            </a:r>
          </a:p>
        </p:txBody>
      </p:sp>
      <p:sp>
        <p:nvSpPr>
          <p:cNvPr id="18" name="Right Arrow 17"/>
          <p:cNvSpPr/>
          <p:nvPr/>
        </p:nvSpPr>
        <p:spPr>
          <a:xfrm>
            <a:off x="4983480" y="1325880"/>
            <a:ext cx="365760" cy="228600"/>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897880" y="1143000"/>
            <a:ext cx="594360" cy="594360"/>
          </a:xfrm>
          <a:prstGeom prst="ellipse">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text_w.png"/>
          <p:cNvPicPr>
            <a:picLocks noChangeAspect="1"/>
          </p:cNvPicPr>
          <p:nvPr/>
        </p:nvPicPr>
        <p:blipFill>
          <a:blip r:embed="rId8"/>
          <a:stretch>
            <a:fillRect/>
          </a:stretch>
        </p:blipFill>
        <p:spPr>
          <a:xfrm>
            <a:off x="6028639" y="1273759"/>
            <a:ext cx="332841" cy="332841"/>
          </a:xfrm>
          <a:prstGeom prst="rect">
            <a:avLst/>
          </a:prstGeom>
        </p:spPr>
      </p:pic>
      <p:sp>
        <p:nvSpPr>
          <p:cNvPr id="21" name="TextBox 20"/>
          <p:cNvSpPr txBox="1"/>
          <p:nvPr/>
        </p:nvSpPr>
        <p:spPr>
          <a:xfrm>
            <a:off x="5486400" y="1783080"/>
            <a:ext cx="1417320" cy="365760"/>
          </a:xfrm>
          <a:prstGeom prst="rect">
            <a:avLst/>
          </a:prstGeom>
          <a:noFill/>
        </p:spPr>
        <p:txBody>
          <a:bodyPr wrap="square" anchor="t">
            <a:spAutoFit/>
          </a:bodyPr>
          <a:lstStyle/>
          <a:p>
            <a:pPr algn="ctr">
              <a:spcAft>
                <a:spcPts val="600"/>
              </a:spcAft>
            </a:pPr>
            <a:r>
              <a:rPr sz="1400" b="1" i="0">
                <a:solidFill>
                  <a:srgbClr val="262626"/>
                </a:solidFill>
                <a:latin typeface="Calibri"/>
              </a:rPr>
              <a:t>Reconocer</a:t>
            </a:r>
          </a:p>
        </p:txBody>
      </p:sp>
      <p:sp>
        <p:nvSpPr>
          <p:cNvPr id="22" name="Right Arrow 21"/>
          <p:cNvSpPr/>
          <p:nvPr/>
        </p:nvSpPr>
        <p:spPr>
          <a:xfrm>
            <a:off x="6675120" y="1325880"/>
            <a:ext cx="365760" cy="228600"/>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589520" y="114300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oc_w.png"/>
          <p:cNvPicPr>
            <a:picLocks noChangeAspect="1"/>
          </p:cNvPicPr>
          <p:nvPr/>
        </p:nvPicPr>
        <p:blipFill>
          <a:blip r:embed="rId9"/>
          <a:stretch>
            <a:fillRect/>
          </a:stretch>
        </p:blipFill>
        <p:spPr>
          <a:xfrm>
            <a:off x="7720279" y="1273759"/>
            <a:ext cx="332841" cy="332841"/>
          </a:xfrm>
          <a:prstGeom prst="rect">
            <a:avLst/>
          </a:prstGeom>
        </p:spPr>
      </p:pic>
      <p:sp>
        <p:nvSpPr>
          <p:cNvPr id="25" name="TextBox 24"/>
          <p:cNvSpPr txBox="1"/>
          <p:nvPr/>
        </p:nvSpPr>
        <p:spPr>
          <a:xfrm>
            <a:off x="7178040" y="1783080"/>
            <a:ext cx="1417320" cy="365760"/>
          </a:xfrm>
          <a:prstGeom prst="rect">
            <a:avLst/>
          </a:prstGeom>
          <a:noFill/>
        </p:spPr>
        <p:txBody>
          <a:bodyPr wrap="square" anchor="t">
            <a:spAutoFit/>
          </a:bodyPr>
          <a:lstStyle/>
          <a:p>
            <a:pPr algn="ctr">
              <a:spcAft>
                <a:spcPts val="600"/>
              </a:spcAft>
            </a:pPr>
            <a:r>
              <a:rPr sz="1400" b="1" i="0">
                <a:solidFill>
                  <a:srgbClr val="262626"/>
                </a:solidFill>
                <a:latin typeface="Calibri"/>
              </a:rPr>
              <a:t>Texto</a:t>
            </a:r>
          </a:p>
        </p:txBody>
      </p:sp>
      <p:pic>
        <p:nvPicPr>
          <p:cNvPr id="26" name="Picture 25" descr="02_ocr.jpg"/>
          <p:cNvPicPr>
            <a:picLocks noChangeAspect="1"/>
          </p:cNvPicPr>
          <p:nvPr/>
        </p:nvPicPr>
        <p:blipFill>
          <a:blip r:embed="rId10"/>
          <a:stretch>
            <a:fillRect/>
          </a:stretch>
        </p:blipFill>
        <p:spPr>
          <a:xfrm>
            <a:off x="457200" y="2331720"/>
            <a:ext cx="4572000" cy="2641600"/>
          </a:xfrm>
          <a:prstGeom prst="rect">
            <a:avLst/>
          </a:prstGeom>
          <a:ln w="9525">
            <a:solidFill>
              <a:srgbClr val="BFBFBF"/>
            </a:solidFill>
          </a:ln>
        </p:spPr>
      </p:pic>
      <p:sp>
        <p:nvSpPr>
          <p:cNvPr id="27" name="Rounded Rectangle 26"/>
          <p:cNvSpPr/>
          <p:nvPr/>
        </p:nvSpPr>
        <p:spPr>
          <a:xfrm>
            <a:off x="5257800" y="2331720"/>
            <a:ext cx="3429000" cy="196596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394960" y="2386584"/>
            <a:ext cx="3154680"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salida de 03_ocr.py</a:t>
            </a:r>
          </a:p>
        </p:txBody>
      </p:sp>
      <p:sp>
        <p:nvSpPr>
          <p:cNvPr id="29" name="Codigo"/>
          <p:cNvSpPr txBox="1"/>
          <p:nvPr/>
        </p:nvSpPr>
        <p:spPr>
          <a:xfrm>
            <a:off x="5394960" y="2679191"/>
            <a:ext cx="3154680" cy="1581912"/>
          </a:xfrm>
          <a:prstGeom prst="rect">
            <a:avLst/>
          </a:prstGeom>
          <a:noFill/>
        </p:spPr>
        <p:txBody>
          <a:bodyPr wrap="square" lIns="0" tIns="0" rIns="0" bIns="0">
            <a:spAutoFit/>
          </a:bodyPr>
          <a:lstStyle/>
          <a:p>
            <a:pPr>
              <a:spcAft>
                <a:spcPts val="0"/>
              </a:spcAft>
            </a:pPr>
            <a:r>
              <a:rPr sz="1100">
                <a:solidFill>
                  <a:srgbClr val="E6E6E6"/>
                </a:solidFill>
                <a:latin typeface="Courier New"/>
              </a:rPr>
              <a:t>LABORATORIO DE INFORMATICA</a:t>
            </a:r>
          </a:p>
          <a:p>
            <a:pPr>
              <a:spcAft>
                <a:spcPts val="0"/>
              </a:spcAft>
            </a:pPr>
            <a:r>
              <a:rPr sz="1100">
                <a:solidFill>
                  <a:srgbClr val="E6E6E6"/>
                </a:solidFill>
                <a:latin typeface="Courier New"/>
              </a:rPr>
              <a:t>Equipo: RASPBERRY Pl 4</a:t>
            </a:r>
          </a:p>
          <a:p>
            <a:pPr>
              <a:spcAft>
                <a:spcPts val="0"/>
              </a:spcAft>
            </a:pPr>
            <a:r>
              <a:rPr sz="1100">
                <a:solidFill>
                  <a:srgbClr val="E6E6E6"/>
                </a:solidFill>
                <a:latin typeface="Courier New"/>
              </a:rPr>
              <a:t>Inventario: UNAB-2026-0417</a:t>
            </a:r>
          </a:p>
          <a:p>
            <a:pPr>
              <a:spcAft>
                <a:spcPts val="0"/>
              </a:spcAft>
            </a:pPr>
            <a:r>
              <a:rPr sz="1100">
                <a:solidFill>
                  <a:srgbClr val="E6E6E6"/>
                </a:solidFill>
                <a:latin typeface="Courier New"/>
              </a:rPr>
              <a:t>Sala: 3-B Estado: OPERATIVO</a:t>
            </a:r>
          </a:p>
          <a:p>
            <a:pPr>
              <a:spcAft>
                <a:spcPts val="0"/>
              </a:spcAft>
            </a:pPr>
            <a:r>
              <a:rPr sz="1100">
                <a:solidFill>
                  <a:srgbClr val="E6E6E6"/>
                </a:solidFill>
                <a:latin typeface="Courier New"/>
              </a:rPr>
              <a:t>Revisado el 19/10/2026</a:t>
            </a:r>
          </a:p>
        </p:txBody>
      </p:sp>
      <p:sp>
        <p:nvSpPr>
          <p:cNvPr id="30" name="TextBox 29"/>
          <p:cNvSpPr txBox="1"/>
          <p:nvPr/>
        </p:nvSpPr>
        <p:spPr>
          <a:xfrm>
            <a:off x="5257800" y="4389120"/>
            <a:ext cx="3429000" cy="1005840"/>
          </a:xfrm>
          <a:prstGeom prst="rect">
            <a:avLst/>
          </a:prstGeom>
          <a:noFill/>
        </p:spPr>
        <p:txBody>
          <a:bodyPr wrap="square" anchor="t">
            <a:spAutoFit/>
          </a:bodyPr>
          <a:lstStyle/>
          <a:p>
            <a:pPr algn="l">
              <a:spcAft>
                <a:spcPts val="600"/>
              </a:spcAft>
            </a:pPr>
            <a:r>
              <a:rPr sz="1300" b="0" i="0">
                <a:solidFill>
                  <a:srgbClr val="262626"/>
                </a:solidFill>
                <a:latin typeface="Calibri"/>
              </a:rPr>
              <a:t>¿Ves el error? Leyó </a:t>
            </a:r>
            <a:r>
              <a:rPr sz="1200" b="0" i="0">
                <a:solidFill>
                  <a:srgbClr val="8E1B1B"/>
                </a:solidFill>
                <a:latin typeface="Courier New"/>
              </a:rPr>
              <a:t>Pl</a:t>
            </a:r>
            <a:r>
              <a:rPr sz="1300" b="0" i="0">
                <a:solidFill>
                  <a:srgbClr val="262626"/>
                </a:solidFill>
                <a:latin typeface="Calibri"/>
              </a:rPr>
              <a:t> (con ele) en vez de </a:t>
            </a:r>
            <a:r>
              <a:rPr sz="1200" b="0" i="0">
                <a:solidFill>
                  <a:srgbClr val="8E1B1B"/>
                </a:solidFill>
                <a:latin typeface="Courier New"/>
              </a:rPr>
              <a:t>PI</a:t>
            </a:r>
            <a:r>
              <a:rPr sz="1300" b="0" i="0">
                <a:solidFill>
                  <a:srgbClr val="262626"/>
                </a:solidFill>
                <a:latin typeface="Calibri"/>
              </a:rPr>
              <a:t>: la I mayúscula y la l minúscula se parecen. Esa palabra tuvo </a:t>
            </a:r>
            <a:r>
              <a:rPr sz="1300" b="1" i="0">
                <a:solidFill>
                  <a:srgbClr val="262626"/>
                </a:solidFill>
                <a:latin typeface="Calibri"/>
              </a:rPr>
              <a:t>71 %</a:t>
            </a:r>
            <a:r>
              <a:rPr sz="1300" b="0" i="0">
                <a:solidFill>
                  <a:srgbClr val="262626"/>
                </a:solidFill>
                <a:latin typeface="Calibri"/>
              </a:rPr>
              <a:t> de confianza.</a:t>
            </a:r>
          </a:p>
        </p:txBody>
      </p:sp>
      <p:sp>
        <p:nvSpPr>
          <p:cNvPr id="31" name="Rounded Rectangle 30"/>
          <p:cNvSpPr/>
          <p:nvPr/>
        </p:nvSpPr>
        <p:spPr>
          <a:xfrm>
            <a:off x="457200" y="5440680"/>
            <a:ext cx="8229600" cy="7772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85800" y="5440680"/>
            <a:ext cx="7772400" cy="777240"/>
          </a:xfrm>
          <a:prstGeom prst="rect">
            <a:avLst/>
          </a:prstGeom>
          <a:noFill/>
        </p:spPr>
        <p:txBody>
          <a:bodyPr wrap="square" anchor="ctr">
            <a:spAutoFit/>
          </a:bodyPr>
          <a:lstStyle/>
          <a:p>
            <a:pPr algn="l">
              <a:spcAft>
                <a:spcPts val="600"/>
              </a:spcAft>
            </a:pPr>
            <a:r>
              <a:rPr sz="1500" b="1" i="0">
                <a:solidFill>
                  <a:srgbClr val="262626"/>
                </a:solidFill>
                <a:latin typeface="Calibri"/>
              </a:rPr>
              <a:t>Idea clave:</a:t>
            </a:r>
            <a:r>
              <a:rPr sz="1500" b="0" i="0">
                <a:solidFill>
                  <a:srgbClr val="262626"/>
                </a:solidFill>
                <a:latin typeface="Calibri"/>
              </a:rPr>
              <a:t> el OCR entrega texto </a:t>
            </a:r>
            <a:r>
              <a:rPr sz="1500" b="1" i="0">
                <a:solidFill>
                  <a:srgbClr val="262626"/>
                </a:solidFill>
                <a:latin typeface="Calibri"/>
              </a:rPr>
              <a:t>y</a:t>
            </a:r>
            <a:r>
              <a:rPr sz="1500" b="0" i="0">
                <a:solidFill>
                  <a:srgbClr val="262626"/>
                </a:solidFill>
                <a:latin typeface="Calibri"/>
              </a:rPr>
              <a:t> una confianza por palabra. Un buen sistema valida el resultado antes de usarlo.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Herramientas de OCR</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19</a:t>
            </a:r>
          </a:p>
        </p:txBody>
      </p:sp>
      <p:sp>
        <p:nvSpPr>
          <p:cNvPr id="7" name="TextBox 6"/>
          <p:cNvSpPr txBox="1"/>
          <p:nvPr/>
        </p:nvSpPr>
        <p:spPr>
          <a:xfrm>
            <a:off x="457200" y="1097280"/>
            <a:ext cx="8229600" cy="548640"/>
          </a:xfrm>
          <a:prstGeom prst="rect">
            <a:avLst/>
          </a:prstGeom>
          <a:noFill/>
        </p:spPr>
        <p:txBody>
          <a:bodyPr wrap="square" anchor="t">
            <a:spAutoFit/>
          </a:bodyPr>
          <a:lstStyle/>
          <a:p>
            <a:pPr algn="l">
              <a:spcAft>
                <a:spcPts val="600"/>
              </a:spcAft>
            </a:pPr>
            <a:r>
              <a:rPr sz="1600" b="0" i="0">
                <a:solidFill>
                  <a:srgbClr val="262626"/>
                </a:solidFill>
                <a:latin typeface="Calibri"/>
              </a:rPr>
              <a:t>Elegimos según dónde se ejecuta, qué tan difícil es la imagen y qué recursos tenemos.</a:t>
            </a:r>
          </a:p>
        </p:txBody>
      </p:sp>
      <p:graphicFrame>
        <p:nvGraphicFramePr>
          <p:cNvPr id="8" name="Table 7"/>
          <p:cNvGraphicFramePr>
            <a:graphicFrameLocks noGrp="1"/>
          </p:cNvGraphicFramePr>
          <p:nvPr/>
        </p:nvGraphicFramePr>
        <p:xfrm>
          <a:off x="457200" y="1783080"/>
          <a:ext cx="8229600" cy="28346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566928">
                <a:tc>
                  <a:txBody>
                    <a:bodyPr/>
                    <a:lstStyle/>
                    <a:p>
                      <a:r>
                        <a:rPr sz="1200" b="1" i="0">
                          <a:solidFill>
                            <a:srgbClr val="FFFFFF"/>
                          </a:solidFill>
                          <a:latin typeface="Calibri"/>
                        </a:rPr>
                        <a:t>Herramienta</a:t>
                      </a:r>
                    </a:p>
                  </a:txBody>
                  <a:tcPr marL="73152" marR="73152" marT="36576" marB="36576" anchor="ctr">
                    <a:solidFill>
                      <a:srgbClr val="8E1B1B"/>
                    </a:solidFill>
                  </a:tcPr>
                </a:tc>
                <a:tc>
                  <a:txBody>
                    <a:bodyPr/>
                    <a:lstStyle/>
                    <a:p>
                      <a:r>
                        <a:rPr sz="1200" b="1" i="0">
                          <a:solidFill>
                            <a:srgbClr val="FFFFFF"/>
                          </a:solidFill>
                          <a:latin typeface="Calibri"/>
                        </a:rPr>
                        <a:t>Tipo</a:t>
                      </a:r>
                    </a:p>
                  </a:txBody>
                  <a:tcPr marL="73152" marR="73152" marT="36576" marB="36576" anchor="ctr">
                    <a:solidFill>
                      <a:srgbClr val="8E1B1B"/>
                    </a:solidFill>
                  </a:tcPr>
                </a:tc>
                <a:tc>
                  <a:txBody>
                    <a:bodyPr/>
                    <a:lstStyle/>
                    <a:p>
                      <a:r>
                        <a:rPr sz="1200" b="1" i="0">
                          <a:solidFill>
                            <a:srgbClr val="FFFFFF"/>
                          </a:solidFill>
                          <a:latin typeface="Calibri"/>
                        </a:rPr>
                        <a:t>Ventajas</a:t>
                      </a:r>
                    </a:p>
                  </a:txBody>
                  <a:tcPr marL="73152" marR="73152" marT="36576" marB="36576" anchor="ctr">
                    <a:solidFill>
                      <a:srgbClr val="8E1B1B"/>
                    </a:solidFill>
                  </a:tcPr>
                </a:tc>
                <a:tc>
                  <a:txBody>
                    <a:bodyPr/>
                    <a:lstStyle/>
                    <a:p>
                      <a:r>
                        <a:rPr sz="1200" b="1" i="0">
                          <a:solidFill>
                            <a:srgbClr val="FFFFFF"/>
                          </a:solidFill>
                          <a:latin typeface="Calibri"/>
                        </a:rPr>
                        <a:t>En un equipo pequeño</a:t>
                      </a:r>
                    </a:p>
                  </a:txBody>
                  <a:tcPr marL="73152" marR="73152" marT="36576" marB="36576" anchor="ctr">
                    <a:solidFill>
                      <a:srgbClr val="8E1B1B"/>
                    </a:solidFill>
                  </a:tcPr>
                </a:tc>
                <a:extLst>
                  <a:ext uri="{0D108BD9-81ED-4DB2-BD59-A6C34878D82A}">
                    <a16:rowId xmlns:a16="http://schemas.microsoft.com/office/drawing/2014/main" val="10000"/>
                  </a:ext>
                </a:extLst>
              </a:tr>
              <a:tr h="566928">
                <a:tc>
                  <a:txBody>
                    <a:bodyPr/>
                    <a:lstStyle/>
                    <a:p>
                      <a:r>
                        <a:rPr sz="1200" b="1" i="0">
                          <a:solidFill>
                            <a:srgbClr val="262626"/>
                          </a:solidFill>
                          <a:latin typeface="Calibri"/>
                        </a:rPr>
                        <a:t>Tesseract</a:t>
                      </a:r>
                    </a:p>
                  </a:txBody>
                  <a:tcPr marL="73152" marR="73152" marT="36576" marB="36576" anchor="ctr">
                    <a:solidFill>
                      <a:srgbClr val="FFFFFF"/>
                    </a:solidFill>
                  </a:tcPr>
                </a:tc>
                <a:tc>
                  <a:txBody>
                    <a:bodyPr/>
                    <a:lstStyle/>
                    <a:p>
                      <a:r>
                        <a:rPr sz="1200" b="0" i="0">
                          <a:solidFill>
                            <a:srgbClr val="262626"/>
                          </a:solidFill>
                          <a:latin typeface="Calibri"/>
                        </a:rPr>
                        <a:t>Open source (red LSTM)</a:t>
                      </a:r>
                    </a:p>
                  </a:txBody>
                  <a:tcPr marL="73152" marR="73152" marT="36576" marB="36576" anchor="ctr">
                    <a:solidFill>
                      <a:srgbClr val="FFFFFF"/>
                    </a:solidFill>
                  </a:tcPr>
                </a:tc>
                <a:tc>
                  <a:txBody>
                    <a:bodyPr/>
                    <a:lstStyle/>
                    <a:p>
                      <a:r>
                        <a:rPr sz="1200" b="0" i="0">
                          <a:solidFill>
                            <a:srgbClr val="262626"/>
                          </a:solidFill>
                          <a:latin typeface="Calibri"/>
                        </a:rPr>
                        <a:t>Liviano, +100 idiomas, sin internet</a:t>
                      </a:r>
                    </a:p>
                  </a:txBody>
                  <a:tcPr marL="73152" marR="73152" marT="36576" marB="36576" anchor="ctr">
                    <a:solidFill>
                      <a:srgbClr val="FFFFFF"/>
                    </a:solidFill>
                  </a:tcPr>
                </a:tc>
                <a:tc>
                  <a:txBody>
                    <a:bodyPr/>
                    <a:lstStyle/>
                    <a:p>
                      <a:r>
                        <a:rPr sz="1200" b="0" i="0">
                          <a:solidFill>
                            <a:srgbClr val="262626"/>
                          </a:solidFill>
                          <a:latin typeface="Calibri"/>
                        </a:rPr>
                        <a:t>Sí, la usaremos</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200" b="1" i="0">
                          <a:solidFill>
                            <a:srgbClr val="262626"/>
                          </a:solidFill>
                          <a:latin typeface="Calibri"/>
                        </a:rPr>
                        <a:t>EasyOCR</a:t>
                      </a:r>
                    </a:p>
                  </a:txBody>
                  <a:tcPr marL="73152" marR="73152" marT="36576" marB="36576" anchor="ctr">
                    <a:solidFill>
                      <a:srgbClr val="FBF1F1"/>
                    </a:solidFill>
                  </a:tcPr>
                </a:tc>
                <a:tc>
                  <a:txBody>
                    <a:bodyPr/>
                    <a:lstStyle/>
                    <a:p>
                      <a:r>
                        <a:rPr sz="1200" b="0" i="0">
                          <a:solidFill>
                            <a:srgbClr val="262626"/>
                          </a:solidFill>
                          <a:latin typeface="Calibri"/>
                        </a:rPr>
                        <a:t>Open source (deep learning)</a:t>
                      </a:r>
                    </a:p>
                  </a:txBody>
                  <a:tcPr marL="73152" marR="73152" marT="36576" marB="36576" anchor="ctr">
                    <a:solidFill>
                      <a:srgbClr val="FBF1F1"/>
                    </a:solidFill>
                  </a:tcPr>
                </a:tc>
                <a:tc>
                  <a:txBody>
                    <a:bodyPr/>
                    <a:lstStyle/>
                    <a:p>
                      <a:r>
                        <a:rPr sz="1200" b="0" i="0">
                          <a:solidFill>
                            <a:srgbClr val="262626"/>
                          </a:solidFill>
                          <a:latin typeface="Calibri"/>
                        </a:rPr>
                        <a:t>Mejor con letreros y fotos</a:t>
                      </a:r>
                    </a:p>
                  </a:txBody>
                  <a:tcPr marL="73152" marR="73152" marT="36576" marB="36576" anchor="ctr">
                    <a:solidFill>
                      <a:srgbClr val="FBF1F1"/>
                    </a:solidFill>
                  </a:tcPr>
                </a:tc>
                <a:tc>
                  <a:txBody>
                    <a:bodyPr/>
                    <a:lstStyle/>
                    <a:p>
                      <a:r>
                        <a:rPr sz="1200" b="0" i="0">
                          <a:solidFill>
                            <a:srgbClr val="262626"/>
                          </a:solidFill>
                          <a:latin typeface="Calibri"/>
                        </a:rPr>
                        <a:t>Funciona, pero lento</a:t>
                      </a:r>
                    </a:p>
                  </a:txBody>
                  <a:tcPr marL="73152" marR="73152" marT="36576" marB="36576" anchor="ctr">
                    <a:solidFill>
                      <a:srgbClr val="FBF1F1"/>
                    </a:solidFill>
                  </a:tcPr>
                </a:tc>
                <a:extLst>
                  <a:ext uri="{0D108BD9-81ED-4DB2-BD59-A6C34878D82A}">
                    <a16:rowId xmlns:a16="http://schemas.microsoft.com/office/drawing/2014/main" val="10002"/>
                  </a:ext>
                </a:extLst>
              </a:tr>
              <a:tr h="566928">
                <a:tc>
                  <a:txBody>
                    <a:bodyPr/>
                    <a:lstStyle/>
                    <a:p>
                      <a:r>
                        <a:rPr sz="1200" b="1" i="0">
                          <a:solidFill>
                            <a:srgbClr val="262626"/>
                          </a:solidFill>
                          <a:latin typeface="Calibri"/>
                        </a:rPr>
                        <a:t>PaddleOCR</a:t>
                      </a:r>
                    </a:p>
                  </a:txBody>
                  <a:tcPr marL="73152" marR="73152" marT="36576" marB="36576" anchor="ctr">
                    <a:solidFill>
                      <a:srgbClr val="FFFFFF"/>
                    </a:solidFill>
                  </a:tcPr>
                </a:tc>
                <a:tc>
                  <a:txBody>
                    <a:bodyPr/>
                    <a:lstStyle/>
                    <a:p>
                      <a:r>
                        <a:rPr sz="1200" b="0" i="0">
                          <a:solidFill>
                            <a:srgbClr val="262626"/>
                          </a:solidFill>
                          <a:latin typeface="Calibri"/>
                        </a:rPr>
                        <a:t>Open source (deep learning)</a:t>
                      </a:r>
                    </a:p>
                  </a:txBody>
                  <a:tcPr marL="73152" marR="73152" marT="36576" marB="36576" anchor="ctr">
                    <a:solidFill>
                      <a:srgbClr val="FFFFFF"/>
                    </a:solidFill>
                  </a:tcPr>
                </a:tc>
                <a:tc>
                  <a:txBody>
                    <a:bodyPr/>
                    <a:lstStyle/>
                    <a:p>
                      <a:r>
                        <a:rPr sz="1200" b="0" i="0">
                          <a:solidFill>
                            <a:srgbClr val="262626"/>
                          </a:solidFill>
                          <a:latin typeface="Calibri"/>
                        </a:rPr>
                        <a:t>Muy preciso, detecta texto rotado</a:t>
                      </a:r>
                    </a:p>
                  </a:txBody>
                  <a:tcPr marL="73152" marR="73152" marT="36576" marB="36576" anchor="ctr">
                    <a:solidFill>
                      <a:srgbClr val="FFFFFF"/>
                    </a:solidFill>
                  </a:tcPr>
                </a:tc>
                <a:tc>
                  <a:txBody>
                    <a:bodyPr/>
                    <a:lstStyle/>
                    <a:p>
                      <a:r>
                        <a:rPr sz="1200" b="0" i="0">
                          <a:solidFill>
                            <a:srgbClr val="262626"/>
                          </a:solidFill>
                          <a:latin typeface="Calibri"/>
                        </a:rPr>
                        <a:t>Pesado</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200" b="1" i="0">
                          <a:solidFill>
                            <a:srgbClr val="262626"/>
                          </a:solidFill>
                          <a:latin typeface="Calibri"/>
                        </a:rPr>
                        <a:t>Nube (Google Vision, AWS Textract)</a:t>
                      </a:r>
                    </a:p>
                  </a:txBody>
                  <a:tcPr marL="73152" marR="73152" marT="36576" marB="36576" anchor="ctr">
                    <a:solidFill>
                      <a:srgbClr val="FBF1F1"/>
                    </a:solidFill>
                  </a:tcPr>
                </a:tc>
                <a:tc>
                  <a:txBody>
                    <a:bodyPr/>
                    <a:lstStyle/>
                    <a:p>
                      <a:r>
                        <a:rPr sz="1200" b="0" i="0">
                          <a:solidFill>
                            <a:srgbClr val="262626"/>
                          </a:solidFill>
                          <a:latin typeface="Calibri"/>
                        </a:rPr>
                        <a:t>Servicio pagado</a:t>
                      </a:r>
                    </a:p>
                  </a:txBody>
                  <a:tcPr marL="73152" marR="73152" marT="36576" marB="36576" anchor="ctr">
                    <a:solidFill>
                      <a:srgbClr val="FBF1F1"/>
                    </a:solidFill>
                  </a:tcPr>
                </a:tc>
                <a:tc>
                  <a:txBody>
                    <a:bodyPr/>
                    <a:lstStyle/>
                    <a:p>
                      <a:r>
                        <a:rPr sz="1200" b="0" i="0">
                          <a:solidFill>
                            <a:srgbClr val="262626"/>
                          </a:solidFill>
                          <a:latin typeface="Calibri"/>
                        </a:rPr>
                        <a:t>Máxima precisión, formularios</a:t>
                      </a:r>
                    </a:p>
                  </a:txBody>
                  <a:tcPr marL="73152" marR="73152" marT="36576" marB="36576" anchor="ctr">
                    <a:solidFill>
                      <a:srgbClr val="FBF1F1"/>
                    </a:solidFill>
                  </a:tcPr>
                </a:tc>
                <a:tc>
                  <a:txBody>
                    <a:bodyPr/>
                    <a:lstStyle/>
                    <a:p>
                      <a:r>
                        <a:rPr sz="1200" b="0" i="0">
                          <a:solidFill>
                            <a:srgbClr val="262626"/>
                          </a:solidFill>
                          <a:latin typeface="Calibri"/>
                        </a:rPr>
                        <a:t>Requiere internet</a:t>
                      </a:r>
                    </a:p>
                  </a:txBody>
                  <a:tcPr marL="73152" marR="73152" marT="36576" marB="36576" anchor="ctr">
                    <a:solidFill>
                      <a:srgbClr val="FBF1F1"/>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457200" y="4846320"/>
            <a:ext cx="8229600" cy="82296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85800" y="4846320"/>
            <a:ext cx="7772400" cy="822960"/>
          </a:xfrm>
          <a:prstGeom prst="rect">
            <a:avLst/>
          </a:prstGeom>
          <a:noFill/>
        </p:spPr>
        <p:txBody>
          <a:bodyPr wrap="square" anchor="ctr">
            <a:spAutoFit/>
          </a:bodyPr>
          <a:lstStyle/>
          <a:p>
            <a:pPr algn="l">
              <a:spcAft>
                <a:spcPts val="600"/>
              </a:spcAft>
            </a:pPr>
            <a:r>
              <a:rPr sz="1500" b="1" i="0">
                <a:solidFill>
                  <a:srgbClr val="262626"/>
                </a:solidFill>
                <a:latin typeface="Calibri"/>
              </a:rPr>
              <a:t>Regla práctica:</a:t>
            </a:r>
            <a:r>
              <a:rPr sz="1500" b="0" i="0">
                <a:solidFill>
                  <a:srgbClr val="262626"/>
                </a:solidFill>
                <a:latin typeface="Calibri"/>
              </a:rPr>
              <a:t> en el borde (Pi, sin internet) → Tesseract. Texto difícil en fotos → modelo de deep learning. Documentos masivos → nube.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Código · Leer texto con OCR</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20</a:t>
            </a:r>
          </a:p>
        </p:txBody>
      </p:sp>
      <p:sp>
        <p:nvSpPr>
          <p:cNvPr id="7" name="Rounded Rectangle 6"/>
          <p:cNvSpPr/>
          <p:nvPr/>
        </p:nvSpPr>
        <p:spPr>
          <a:xfrm>
            <a:off x="457200" y="1097280"/>
            <a:ext cx="8229600" cy="352044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4360" y="1152144"/>
            <a:ext cx="7955279"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03_ocr.py (extracto)</a:t>
            </a:r>
          </a:p>
        </p:txBody>
      </p:sp>
      <p:sp>
        <p:nvSpPr>
          <p:cNvPr id="9" name="Codigo"/>
          <p:cNvSpPr txBox="1"/>
          <p:nvPr/>
        </p:nvSpPr>
        <p:spPr>
          <a:xfrm>
            <a:off x="594360" y="1444752"/>
            <a:ext cx="7955279" cy="3136391"/>
          </a:xfrm>
          <a:prstGeom prst="rect">
            <a:avLst/>
          </a:prstGeom>
          <a:noFill/>
        </p:spPr>
        <p:txBody>
          <a:bodyPr wrap="square" lIns="0" tIns="0" rIns="0" bIns="0">
            <a:spAutoFit/>
          </a:bodyPr>
          <a:lstStyle/>
          <a:p>
            <a:pPr>
              <a:spcAft>
                <a:spcPts val="0"/>
              </a:spcAft>
            </a:pPr>
            <a:r>
              <a:rPr sz="1100">
                <a:solidFill>
                  <a:srgbClr val="E6E6E6"/>
                </a:solidFill>
                <a:latin typeface="Courier New"/>
              </a:rPr>
              <a:t>IDIOMA = "spa" if "spa" in pytesseract.get_languages() else "eng"</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gris = cv2.cvtColor(img, cv2.COLOR_BGR2GRAY)</a:t>
            </a:r>
          </a:p>
          <a:p>
            <a:pPr>
              <a:spcAft>
                <a:spcPts val="0"/>
              </a:spcAft>
            </a:pPr>
            <a:r>
              <a:rPr sz="1100">
                <a:solidFill>
                  <a:srgbClr val="E6E6E6"/>
                </a:solidFill>
                <a:latin typeface="Courier New"/>
              </a:rPr>
              <a:t>gris = cv2.resize(gris, None, fx=1.5, fy=1.5)</a:t>
            </a:r>
            <a:r>
              <a:rPr sz="1100">
                <a:solidFill>
                  <a:srgbClr val="8FBF8F"/>
                </a:solidFill>
                <a:latin typeface="Courier New"/>
              </a:rPr>
              <a:t>             # agrandar ayuda con letras chicas</a:t>
            </a:r>
          </a:p>
          <a:p>
            <a:pPr>
              <a:spcAft>
                <a:spcPts val="0"/>
              </a:spcAft>
            </a:pPr>
            <a:r>
              <a:rPr sz="1100">
                <a:solidFill>
                  <a:srgbClr val="E6E6E6"/>
                </a:solidFill>
                <a:latin typeface="Courier New"/>
              </a:rPr>
              <a:t>_, limpia = cv2.threshold(gris, 0, 255, cv2.THRESH_BINARY + cv2.THRESH_OTSU)</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texto = pytesseract.image_to_string(limpia, lang=IDIOMA, config="--psm 6")</a:t>
            </a:r>
          </a:p>
          <a:p>
            <a:pPr>
              <a:spcAft>
                <a:spcPts val="0"/>
              </a:spcAft>
            </a:pPr>
            <a:r>
              <a:rPr sz="1100">
                <a:solidFill>
                  <a:srgbClr val="E6E6E6"/>
                </a:solidFill>
                <a:latin typeface="Courier New"/>
              </a:rPr>
              <a:t>print(texto)</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datos = pytesseract.image_to_data(limpia, lang=IDIOMA, config="--psm 6",</a:t>
            </a:r>
          </a:p>
          <a:p>
            <a:pPr>
              <a:spcAft>
                <a:spcPts val="0"/>
              </a:spcAft>
            </a:pPr>
            <a:r>
              <a:rPr sz="1100">
                <a:solidFill>
                  <a:srgbClr val="E6E6E6"/>
                </a:solidFill>
                <a:latin typeface="Courier New"/>
              </a:rPr>
              <a:t>                                  output_type=pytesseract.Output.DICT)</a:t>
            </a:r>
          </a:p>
          <a:p>
            <a:pPr>
              <a:spcAft>
                <a:spcPts val="0"/>
              </a:spcAft>
            </a:pPr>
            <a:r>
              <a:rPr sz="1100">
                <a:solidFill>
                  <a:srgbClr val="E6E6E6"/>
                </a:solidFill>
                <a:latin typeface="Courier New"/>
              </a:rPr>
              <a:t>for i, palabra in enumerate(datos["text"]):</a:t>
            </a:r>
          </a:p>
          <a:p>
            <a:pPr>
              <a:spcAft>
                <a:spcPts val="0"/>
              </a:spcAft>
            </a:pPr>
            <a:r>
              <a:rPr sz="1100">
                <a:solidFill>
                  <a:srgbClr val="E6E6E6"/>
                </a:solidFill>
                <a:latin typeface="Courier New"/>
              </a:rPr>
              <a:t>    if palabra.strip() and float(datos["conf"][i]) &gt; 60:</a:t>
            </a:r>
          </a:p>
          <a:p>
            <a:pPr>
              <a:spcAft>
                <a:spcPts val="0"/>
              </a:spcAft>
            </a:pPr>
            <a:r>
              <a:rPr sz="1100">
                <a:solidFill>
                  <a:srgbClr val="E6E6E6"/>
                </a:solidFill>
                <a:latin typeface="Courier New"/>
              </a:rPr>
              <a:t>        print(palabra, datos["conf"][i])</a:t>
            </a:r>
            <a:r>
              <a:rPr sz="1100">
                <a:solidFill>
                  <a:srgbClr val="8FBF8F"/>
                </a:solidFill>
                <a:latin typeface="Courier New"/>
              </a:rPr>
              <a:t>                 # palabra y confianza</a:t>
            </a:r>
          </a:p>
        </p:txBody>
      </p:sp>
      <p:sp>
        <p:nvSpPr>
          <p:cNvPr id="10" name="TextBox 9"/>
          <p:cNvSpPr txBox="1"/>
          <p:nvPr/>
        </p:nvSpPr>
        <p:spPr>
          <a:xfrm>
            <a:off x="457200" y="4800600"/>
            <a:ext cx="8229600" cy="914400"/>
          </a:xfrm>
          <a:prstGeom prst="rect">
            <a:avLst/>
          </a:prstGeom>
          <a:noFill/>
        </p:spPr>
        <p:txBody>
          <a:bodyPr wrap="square" anchor="t">
            <a:spAutoFit/>
          </a:bodyPr>
          <a:lstStyle/>
          <a:p>
            <a:pPr marL="228600" indent="-201168" algn="l">
              <a:spcAft>
                <a:spcPts val="500"/>
              </a:spcAft>
              <a:buClr>
                <a:srgbClr val="8E1B1B"/>
              </a:buClr>
              <a:buFont typeface="Arial"/>
              <a:buChar char="•"/>
            </a:pPr>
            <a:r>
              <a:rPr sz="1300" b="0" i="0">
                <a:solidFill>
                  <a:srgbClr val="8E1B1B"/>
                </a:solidFill>
                <a:latin typeface="Courier New"/>
              </a:rPr>
              <a:t>--psm 6</a:t>
            </a:r>
            <a:r>
              <a:rPr sz="1400" b="0" i="0">
                <a:solidFill>
                  <a:srgbClr val="262626"/>
                </a:solidFill>
                <a:latin typeface="Calibri"/>
              </a:rPr>
              <a:t>: bloque de texto  ·  </a:t>
            </a:r>
            <a:r>
              <a:rPr sz="1300" b="0" i="0">
                <a:solidFill>
                  <a:srgbClr val="8E1B1B"/>
                </a:solidFill>
                <a:latin typeface="Courier New"/>
              </a:rPr>
              <a:t>--psm 7</a:t>
            </a:r>
            <a:r>
              <a:rPr sz="1400" b="0" i="0">
                <a:solidFill>
                  <a:srgbClr val="262626"/>
                </a:solidFill>
                <a:latin typeface="Calibri"/>
              </a:rPr>
              <a:t>: una sola línea (por ejemplo, una patente)</a:t>
            </a:r>
          </a:p>
          <a:p>
            <a:pPr marL="228600" indent="-201168" algn="l">
              <a:spcAft>
                <a:spcPts val="500"/>
              </a:spcAft>
              <a:buClr>
                <a:srgbClr val="8E1B1B"/>
              </a:buClr>
              <a:buFont typeface="Arial"/>
              <a:buChar char="•"/>
            </a:pPr>
            <a:r>
              <a:rPr sz="1400" b="0" i="0">
                <a:solidFill>
                  <a:srgbClr val="262626"/>
                </a:solidFill>
                <a:latin typeface="Calibri"/>
              </a:rPr>
              <a:t>Primero se </a:t>
            </a:r>
            <a:r>
              <a:rPr sz="1400" b="1" i="0">
                <a:solidFill>
                  <a:srgbClr val="262626"/>
                </a:solidFill>
                <a:latin typeface="Calibri"/>
              </a:rPr>
              <a:t>limpia</a:t>
            </a:r>
            <a:r>
              <a:rPr sz="1400" b="0" i="0">
                <a:solidFill>
                  <a:srgbClr val="262626"/>
                </a:solidFill>
                <a:latin typeface="Calibri"/>
              </a:rPr>
              <a:t> la imagen con lo que ya vimos (grises, umbral): procesamiento clásico + IA juntos.</a:t>
            </a:r>
          </a:p>
        </p:txBody>
      </p:sp>
      <p:sp>
        <p:nvSpPr>
          <p:cNvPr id="11" name="Rounded Rectangle 10"/>
          <p:cNvSpPr/>
          <p:nvPr/>
        </p:nvSpPr>
        <p:spPr>
          <a:xfrm>
            <a:off x="457200" y="5715000"/>
            <a:ext cx="8229600" cy="5486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85800" y="5715000"/>
            <a:ext cx="7772400" cy="548640"/>
          </a:xfrm>
          <a:prstGeom prst="rect">
            <a:avLst/>
          </a:prstGeom>
          <a:noFill/>
        </p:spPr>
        <p:txBody>
          <a:bodyPr wrap="square" anchor="ctr">
            <a:spAutoFit/>
          </a:bodyPr>
          <a:lstStyle/>
          <a:p>
            <a:pPr algn="l">
              <a:spcAft>
                <a:spcPts val="600"/>
              </a:spcAft>
            </a:pPr>
            <a:r>
              <a:rPr sz="1500" b="0" i="0">
                <a:solidFill>
                  <a:srgbClr val="262626"/>
                </a:solidFill>
                <a:latin typeface="Calibri"/>
              </a:rPr>
              <a:t>Mejor resultado: texto </a:t>
            </a:r>
            <a:r>
              <a:rPr sz="1500" b="1" i="0">
                <a:solidFill>
                  <a:srgbClr val="262626"/>
                </a:solidFill>
                <a:latin typeface="Calibri"/>
              </a:rPr>
              <a:t>negro</a:t>
            </a:r>
            <a:r>
              <a:rPr sz="1500" b="0" i="0">
                <a:solidFill>
                  <a:srgbClr val="262626"/>
                </a:solidFill>
                <a:latin typeface="Calibri"/>
              </a:rPr>
              <a:t> sobre fondo </a:t>
            </a:r>
            <a:r>
              <a:rPr sz="1500" b="1" i="0">
                <a:solidFill>
                  <a:srgbClr val="262626"/>
                </a:solidFill>
                <a:latin typeface="Calibri"/>
              </a:rPr>
              <a:t>blanco</a:t>
            </a:r>
            <a:r>
              <a:rPr sz="1500" b="0" i="0">
                <a:solidFill>
                  <a:srgbClr val="262626"/>
                </a:solidFill>
                <a:latin typeface="Calibri"/>
              </a:rPr>
              <a:t>, bien iluminado y derecho.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3272E"/>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Momento de código 2</a:t>
            </a:r>
          </a:p>
        </p:txBody>
      </p:sp>
      <p:sp>
        <p:nvSpPr>
          <p:cNvPr id="5" name="Oval 4"/>
          <p:cNvSpPr/>
          <p:nvPr/>
        </p:nvSpPr>
        <p:spPr>
          <a:xfrm>
            <a:off x="457200" y="105156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aptop_w.png"/>
          <p:cNvPicPr>
            <a:picLocks noChangeAspect="1"/>
          </p:cNvPicPr>
          <p:nvPr/>
        </p:nvPicPr>
        <p:blipFill>
          <a:blip r:embed="rId4"/>
          <a:stretch>
            <a:fillRect/>
          </a:stretch>
        </p:blipFill>
        <p:spPr>
          <a:xfrm>
            <a:off x="598017" y="1192377"/>
            <a:ext cx="358444" cy="358444"/>
          </a:xfrm>
          <a:prstGeom prst="rect">
            <a:avLst/>
          </a:prstGeom>
        </p:spPr>
      </p:pic>
      <p:sp>
        <p:nvSpPr>
          <p:cNvPr id="7" name="TextBox 6"/>
          <p:cNvSpPr txBox="1"/>
          <p:nvPr/>
        </p:nvSpPr>
        <p:spPr>
          <a:xfrm>
            <a:off x="1234440" y="1024128"/>
            <a:ext cx="5120640" cy="365760"/>
          </a:xfrm>
          <a:prstGeom prst="rect">
            <a:avLst/>
          </a:prstGeom>
          <a:noFill/>
        </p:spPr>
        <p:txBody>
          <a:bodyPr wrap="square" lIns="0" tIns="0" rIns="0" bIns="0" anchor="t">
            <a:spAutoFit/>
          </a:bodyPr>
          <a:lstStyle/>
          <a:p>
            <a:pPr algn="l">
              <a:spcAft>
                <a:spcPts val="600"/>
              </a:spcAft>
            </a:pPr>
            <a:r>
              <a:rPr sz="1300" b="1" i="0">
                <a:solidFill>
                  <a:srgbClr val="F2C14E"/>
                </a:solidFill>
                <a:latin typeface="Calibri"/>
              </a:rPr>
              <a:t>AHORA EN TU COMPUTADOR</a:t>
            </a:r>
          </a:p>
        </p:txBody>
      </p:sp>
      <p:sp>
        <p:nvSpPr>
          <p:cNvPr id="8" name="TextBox 7"/>
          <p:cNvSpPr txBox="1"/>
          <p:nvPr/>
        </p:nvSpPr>
        <p:spPr>
          <a:xfrm>
            <a:off x="1234440" y="1344168"/>
            <a:ext cx="5394960" cy="411480"/>
          </a:xfrm>
          <a:prstGeom prst="rect">
            <a:avLst/>
          </a:prstGeom>
          <a:noFill/>
        </p:spPr>
        <p:txBody>
          <a:bodyPr wrap="square" lIns="0" tIns="0" rIns="0" bIns="0" anchor="t">
            <a:spAutoFit/>
          </a:bodyPr>
          <a:lstStyle/>
          <a:p>
            <a:pPr algn="l">
              <a:spcAft>
                <a:spcPts val="600"/>
              </a:spcAft>
            </a:pPr>
            <a:r>
              <a:rPr sz="2200" b="1" i="0">
                <a:solidFill>
                  <a:srgbClr val="FFFFFF"/>
                </a:solidFill>
                <a:latin typeface="Courier New"/>
              </a:rPr>
              <a:t>03_ocr.py</a:t>
            </a:r>
          </a:p>
        </p:txBody>
      </p:sp>
      <p:sp>
        <p:nvSpPr>
          <p:cNvPr id="9" name="Rounded Rectangle 8"/>
          <p:cNvSpPr/>
          <p:nvPr/>
        </p:nvSpPr>
        <p:spPr>
          <a:xfrm>
            <a:off x="6720840" y="1051560"/>
            <a:ext cx="1965960" cy="6400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imer_w.png"/>
          <p:cNvPicPr>
            <a:picLocks noChangeAspect="1"/>
          </p:cNvPicPr>
          <p:nvPr/>
        </p:nvPicPr>
        <p:blipFill>
          <a:blip r:embed="rId5"/>
          <a:stretch>
            <a:fillRect/>
          </a:stretch>
        </p:blipFill>
        <p:spPr>
          <a:xfrm>
            <a:off x="6858000" y="1143000"/>
            <a:ext cx="457200" cy="457200"/>
          </a:xfrm>
          <a:prstGeom prst="rect">
            <a:avLst/>
          </a:prstGeom>
        </p:spPr>
      </p:pic>
      <p:sp>
        <p:nvSpPr>
          <p:cNvPr id="11" name="TextBox 10"/>
          <p:cNvSpPr txBox="1"/>
          <p:nvPr/>
        </p:nvSpPr>
        <p:spPr>
          <a:xfrm>
            <a:off x="7360920" y="1051560"/>
            <a:ext cx="1280160" cy="640080"/>
          </a:xfrm>
          <a:prstGeom prst="rect">
            <a:avLst/>
          </a:prstGeom>
          <a:noFill/>
        </p:spPr>
        <p:txBody>
          <a:bodyPr wrap="square" lIns="0" tIns="0" rIns="0" bIns="0" anchor="ctr">
            <a:spAutoFit/>
          </a:bodyPr>
          <a:lstStyle/>
          <a:p>
            <a:pPr algn="l">
              <a:spcAft>
                <a:spcPts val="600"/>
              </a:spcAft>
            </a:pPr>
            <a:r>
              <a:rPr sz="1700" b="1" i="0">
                <a:solidFill>
                  <a:srgbClr val="FFFFFF"/>
                </a:solidFill>
                <a:latin typeface="Calibri"/>
              </a:rPr>
              <a:t>≈ 10 min</a:t>
            </a:r>
          </a:p>
        </p:txBody>
      </p:sp>
      <p:sp>
        <p:nvSpPr>
          <p:cNvPr id="12" name="TextBox 11"/>
          <p:cNvSpPr txBox="1"/>
          <p:nvPr/>
        </p:nvSpPr>
        <p:spPr>
          <a:xfrm>
            <a:off x="457200" y="1874519"/>
            <a:ext cx="8229600" cy="457200"/>
          </a:xfrm>
          <a:prstGeom prst="rect">
            <a:avLst/>
          </a:prstGeom>
          <a:noFill/>
        </p:spPr>
        <p:txBody>
          <a:bodyPr wrap="square" lIns="0" tIns="0" rIns="0" bIns="0" anchor="t">
            <a:spAutoFit/>
          </a:bodyPr>
          <a:lstStyle/>
          <a:p>
            <a:pPr algn="l">
              <a:spcAft>
                <a:spcPts val="600"/>
              </a:spcAft>
            </a:pPr>
            <a:r>
              <a:rPr sz="1500" b="0" i="0">
                <a:solidFill>
                  <a:srgbClr val="D9DDE3"/>
                </a:solidFill>
                <a:latin typeface="Calibri"/>
              </a:rPr>
              <a:t>Leer texto desde una imagen y desde tu cámara, y encontrar los límites del OCR.</a:t>
            </a:r>
          </a:p>
        </p:txBody>
      </p:sp>
      <p:sp>
        <p:nvSpPr>
          <p:cNvPr id="13" name="Rounded Rectangle 12"/>
          <p:cNvSpPr/>
          <p:nvPr/>
        </p:nvSpPr>
        <p:spPr>
          <a:xfrm>
            <a:off x="457200" y="2377440"/>
            <a:ext cx="8229600" cy="850392"/>
          </a:xfrm>
          <a:prstGeom prst="roundRect">
            <a:avLst>
              <a:gd name="adj" fmla="val 8000"/>
            </a:avLst>
          </a:prstGeom>
          <a:solidFill>
            <a:srgbClr val="141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2395728"/>
            <a:ext cx="7863840" cy="822959"/>
          </a:xfrm>
          <a:prstGeom prst="rect">
            <a:avLst/>
          </a:prstGeom>
          <a:noFill/>
        </p:spPr>
        <p:txBody>
          <a:bodyPr wrap="square" lIns="18288" tIns="18288" rIns="18288" bIns="18288" anchor="ctr">
            <a:spAutoFit/>
          </a:bodyPr>
          <a:lstStyle/>
          <a:p>
            <a:pPr algn="l">
              <a:spcAft>
                <a:spcPts val="0"/>
              </a:spcAft>
            </a:pPr>
            <a:r>
              <a:rPr sz="1400" b="0" i="0">
                <a:solidFill>
                  <a:srgbClr val="9FE29F"/>
                </a:solidFill>
                <a:latin typeface="Courier New"/>
              </a:rPr>
              <a:t>$ python 03_ocr.py imagenes/etiqueta.jpg</a:t>
            </a:r>
          </a:p>
          <a:p>
            <a:pPr algn="l">
              <a:spcAft>
                <a:spcPts val="0"/>
              </a:spcAft>
            </a:pPr>
            <a:r>
              <a:rPr sz="1400" b="0" i="0">
                <a:solidFill>
                  <a:srgbClr val="9FE29F"/>
                </a:solidFill>
                <a:latin typeface="Courier New"/>
              </a:rPr>
              <a:t>$ python 03_ocr.py</a:t>
            </a:r>
          </a:p>
        </p:txBody>
      </p:sp>
      <p:sp>
        <p:nvSpPr>
          <p:cNvPr id="15" name="TextBox 14"/>
          <p:cNvSpPr txBox="1"/>
          <p:nvPr/>
        </p:nvSpPr>
        <p:spPr>
          <a:xfrm>
            <a:off x="457200" y="3383280"/>
            <a:ext cx="8229600" cy="365760"/>
          </a:xfrm>
          <a:prstGeom prst="rect">
            <a:avLst/>
          </a:prstGeom>
          <a:noFill/>
        </p:spPr>
        <p:txBody>
          <a:bodyPr wrap="square" lIns="0" tIns="0" rIns="0" bIns="0" anchor="t">
            <a:spAutoFit/>
          </a:bodyPr>
          <a:lstStyle/>
          <a:p>
            <a:pPr algn="l">
              <a:spcAft>
                <a:spcPts val="600"/>
              </a:spcAft>
            </a:pPr>
            <a:r>
              <a:rPr sz="1500" b="1" i="0">
                <a:solidFill>
                  <a:srgbClr val="F2C14E"/>
                </a:solidFill>
                <a:latin typeface="Calibri"/>
              </a:rPr>
              <a:t>Prueba esto:</a:t>
            </a:r>
          </a:p>
        </p:txBody>
      </p:sp>
      <p:sp>
        <p:nvSpPr>
          <p:cNvPr id="16" name="Rounded Rectangle 15"/>
          <p:cNvSpPr/>
          <p:nvPr/>
        </p:nvSpPr>
        <p:spPr>
          <a:xfrm>
            <a:off x="457200" y="3794760"/>
            <a:ext cx="8229600" cy="47548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94360" y="385876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385876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1</a:t>
            </a:r>
          </a:p>
        </p:txBody>
      </p:sp>
      <p:sp>
        <p:nvSpPr>
          <p:cNvPr id="19" name="TextBox 18"/>
          <p:cNvSpPr txBox="1"/>
          <p:nvPr/>
        </p:nvSpPr>
        <p:spPr>
          <a:xfrm>
            <a:off x="1097280" y="3794760"/>
            <a:ext cx="7452360" cy="475487"/>
          </a:xfrm>
          <a:prstGeom prst="rect">
            <a:avLst/>
          </a:prstGeom>
          <a:noFill/>
        </p:spPr>
        <p:txBody>
          <a:bodyPr wrap="square" lIns="18288" tIns="18288" rIns="18288" bIns="18288" anchor="ctr">
            <a:spAutoFit/>
          </a:bodyPr>
          <a:lstStyle/>
          <a:p>
            <a:pPr algn="l">
              <a:spcAft>
                <a:spcPts val="600"/>
              </a:spcAft>
            </a:pPr>
            <a:r>
              <a:rPr sz="1300" b="0" i="0">
                <a:solidFill>
                  <a:srgbClr val="FFFFFF"/>
                </a:solidFill>
                <a:latin typeface="Calibri"/>
              </a:rPr>
              <a:t>Lee la etiqueta de ejemplo: ¿encuentras el error de lectura?</a:t>
            </a:r>
          </a:p>
        </p:txBody>
      </p:sp>
      <p:sp>
        <p:nvSpPr>
          <p:cNvPr id="20" name="Rounded Rectangle 19"/>
          <p:cNvSpPr/>
          <p:nvPr/>
        </p:nvSpPr>
        <p:spPr>
          <a:xfrm>
            <a:off x="457200" y="4343400"/>
            <a:ext cx="8229600" cy="47548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594360" y="440740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94360" y="440740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2</a:t>
            </a:r>
          </a:p>
        </p:txBody>
      </p:sp>
      <p:sp>
        <p:nvSpPr>
          <p:cNvPr id="23" name="TextBox 22"/>
          <p:cNvSpPr txBox="1"/>
          <p:nvPr/>
        </p:nvSpPr>
        <p:spPr>
          <a:xfrm>
            <a:off x="1097280" y="4343400"/>
            <a:ext cx="7452360" cy="475487"/>
          </a:xfrm>
          <a:prstGeom prst="rect">
            <a:avLst/>
          </a:prstGeom>
          <a:noFill/>
        </p:spPr>
        <p:txBody>
          <a:bodyPr wrap="square" lIns="18288" tIns="18288" rIns="18288" bIns="18288" anchor="ctr">
            <a:spAutoFit/>
          </a:bodyPr>
          <a:lstStyle/>
          <a:p>
            <a:pPr algn="l">
              <a:spcAft>
                <a:spcPts val="600"/>
              </a:spcAft>
            </a:pPr>
            <a:r>
              <a:rPr sz="1300" b="0" i="0">
                <a:solidFill>
                  <a:srgbClr val="FFFFFF"/>
                </a:solidFill>
                <a:latin typeface="Calibri"/>
              </a:rPr>
              <a:t>Escribe una palabra en un papel y muéstrala a la cámara (comando sin argumento).</a:t>
            </a:r>
          </a:p>
        </p:txBody>
      </p:sp>
      <p:sp>
        <p:nvSpPr>
          <p:cNvPr id="24" name="Rounded Rectangle 23"/>
          <p:cNvSpPr/>
          <p:nvPr/>
        </p:nvSpPr>
        <p:spPr>
          <a:xfrm>
            <a:off x="457200" y="4892040"/>
            <a:ext cx="8229600" cy="47548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594360" y="495604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4360" y="495604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3</a:t>
            </a:r>
          </a:p>
        </p:txBody>
      </p:sp>
      <p:sp>
        <p:nvSpPr>
          <p:cNvPr id="27" name="TextBox 26"/>
          <p:cNvSpPr txBox="1"/>
          <p:nvPr/>
        </p:nvSpPr>
        <p:spPr>
          <a:xfrm>
            <a:off x="1097280" y="4892040"/>
            <a:ext cx="7452360" cy="475487"/>
          </a:xfrm>
          <a:prstGeom prst="rect">
            <a:avLst/>
          </a:prstGeom>
          <a:noFill/>
        </p:spPr>
        <p:txBody>
          <a:bodyPr wrap="square" lIns="18288" tIns="18288" rIns="18288" bIns="18288" anchor="ctr">
            <a:spAutoFit/>
          </a:bodyPr>
          <a:lstStyle/>
          <a:p>
            <a:pPr algn="l">
              <a:spcAft>
                <a:spcPts val="600"/>
              </a:spcAft>
            </a:pPr>
            <a:r>
              <a:rPr sz="1300" b="0" i="0">
                <a:solidFill>
                  <a:srgbClr val="FFFFFF"/>
                </a:solidFill>
                <a:latin typeface="Calibri"/>
              </a:rPr>
              <a:t>Prueba letra manuscrita, poca luz y el papel inclinado: ¿cuándo falla?</a:t>
            </a:r>
          </a:p>
        </p:txBody>
      </p:sp>
      <p:sp>
        <p:nvSpPr>
          <p:cNvPr id="28" name="Rounded Rectangle 27"/>
          <p:cNvSpPr/>
          <p:nvPr/>
        </p:nvSpPr>
        <p:spPr>
          <a:xfrm>
            <a:off x="457200" y="5440680"/>
            <a:ext cx="8229600" cy="47548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594360" y="550468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94360" y="550468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4</a:t>
            </a:r>
          </a:p>
        </p:txBody>
      </p:sp>
      <p:sp>
        <p:nvSpPr>
          <p:cNvPr id="31" name="TextBox 30"/>
          <p:cNvSpPr txBox="1"/>
          <p:nvPr/>
        </p:nvSpPr>
        <p:spPr>
          <a:xfrm>
            <a:off x="1097280" y="5440680"/>
            <a:ext cx="7452360" cy="475487"/>
          </a:xfrm>
          <a:prstGeom prst="rect">
            <a:avLst/>
          </a:prstGeom>
          <a:noFill/>
        </p:spPr>
        <p:txBody>
          <a:bodyPr wrap="square" lIns="18288" tIns="18288" rIns="18288" bIns="18288" anchor="ctr">
            <a:spAutoFit/>
          </a:bodyPr>
          <a:lstStyle/>
          <a:p>
            <a:pPr algn="l">
              <a:spcAft>
                <a:spcPts val="600"/>
              </a:spcAft>
            </a:pPr>
            <a:r>
              <a:rPr sz="1300" b="0" i="0">
                <a:solidFill>
                  <a:srgbClr val="FFFFFF"/>
                </a:solidFill>
                <a:latin typeface="Calibri"/>
              </a:rPr>
              <a:t>Con una sola línea de texto, cambia </a:t>
            </a:r>
            <a:r>
              <a:rPr sz="1200" b="0" i="0">
                <a:solidFill>
                  <a:srgbClr val="FFFFFF"/>
                </a:solidFill>
                <a:latin typeface="Courier New"/>
              </a:rPr>
              <a:t>--psm 6</a:t>
            </a:r>
            <a:r>
              <a:rPr sz="1300" b="0" i="0">
                <a:solidFill>
                  <a:srgbClr val="FFFFFF"/>
                </a:solidFill>
                <a:latin typeface="Calibri"/>
              </a:rPr>
              <a:t> por </a:t>
            </a:r>
            <a:r>
              <a:rPr sz="1200" b="0" i="0">
                <a:solidFill>
                  <a:srgbClr val="FFFFFF"/>
                </a:solidFill>
                <a:latin typeface="Courier New"/>
              </a:rPr>
              <a:t>--psm 7</a:t>
            </a:r>
            <a:r>
              <a:rPr sz="1300" b="0" i="0">
                <a:solidFill>
                  <a:srgbClr val="FFFFFF"/>
                </a:solidFill>
                <a:latin typeface="Calibri"/>
              </a:rPr>
              <a:t> y compara.</a:t>
            </a:r>
          </a:p>
        </p:txBody>
      </p:sp>
      <p:sp>
        <p:nvSpPr>
          <p:cNvPr id="32" name="TextBox 31"/>
          <p:cNvSpPr txBox="1"/>
          <p:nvPr/>
        </p:nvSpPr>
        <p:spPr>
          <a:xfrm>
            <a:off x="457200" y="6053328"/>
            <a:ext cx="8229600" cy="411480"/>
          </a:xfrm>
          <a:prstGeom prst="rect">
            <a:avLst/>
          </a:prstGeom>
          <a:noFill/>
        </p:spPr>
        <p:txBody>
          <a:bodyPr wrap="square" lIns="0" tIns="0" rIns="0" bIns="0" anchor="t">
            <a:spAutoFit/>
          </a:bodyPr>
          <a:lstStyle/>
          <a:p>
            <a:pPr algn="l">
              <a:spcAft>
                <a:spcPts val="600"/>
              </a:spcAft>
            </a:pPr>
            <a:r>
              <a:rPr sz="1200" b="0" i="1">
                <a:solidFill>
                  <a:srgbClr val="AEB4BD"/>
                </a:solidFill>
                <a:latin typeface="Calibri"/>
              </a:rPr>
              <a:t>Anoten en qué condiciones funcionó y en cuáles no: lo comentamos al cierre.</a:t>
            </a:r>
          </a:p>
        </p:txBody>
      </p:sp>
      <p:sp>
        <p:nvSpPr>
          <p:cNvPr id="33" name="TextBox 32"/>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8A9099"/>
                </a:solidFill>
                <a:latin typeface="Calibri"/>
              </a:rPr>
              <a:t>Tecnologías Disruptivas  ·  Escuela de Informática  ·  Universidad Andrés Bello</a:t>
            </a:r>
          </a:p>
        </p:txBody>
      </p:sp>
      <p:sp>
        <p:nvSpPr>
          <p:cNvPr id="34" name="TextBox 33"/>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8A9099"/>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Casos de uso del OCR</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22</a:t>
            </a:r>
          </a:p>
        </p:txBody>
      </p:sp>
      <p:sp>
        <p:nvSpPr>
          <p:cNvPr id="7" name="Rounded Rectangle 6"/>
          <p:cNvSpPr/>
          <p:nvPr/>
        </p:nvSpPr>
        <p:spPr>
          <a:xfrm>
            <a:off x="457200" y="1188720"/>
            <a:ext cx="4023360" cy="178308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40080" y="137160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ar_w.png"/>
          <p:cNvPicPr>
            <a:picLocks noChangeAspect="1"/>
          </p:cNvPicPr>
          <p:nvPr/>
        </p:nvPicPr>
        <p:blipFill>
          <a:blip r:embed="rId4"/>
          <a:stretch>
            <a:fillRect/>
          </a:stretch>
        </p:blipFill>
        <p:spPr>
          <a:xfrm>
            <a:off x="760780" y="1492300"/>
            <a:ext cx="307238" cy="307238"/>
          </a:xfrm>
          <a:prstGeom prst="rect">
            <a:avLst/>
          </a:prstGeom>
        </p:spPr>
      </p:pic>
      <p:sp>
        <p:nvSpPr>
          <p:cNvPr id="10" name="TextBox 9"/>
          <p:cNvSpPr txBox="1"/>
          <p:nvPr/>
        </p:nvSpPr>
        <p:spPr>
          <a:xfrm>
            <a:off x="1234440" y="1371600"/>
            <a:ext cx="3108960" cy="54864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Lectura de patentes</a:t>
            </a:r>
          </a:p>
        </p:txBody>
      </p:sp>
      <p:sp>
        <p:nvSpPr>
          <p:cNvPr id="11" name="TextBox 10"/>
          <p:cNvSpPr txBox="1"/>
          <p:nvPr/>
        </p:nvSpPr>
        <p:spPr>
          <a:xfrm>
            <a:off x="640080" y="2011680"/>
            <a:ext cx="3657600" cy="868680"/>
          </a:xfrm>
          <a:prstGeom prst="rect">
            <a:avLst/>
          </a:prstGeom>
          <a:noFill/>
        </p:spPr>
        <p:txBody>
          <a:bodyPr wrap="square" lIns="18288" tIns="18288" rIns="18288" bIns="18288" anchor="t">
            <a:spAutoFit/>
          </a:bodyPr>
          <a:lstStyle/>
          <a:p>
            <a:pPr algn="l">
              <a:spcAft>
                <a:spcPts val="600"/>
              </a:spcAft>
            </a:pPr>
            <a:r>
              <a:rPr sz="1400" b="0" i="0">
                <a:solidFill>
                  <a:srgbClr val="262626"/>
                </a:solidFill>
                <a:latin typeface="Calibri"/>
              </a:rPr>
              <a:t>Estacionamientos, control de acceso y fiscalización de tránsito.</a:t>
            </a:r>
          </a:p>
        </p:txBody>
      </p:sp>
      <p:sp>
        <p:nvSpPr>
          <p:cNvPr id="12" name="Rounded Rectangle 11"/>
          <p:cNvSpPr/>
          <p:nvPr/>
        </p:nvSpPr>
        <p:spPr>
          <a:xfrm>
            <a:off x="4663440" y="1188720"/>
            <a:ext cx="4023360" cy="178308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4846320" y="137160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doc_w.png"/>
          <p:cNvPicPr>
            <a:picLocks noChangeAspect="1"/>
          </p:cNvPicPr>
          <p:nvPr/>
        </p:nvPicPr>
        <p:blipFill>
          <a:blip r:embed="rId5"/>
          <a:stretch>
            <a:fillRect/>
          </a:stretch>
        </p:blipFill>
        <p:spPr>
          <a:xfrm>
            <a:off x="4967020" y="1492300"/>
            <a:ext cx="307238" cy="307238"/>
          </a:xfrm>
          <a:prstGeom prst="rect">
            <a:avLst/>
          </a:prstGeom>
        </p:spPr>
      </p:pic>
      <p:sp>
        <p:nvSpPr>
          <p:cNvPr id="15" name="TextBox 14"/>
          <p:cNvSpPr txBox="1"/>
          <p:nvPr/>
        </p:nvSpPr>
        <p:spPr>
          <a:xfrm>
            <a:off x="5440679" y="1371600"/>
            <a:ext cx="3108960" cy="54864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Digitalizar documentos</a:t>
            </a:r>
          </a:p>
        </p:txBody>
      </p:sp>
      <p:sp>
        <p:nvSpPr>
          <p:cNvPr id="16" name="TextBox 15"/>
          <p:cNvSpPr txBox="1"/>
          <p:nvPr/>
        </p:nvSpPr>
        <p:spPr>
          <a:xfrm>
            <a:off x="4846320" y="2011680"/>
            <a:ext cx="3657600" cy="868680"/>
          </a:xfrm>
          <a:prstGeom prst="rect">
            <a:avLst/>
          </a:prstGeom>
          <a:noFill/>
        </p:spPr>
        <p:txBody>
          <a:bodyPr wrap="square" lIns="18288" tIns="18288" rIns="18288" bIns="18288" anchor="t">
            <a:spAutoFit/>
          </a:bodyPr>
          <a:lstStyle/>
          <a:p>
            <a:pPr algn="l">
              <a:spcAft>
                <a:spcPts val="600"/>
              </a:spcAft>
            </a:pPr>
            <a:r>
              <a:rPr sz="1400" b="0" i="0">
                <a:solidFill>
                  <a:srgbClr val="262626"/>
                </a:solidFill>
                <a:latin typeface="Calibri"/>
              </a:rPr>
              <a:t>Boletas, facturas y formularios a datos que se pueden buscar.</a:t>
            </a:r>
          </a:p>
        </p:txBody>
      </p:sp>
      <p:sp>
        <p:nvSpPr>
          <p:cNvPr id="17" name="Rounded Rectangle 16"/>
          <p:cNvSpPr/>
          <p:nvPr/>
        </p:nvSpPr>
        <p:spPr>
          <a:xfrm>
            <a:off x="457200" y="3200400"/>
            <a:ext cx="4023360" cy="178308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0080" y="338328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meter_w.png"/>
          <p:cNvPicPr>
            <a:picLocks noChangeAspect="1"/>
          </p:cNvPicPr>
          <p:nvPr/>
        </p:nvPicPr>
        <p:blipFill>
          <a:blip r:embed="rId6"/>
          <a:stretch>
            <a:fillRect/>
          </a:stretch>
        </p:blipFill>
        <p:spPr>
          <a:xfrm>
            <a:off x="760780" y="3503980"/>
            <a:ext cx="307238" cy="307238"/>
          </a:xfrm>
          <a:prstGeom prst="rect">
            <a:avLst/>
          </a:prstGeom>
        </p:spPr>
      </p:pic>
      <p:sp>
        <p:nvSpPr>
          <p:cNvPr id="20" name="TextBox 19"/>
          <p:cNvSpPr txBox="1"/>
          <p:nvPr/>
        </p:nvSpPr>
        <p:spPr>
          <a:xfrm>
            <a:off x="1234440" y="3383280"/>
            <a:ext cx="3108960" cy="54864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Lectura de medidores</a:t>
            </a:r>
          </a:p>
        </p:txBody>
      </p:sp>
      <p:sp>
        <p:nvSpPr>
          <p:cNvPr id="21" name="TextBox 20"/>
          <p:cNvSpPr txBox="1"/>
          <p:nvPr/>
        </p:nvSpPr>
        <p:spPr>
          <a:xfrm>
            <a:off x="640080" y="4023359"/>
            <a:ext cx="3657600" cy="868680"/>
          </a:xfrm>
          <a:prstGeom prst="rect">
            <a:avLst/>
          </a:prstGeom>
          <a:noFill/>
        </p:spPr>
        <p:txBody>
          <a:bodyPr wrap="square" lIns="18288" tIns="18288" rIns="18288" bIns="18288" anchor="t">
            <a:spAutoFit/>
          </a:bodyPr>
          <a:lstStyle/>
          <a:p>
            <a:pPr algn="l">
              <a:spcAft>
                <a:spcPts val="600"/>
              </a:spcAft>
            </a:pPr>
            <a:r>
              <a:rPr sz="1400" b="0" i="0">
                <a:solidFill>
                  <a:srgbClr val="262626"/>
                </a:solidFill>
                <a:latin typeface="Calibri"/>
              </a:rPr>
              <a:t>Agua, luz o gas a partir de una foto del medidor.</a:t>
            </a:r>
          </a:p>
        </p:txBody>
      </p:sp>
      <p:sp>
        <p:nvSpPr>
          <p:cNvPr id="22" name="Rounded Rectangle 21"/>
          <p:cNvSpPr/>
          <p:nvPr/>
        </p:nvSpPr>
        <p:spPr>
          <a:xfrm>
            <a:off x="4663440" y="3200400"/>
            <a:ext cx="4023360" cy="178308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4846320" y="338328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access_w.png"/>
          <p:cNvPicPr>
            <a:picLocks noChangeAspect="1"/>
          </p:cNvPicPr>
          <p:nvPr/>
        </p:nvPicPr>
        <p:blipFill>
          <a:blip r:embed="rId7"/>
          <a:stretch>
            <a:fillRect/>
          </a:stretch>
        </p:blipFill>
        <p:spPr>
          <a:xfrm>
            <a:off x="4967020" y="3503980"/>
            <a:ext cx="307238" cy="307238"/>
          </a:xfrm>
          <a:prstGeom prst="rect">
            <a:avLst/>
          </a:prstGeom>
        </p:spPr>
      </p:pic>
      <p:sp>
        <p:nvSpPr>
          <p:cNvPr id="25" name="TextBox 24"/>
          <p:cNvSpPr txBox="1"/>
          <p:nvPr/>
        </p:nvSpPr>
        <p:spPr>
          <a:xfrm>
            <a:off x="5440679" y="3383280"/>
            <a:ext cx="3108960" cy="54864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Accesibilidad</a:t>
            </a:r>
          </a:p>
        </p:txBody>
      </p:sp>
      <p:sp>
        <p:nvSpPr>
          <p:cNvPr id="26" name="TextBox 25"/>
          <p:cNvSpPr txBox="1"/>
          <p:nvPr/>
        </p:nvSpPr>
        <p:spPr>
          <a:xfrm>
            <a:off x="4846320" y="4023359"/>
            <a:ext cx="3657600" cy="868680"/>
          </a:xfrm>
          <a:prstGeom prst="rect">
            <a:avLst/>
          </a:prstGeom>
          <a:noFill/>
        </p:spPr>
        <p:txBody>
          <a:bodyPr wrap="square" lIns="18288" tIns="18288" rIns="18288" bIns="18288" anchor="t">
            <a:spAutoFit/>
          </a:bodyPr>
          <a:lstStyle/>
          <a:p>
            <a:pPr algn="l">
              <a:spcAft>
                <a:spcPts val="600"/>
              </a:spcAft>
            </a:pPr>
            <a:r>
              <a:rPr sz="1400" b="0" i="0">
                <a:solidFill>
                  <a:srgbClr val="262626"/>
                </a:solidFill>
                <a:latin typeface="Calibri"/>
              </a:rPr>
              <a:t>Leer en voz alta letreros y textos a personas con discapacidad visual.</a:t>
            </a:r>
          </a:p>
        </p:txBody>
      </p:sp>
      <p:sp>
        <p:nvSpPr>
          <p:cNvPr id="27" name="Rounded Rectangle 26"/>
          <p:cNvSpPr/>
          <p:nvPr/>
        </p:nvSpPr>
        <p:spPr>
          <a:xfrm>
            <a:off x="457200" y="5349240"/>
            <a:ext cx="8229600" cy="73152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5349240"/>
            <a:ext cx="7772400" cy="731520"/>
          </a:xfrm>
          <a:prstGeom prst="rect">
            <a:avLst/>
          </a:prstGeom>
          <a:noFill/>
        </p:spPr>
        <p:txBody>
          <a:bodyPr wrap="square" anchor="ctr">
            <a:spAutoFit/>
          </a:bodyPr>
          <a:lstStyle/>
          <a:p>
            <a:pPr algn="l">
              <a:spcAft>
                <a:spcPts val="600"/>
              </a:spcAft>
            </a:pPr>
            <a:r>
              <a:rPr sz="1500" b="0" i="0">
                <a:solidFill>
                  <a:srgbClr val="262626"/>
                </a:solidFill>
                <a:latin typeface="Calibri"/>
              </a:rPr>
              <a:t>Todos siguen el mismo patrón: </a:t>
            </a:r>
            <a:r>
              <a:rPr sz="1500" b="1" i="0">
                <a:solidFill>
                  <a:srgbClr val="262626"/>
                </a:solidFill>
                <a:latin typeface="Calibri"/>
              </a:rPr>
              <a:t>cámara → OCR → validar → guardar o actuar</a:t>
            </a:r>
            <a:r>
              <a:rPr sz="1500" b="0" i="0">
                <a:solidFill>
                  <a:srgbClr val="262626"/>
                </a:solidFill>
                <a:latin typeface="Calibri"/>
              </a:rPr>
              <a:t> (abrir barrera, registrar consumo...).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Cierre de la Clase 1</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23</a:t>
            </a:r>
          </a:p>
        </p:txBody>
      </p:sp>
      <p:sp>
        <p:nvSpPr>
          <p:cNvPr id="7" name="Oval 6"/>
          <p:cNvSpPr/>
          <p:nvPr/>
        </p:nvSpPr>
        <p:spPr>
          <a:xfrm>
            <a:off x="548640" y="118872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_w.png"/>
          <p:cNvPicPr>
            <a:picLocks noChangeAspect="1"/>
          </p:cNvPicPr>
          <p:nvPr/>
        </p:nvPicPr>
        <p:blipFill>
          <a:blip r:embed="rId4"/>
          <a:stretch>
            <a:fillRect/>
          </a:stretch>
        </p:blipFill>
        <p:spPr>
          <a:xfrm>
            <a:off x="679399" y="1319479"/>
            <a:ext cx="332841" cy="332841"/>
          </a:xfrm>
          <a:prstGeom prst="rect">
            <a:avLst/>
          </a:prstGeom>
        </p:spPr>
      </p:pic>
      <p:sp>
        <p:nvSpPr>
          <p:cNvPr id="9" name="TextBox 8"/>
          <p:cNvSpPr txBox="1"/>
          <p:nvPr/>
        </p:nvSpPr>
        <p:spPr>
          <a:xfrm>
            <a:off x="1371600" y="1143000"/>
            <a:ext cx="7315200" cy="685800"/>
          </a:xfrm>
          <a:prstGeom prst="rect">
            <a:avLst/>
          </a:prstGeom>
          <a:noFill/>
        </p:spPr>
        <p:txBody>
          <a:bodyPr wrap="square" anchor="ctr">
            <a:spAutoFit/>
          </a:bodyPr>
          <a:lstStyle/>
          <a:p>
            <a:pPr algn="l">
              <a:spcAft>
                <a:spcPts val="600"/>
              </a:spcAft>
            </a:pPr>
            <a:r>
              <a:rPr sz="1600" b="0" i="0">
                <a:solidFill>
                  <a:srgbClr val="262626"/>
                </a:solidFill>
                <a:latin typeface="Calibri"/>
              </a:rPr>
              <a:t>Una imagen es una matriz de números; procesarla es hacer matemática sobre ella.</a:t>
            </a:r>
          </a:p>
        </p:txBody>
      </p:sp>
      <p:sp>
        <p:nvSpPr>
          <p:cNvPr id="10" name="Oval 9"/>
          <p:cNvSpPr/>
          <p:nvPr/>
        </p:nvSpPr>
        <p:spPr>
          <a:xfrm>
            <a:off x="548640" y="210312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une_w.png"/>
          <p:cNvPicPr>
            <a:picLocks noChangeAspect="1"/>
          </p:cNvPicPr>
          <p:nvPr/>
        </p:nvPicPr>
        <p:blipFill>
          <a:blip r:embed="rId5"/>
          <a:stretch>
            <a:fillRect/>
          </a:stretch>
        </p:blipFill>
        <p:spPr>
          <a:xfrm>
            <a:off x="679399" y="2233879"/>
            <a:ext cx="332841" cy="332841"/>
          </a:xfrm>
          <a:prstGeom prst="rect">
            <a:avLst/>
          </a:prstGeom>
        </p:spPr>
      </p:pic>
      <p:sp>
        <p:nvSpPr>
          <p:cNvPr id="12" name="TextBox 11"/>
          <p:cNvSpPr txBox="1"/>
          <p:nvPr/>
        </p:nvSpPr>
        <p:spPr>
          <a:xfrm>
            <a:off x="1371600" y="2057400"/>
            <a:ext cx="7315200" cy="685800"/>
          </a:xfrm>
          <a:prstGeom prst="rect">
            <a:avLst/>
          </a:prstGeom>
          <a:noFill/>
        </p:spPr>
        <p:txBody>
          <a:bodyPr wrap="square" anchor="ctr">
            <a:spAutoFit/>
          </a:bodyPr>
          <a:lstStyle/>
          <a:p>
            <a:pPr algn="l">
              <a:spcAft>
                <a:spcPts val="600"/>
              </a:spcAft>
            </a:pPr>
            <a:r>
              <a:rPr sz="1600" b="0" i="0">
                <a:solidFill>
                  <a:srgbClr val="262626"/>
                </a:solidFill>
                <a:latin typeface="Calibri"/>
              </a:rPr>
              <a:t>Las reglas manuales son rápidas, pero frágiles ante cambios de luz o fondo.</a:t>
            </a:r>
          </a:p>
        </p:txBody>
      </p:sp>
      <p:sp>
        <p:nvSpPr>
          <p:cNvPr id="13" name="Oval 12"/>
          <p:cNvSpPr/>
          <p:nvPr/>
        </p:nvSpPr>
        <p:spPr>
          <a:xfrm>
            <a:off x="548640" y="301752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text_w.png"/>
          <p:cNvPicPr>
            <a:picLocks noChangeAspect="1"/>
          </p:cNvPicPr>
          <p:nvPr/>
        </p:nvPicPr>
        <p:blipFill>
          <a:blip r:embed="rId6"/>
          <a:stretch>
            <a:fillRect/>
          </a:stretch>
        </p:blipFill>
        <p:spPr>
          <a:xfrm>
            <a:off x="679399" y="3148279"/>
            <a:ext cx="332841" cy="332841"/>
          </a:xfrm>
          <a:prstGeom prst="rect">
            <a:avLst/>
          </a:prstGeom>
        </p:spPr>
      </p:pic>
      <p:sp>
        <p:nvSpPr>
          <p:cNvPr id="15" name="TextBox 14"/>
          <p:cNvSpPr txBox="1"/>
          <p:nvPr/>
        </p:nvSpPr>
        <p:spPr>
          <a:xfrm>
            <a:off x="1371600" y="2971800"/>
            <a:ext cx="7315200" cy="685800"/>
          </a:xfrm>
          <a:prstGeom prst="rect">
            <a:avLst/>
          </a:prstGeom>
          <a:noFill/>
        </p:spPr>
        <p:txBody>
          <a:bodyPr wrap="square" anchor="ctr">
            <a:spAutoFit/>
          </a:bodyPr>
          <a:lstStyle/>
          <a:p>
            <a:pPr algn="l">
              <a:spcAft>
                <a:spcPts val="600"/>
              </a:spcAft>
            </a:pPr>
            <a:r>
              <a:rPr sz="1600" b="0" i="0">
                <a:solidFill>
                  <a:srgbClr val="262626"/>
                </a:solidFill>
                <a:latin typeface="Calibri"/>
              </a:rPr>
              <a:t>El OCR convierte píxeles en texto con una confianza que hay que validar.</a:t>
            </a:r>
          </a:p>
        </p:txBody>
      </p:sp>
      <p:sp>
        <p:nvSpPr>
          <p:cNvPr id="16" name="Rounded Rectangle 15"/>
          <p:cNvSpPr/>
          <p:nvPr/>
        </p:nvSpPr>
        <p:spPr>
          <a:xfrm>
            <a:off x="457200" y="4114800"/>
            <a:ext cx="8229600" cy="210312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685800" y="434340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event_w.png"/>
          <p:cNvPicPr>
            <a:picLocks noChangeAspect="1"/>
          </p:cNvPicPr>
          <p:nvPr/>
        </p:nvPicPr>
        <p:blipFill>
          <a:blip r:embed="rId7"/>
          <a:stretch>
            <a:fillRect/>
          </a:stretch>
        </p:blipFill>
        <p:spPr>
          <a:xfrm>
            <a:off x="826617" y="4484217"/>
            <a:ext cx="358444" cy="358444"/>
          </a:xfrm>
          <a:prstGeom prst="rect">
            <a:avLst/>
          </a:prstGeom>
        </p:spPr>
      </p:pic>
      <p:sp>
        <p:nvSpPr>
          <p:cNvPr id="19" name="TextBox 18"/>
          <p:cNvSpPr txBox="1"/>
          <p:nvPr/>
        </p:nvSpPr>
        <p:spPr>
          <a:xfrm>
            <a:off x="1554480" y="4251960"/>
            <a:ext cx="6949440" cy="411480"/>
          </a:xfrm>
          <a:prstGeom prst="rect">
            <a:avLst/>
          </a:prstGeom>
          <a:noFill/>
        </p:spPr>
        <p:txBody>
          <a:bodyPr wrap="square" anchor="t">
            <a:spAutoFit/>
          </a:bodyPr>
          <a:lstStyle/>
          <a:p>
            <a:pPr algn="l">
              <a:spcAft>
                <a:spcPts val="600"/>
              </a:spcAft>
            </a:pPr>
            <a:r>
              <a:rPr sz="1800" b="1" i="0">
                <a:solidFill>
                  <a:srgbClr val="8E1B1B"/>
                </a:solidFill>
                <a:latin typeface="Calibri"/>
              </a:rPr>
              <a:t>Para la próxima clase</a:t>
            </a:r>
          </a:p>
        </p:txBody>
      </p:sp>
      <p:sp>
        <p:nvSpPr>
          <p:cNvPr id="20" name="TextBox 19"/>
          <p:cNvSpPr txBox="1"/>
          <p:nvPr/>
        </p:nvSpPr>
        <p:spPr>
          <a:xfrm>
            <a:off x="1554480" y="4709160"/>
            <a:ext cx="6949440" cy="1463040"/>
          </a:xfrm>
          <a:prstGeom prst="rect">
            <a:avLst/>
          </a:prstGeom>
          <a:noFill/>
        </p:spPr>
        <p:txBody>
          <a:bodyPr wrap="square" anchor="t">
            <a:spAutoFit/>
          </a:bodyPr>
          <a:lstStyle/>
          <a:p>
            <a:pPr marL="228600" indent="-201168" algn="l">
              <a:spcAft>
                <a:spcPts val="500"/>
              </a:spcAft>
              <a:buClr>
                <a:srgbClr val="8E1B1B"/>
              </a:buClr>
              <a:buFont typeface="Arial"/>
              <a:buChar char="•"/>
            </a:pPr>
            <a:r>
              <a:rPr sz="1400" b="0" i="0">
                <a:solidFill>
                  <a:srgbClr val="262626"/>
                </a:solidFill>
                <a:latin typeface="Calibri"/>
              </a:rPr>
              <a:t>Traer una </a:t>
            </a:r>
            <a:r>
              <a:rPr sz="1400" b="1" i="0">
                <a:solidFill>
                  <a:srgbClr val="262626"/>
                </a:solidFill>
                <a:latin typeface="Calibri"/>
              </a:rPr>
              <a:t>webcam</a:t>
            </a:r>
            <a:r>
              <a:rPr sz="1400" b="0" i="0">
                <a:solidFill>
                  <a:srgbClr val="262626"/>
                </a:solidFill>
                <a:latin typeface="Calibri"/>
              </a:rPr>
              <a:t> (USB, la del notebook o el celular como cámara).</a:t>
            </a:r>
          </a:p>
          <a:p>
            <a:pPr marL="228600" indent="-201168" algn="l">
              <a:spcAft>
                <a:spcPts val="500"/>
              </a:spcAft>
              <a:buClr>
                <a:srgbClr val="8E1B1B"/>
              </a:buClr>
              <a:buFont typeface="Arial"/>
              <a:buChar char="•"/>
            </a:pPr>
            <a:r>
              <a:rPr sz="1400" b="0" i="0">
                <a:solidFill>
                  <a:srgbClr val="262626"/>
                </a:solidFill>
                <a:latin typeface="Calibri"/>
              </a:rPr>
              <a:t>Tener el entorno funcionando: </a:t>
            </a:r>
            <a:r>
              <a:rPr sz="1300" b="0" i="0">
                <a:solidFill>
                  <a:srgbClr val="8E1B1B"/>
                </a:solidFill>
                <a:latin typeface="Courier New"/>
              </a:rPr>
              <a:t>00_verificar_entorno.py</a:t>
            </a:r>
            <a:r>
              <a:rPr sz="1400" b="0" i="0">
                <a:solidFill>
                  <a:srgbClr val="262626"/>
                </a:solidFill>
                <a:latin typeface="Calibri"/>
              </a:rPr>
              <a:t> todo en OK.</a:t>
            </a:r>
          </a:p>
          <a:p>
            <a:pPr marL="228600" indent="-201168" algn="l">
              <a:spcAft>
                <a:spcPts val="500"/>
              </a:spcAft>
              <a:buClr>
                <a:srgbClr val="8E1B1B"/>
              </a:buClr>
              <a:buFont typeface="Arial"/>
              <a:buChar char="•"/>
            </a:pPr>
            <a:r>
              <a:rPr sz="1400" b="0" i="0">
                <a:solidFill>
                  <a:srgbClr val="262626"/>
                </a:solidFill>
                <a:latin typeface="Calibri"/>
              </a:rPr>
              <a:t>Si quieres adelantarte: prueba </a:t>
            </a:r>
            <a:r>
              <a:rPr sz="1300" b="0" i="0">
                <a:solidFill>
                  <a:srgbClr val="8E1B1B"/>
                </a:solidFill>
                <a:latin typeface="Courier New"/>
              </a:rPr>
              <a:t>04_yolo_imagen.py</a:t>
            </a:r>
            <a:r>
              <a:rPr sz="1400" b="0" i="0">
                <a:solidFill>
                  <a:srgbClr val="262626"/>
                </a:solidFill>
                <a:latin typeface="Calibri"/>
              </a:rPr>
              <a:t> con tus fotos.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8E1B1B"/>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548640" y="2743200"/>
            <a:ext cx="822960" cy="768096"/>
          </a:xfrm>
          <a:prstGeom prst="rect">
            <a:avLst/>
          </a:prstGeom>
        </p:spPr>
      </p:pic>
      <p:sp>
        <p:nvSpPr>
          <p:cNvPr id="4" name="TextBox 3"/>
          <p:cNvSpPr txBox="1"/>
          <p:nvPr/>
        </p:nvSpPr>
        <p:spPr>
          <a:xfrm>
            <a:off x="548640" y="3611880"/>
            <a:ext cx="8046720" cy="411480"/>
          </a:xfrm>
          <a:prstGeom prst="rect">
            <a:avLst/>
          </a:prstGeom>
          <a:noFill/>
        </p:spPr>
        <p:txBody>
          <a:bodyPr wrap="square" lIns="0" tIns="0" rIns="0" bIns="0" anchor="t">
            <a:spAutoFit/>
          </a:bodyPr>
          <a:lstStyle/>
          <a:p>
            <a:pPr algn="l">
              <a:spcAft>
                <a:spcPts val="600"/>
              </a:spcAft>
            </a:pPr>
            <a:r>
              <a:rPr sz="1400" b="1" i="0">
                <a:solidFill>
                  <a:srgbClr val="F2D6D6"/>
                </a:solidFill>
                <a:latin typeface="Calibri"/>
              </a:rPr>
              <a:t>CLASE 2</a:t>
            </a:r>
          </a:p>
        </p:txBody>
      </p:sp>
      <p:sp>
        <p:nvSpPr>
          <p:cNvPr id="5" name="TextBox 4"/>
          <p:cNvSpPr txBox="1"/>
          <p:nvPr/>
        </p:nvSpPr>
        <p:spPr>
          <a:xfrm>
            <a:off x="548640" y="3977639"/>
            <a:ext cx="8046720" cy="914400"/>
          </a:xfrm>
          <a:prstGeom prst="rect">
            <a:avLst/>
          </a:prstGeom>
          <a:noFill/>
        </p:spPr>
        <p:txBody>
          <a:bodyPr wrap="square" lIns="0" tIns="0" rIns="0" bIns="0" anchor="t">
            <a:spAutoFit/>
          </a:bodyPr>
          <a:lstStyle/>
          <a:p>
            <a:pPr algn="l">
              <a:spcAft>
                <a:spcPts val="600"/>
              </a:spcAft>
            </a:pPr>
            <a:r>
              <a:rPr sz="3400" b="1" i="0">
                <a:solidFill>
                  <a:srgbClr val="FFFFFF"/>
                </a:solidFill>
                <a:latin typeface="Calibri"/>
              </a:rPr>
              <a:t>Reconocimiento de objetos con YOLO</a:t>
            </a:r>
          </a:p>
        </p:txBody>
      </p:sp>
      <p:sp>
        <p:nvSpPr>
          <p:cNvPr id="6" name="TextBox 5"/>
          <p:cNvSpPr txBox="1"/>
          <p:nvPr/>
        </p:nvSpPr>
        <p:spPr>
          <a:xfrm>
            <a:off x="548640" y="4892040"/>
            <a:ext cx="8046720" cy="731520"/>
          </a:xfrm>
          <a:prstGeom prst="rect">
            <a:avLst/>
          </a:prstGeom>
          <a:noFill/>
        </p:spPr>
        <p:txBody>
          <a:bodyPr wrap="square" lIns="0" tIns="0" rIns="0" bIns="0" anchor="t">
            <a:spAutoFit/>
          </a:bodyPr>
          <a:lstStyle/>
          <a:p>
            <a:pPr algn="l">
              <a:spcAft>
                <a:spcPts val="600"/>
              </a:spcAft>
            </a:pPr>
            <a:r>
              <a:rPr sz="1600" b="0" i="1">
                <a:solidFill>
                  <a:srgbClr val="F2D6D6"/>
                </a:solidFill>
                <a:latin typeface="Calibri"/>
              </a:rPr>
              <a:t>You Only Look Once — «solo miras una vez»</a:t>
            </a:r>
          </a:p>
        </p:txBody>
      </p:sp>
      <p:sp>
        <p:nvSpPr>
          <p:cNvPr id="7" name="TextBox 6"/>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E8C9C9"/>
                </a:solidFill>
                <a:latin typeface="Calibri"/>
              </a:rPr>
              <a:t>Tecnologías Disruptivas  ·  Escuela de Informática  ·  Universidad Andrés Bello</a:t>
            </a:r>
          </a:p>
        </p:txBody>
      </p:sp>
      <p:sp>
        <p:nvSpPr>
          <p:cNvPr id="8" name="TextBox 7"/>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E8C9C9"/>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Cuatro preguntas que puede responder la visión</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25</a:t>
            </a:r>
          </a:p>
        </p:txBody>
      </p:sp>
      <p:pic>
        <p:nvPicPr>
          <p:cNvPr id="7" name="Picture 6" descr="t_cls.jpg"/>
          <p:cNvPicPr>
            <a:picLocks noChangeAspect="1"/>
          </p:cNvPicPr>
          <p:nvPr/>
        </p:nvPicPr>
        <p:blipFill>
          <a:blip r:embed="rId5"/>
          <a:stretch>
            <a:fillRect/>
          </a:stretch>
        </p:blipFill>
        <p:spPr>
          <a:xfrm>
            <a:off x="457200" y="1097280"/>
            <a:ext cx="2103120" cy="1973298"/>
          </a:xfrm>
          <a:prstGeom prst="rect">
            <a:avLst/>
          </a:prstGeom>
        </p:spPr>
      </p:pic>
      <p:sp>
        <p:nvSpPr>
          <p:cNvPr id="8" name="TextBox 7"/>
          <p:cNvSpPr txBox="1"/>
          <p:nvPr/>
        </p:nvSpPr>
        <p:spPr>
          <a:xfrm>
            <a:off x="2697480" y="1143000"/>
            <a:ext cx="1828800" cy="411480"/>
          </a:xfrm>
          <a:prstGeom prst="rect">
            <a:avLst/>
          </a:prstGeom>
          <a:noFill/>
        </p:spPr>
        <p:txBody>
          <a:bodyPr wrap="square" lIns="0" tIns="0" rIns="0" bIns="0" anchor="t">
            <a:spAutoFit/>
          </a:bodyPr>
          <a:lstStyle/>
          <a:p>
            <a:pPr algn="l">
              <a:spcAft>
                <a:spcPts val="600"/>
              </a:spcAft>
            </a:pPr>
            <a:r>
              <a:rPr sz="1700" b="1" i="0">
                <a:solidFill>
                  <a:srgbClr val="8E1B1B"/>
                </a:solidFill>
                <a:latin typeface="Calibri"/>
              </a:rPr>
              <a:t>Clasificación</a:t>
            </a:r>
          </a:p>
        </p:txBody>
      </p:sp>
      <p:sp>
        <p:nvSpPr>
          <p:cNvPr id="9" name="TextBox 8"/>
          <p:cNvSpPr txBox="1"/>
          <p:nvPr/>
        </p:nvSpPr>
        <p:spPr>
          <a:xfrm>
            <a:off x="2697480" y="1600200"/>
            <a:ext cx="1874519" cy="1371600"/>
          </a:xfrm>
          <a:prstGeom prst="rect">
            <a:avLst/>
          </a:prstGeom>
          <a:noFill/>
        </p:spPr>
        <p:txBody>
          <a:bodyPr wrap="square" lIns="0" tIns="0" rIns="0" bIns="0" anchor="t">
            <a:spAutoFit/>
          </a:bodyPr>
          <a:lstStyle/>
          <a:p>
            <a:pPr algn="l">
              <a:spcAft>
                <a:spcPts val="600"/>
              </a:spcAft>
            </a:pPr>
            <a:r>
              <a:rPr sz="1400" b="0" i="0">
                <a:solidFill>
                  <a:srgbClr val="262626"/>
                </a:solidFill>
                <a:latin typeface="Calibri"/>
              </a:rPr>
              <a:t>¿Qué es la imagen? Una etiqueta para todo.</a:t>
            </a:r>
          </a:p>
        </p:txBody>
      </p:sp>
      <p:pic>
        <p:nvPicPr>
          <p:cNvPr id="10" name="Picture 9" descr="t_det.jpg"/>
          <p:cNvPicPr>
            <a:picLocks noChangeAspect="1"/>
          </p:cNvPicPr>
          <p:nvPr/>
        </p:nvPicPr>
        <p:blipFill>
          <a:blip r:embed="rId6"/>
          <a:stretch>
            <a:fillRect/>
          </a:stretch>
        </p:blipFill>
        <p:spPr>
          <a:xfrm>
            <a:off x="4663440" y="1097280"/>
            <a:ext cx="2103120" cy="1973298"/>
          </a:xfrm>
          <a:prstGeom prst="rect">
            <a:avLst/>
          </a:prstGeom>
        </p:spPr>
      </p:pic>
      <p:sp>
        <p:nvSpPr>
          <p:cNvPr id="11" name="TextBox 10"/>
          <p:cNvSpPr txBox="1"/>
          <p:nvPr/>
        </p:nvSpPr>
        <p:spPr>
          <a:xfrm>
            <a:off x="6903720" y="1143000"/>
            <a:ext cx="1828800" cy="411480"/>
          </a:xfrm>
          <a:prstGeom prst="rect">
            <a:avLst/>
          </a:prstGeom>
          <a:noFill/>
        </p:spPr>
        <p:txBody>
          <a:bodyPr wrap="square" lIns="0" tIns="0" rIns="0" bIns="0" anchor="t">
            <a:spAutoFit/>
          </a:bodyPr>
          <a:lstStyle/>
          <a:p>
            <a:pPr algn="l">
              <a:spcAft>
                <a:spcPts val="600"/>
              </a:spcAft>
            </a:pPr>
            <a:r>
              <a:rPr sz="1700" b="1" i="0">
                <a:solidFill>
                  <a:srgbClr val="8E1B1B"/>
                </a:solidFill>
                <a:latin typeface="Calibri"/>
              </a:rPr>
              <a:t>Detección</a:t>
            </a:r>
          </a:p>
        </p:txBody>
      </p:sp>
      <p:sp>
        <p:nvSpPr>
          <p:cNvPr id="12" name="TextBox 11"/>
          <p:cNvSpPr txBox="1"/>
          <p:nvPr/>
        </p:nvSpPr>
        <p:spPr>
          <a:xfrm>
            <a:off x="6903720" y="1600200"/>
            <a:ext cx="1874519" cy="1371600"/>
          </a:xfrm>
          <a:prstGeom prst="rect">
            <a:avLst/>
          </a:prstGeom>
          <a:noFill/>
        </p:spPr>
        <p:txBody>
          <a:bodyPr wrap="square" lIns="0" tIns="0" rIns="0" bIns="0" anchor="t">
            <a:spAutoFit/>
          </a:bodyPr>
          <a:lstStyle/>
          <a:p>
            <a:pPr algn="l">
              <a:spcAft>
                <a:spcPts val="600"/>
              </a:spcAft>
            </a:pPr>
            <a:r>
              <a:rPr sz="1400" b="0" i="0">
                <a:solidFill>
                  <a:srgbClr val="262626"/>
                </a:solidFill>
                <a:latin typeface="Calibri"/>
              </a:rPr>
              <a:t>¿Qué objetos hay y dónde? Cajas + clase.</a:t>
            </a:r>
          </a:p>
        </p:txBody>
      </p:sp>
      <p:pic>
        <p:nvPicPr>
          <p:cNvPr id="13" name="Picture 12" descr="t_seg.jpg"/>
          <p:cNvPicPr>
            <a:picLocks noChangeAspect="1"/>
          </p:cNvPicPr>
          <p:nvPr/>
        </p:nvPicPr>
        <p:blipFill>
          <a:blip r:embed="rId7"/>
          <a:stretch>
            <a:fillRect/>
          </a:stretch>
        </p:blipFill>
        <p:spPr>
          <a:xfrm>
            <a:off x="457200" y="3703320"/>
            <a:ext cx="2103120" cy="1973298"/>
          </a:xfrm>
          <a:prstGeom prst="rect">
            <a:avLst/>
          </a:prstGeom>
        </p:spPr>
      </p:pic>
      <p:sp>
        <p:nvSpPr>
          <p:cNvPr id="14" name="TextBox 13"/>
          <p:cNvSpPr txBox="1"/>
          <p:nvPr/>
        </p:nvSpPr>
        <p:spPr>
          <a:xfrm>
            <a:off x="2697480" y="3749039"/>
            <a:ext cx="1828800" cy="411480"/>
          </a:xfrm>
          <a:prstGeom prst="rect">
            <a:avLst/>
          </a:prstGeom>
          <a:noFill/>
        </p:spPr>
        <p:txBody>
          <a:bodyPr wrap="square" lIns="0" tIns="0" rIns="0" bIns="0" anchor="t">
            <a:spAutoFit/>
          </a:bodyPr>
          <a:lstStyle/>
          <a:p>
            <a:pPr algn="l">
              <a:spcAft>
                <a:spcPts val="600"/>
              </a:spcAft>
            </a:pPr>
            <a:r>
              <a:rPr sz="1700" b="1" i="0">
                <a:solidFill>
                  <a:srgbClr val="8E1B1B"/>
                </a:solidFill>
                <a:latin typeface="Calibri"/>
              </a:rPr>
              <a:t>Segmentación</a:t>
            </a:r>
          </a:p>
        </p:txBody>
      </p:sp>
      <p:sp>
        <p:nvSpPr>
          <p:cNvPr id="15" name="TextBox 14"/>
          <p:cNvSpPr txBox="1"/>
          <p:nvPr/>
        </p:nvSpPr>
        <p:spPr>
          <a:xfrm>
            <a:off x="2697480" y="4206240"/>
            <a:ext cx="1874519" cy="1371600"/>
          </a:xfrm>
          <a:prstGeom prst="rect">
            <a:avLst/>
          </a:prstGeom>
          <a:noFill/>
        </p:spPr>
        <p:txBody>
          <a:bodyPr wrap="square" lIns="0" tIns="0" rIns="0" bIns="0" anchor="t">
            <a:spAutoFit/>
          </a:bodyPr>
          <a:lstStyle/>
          <a:p>
            <a:pPr algn="l">
              <a:spcAft>
                <a:spcPts val="600"/>
              </a:spcAft>
            </a:pPr>
            <a:r>
              <a:rPr sz="1400" b="0" i="0">
                <a:solidFill>
                  <a:srgbClr val="262626"/>
                </a:solidFill>
                <a:latin typeface="Calibri"/>
              </a:rPr>
              <a:t>¿Qué píxeles son de cada objeto?</a:t>
            </a:r>
          </a:p>
        </p:txBody>
      </p:sp>
      <p:pic>
        <p:nvPicPr>
          <p:cNvPr id="16" name="Picture 15" descr="t_pose.jpg"/>
          <p:cNvPicPr>
            <a:picLocks noChangeAspect="1"/>
          </p:cNvPicPr>
          <p:nvPr/>
        </p:nvPicPr>
        <p:blipFill>
          <a:blip r:embed="rId8"/>
          <a:stretch>
            <a:fillRect/>
          </a:stretch>
        </p:blipFill>
        <p:spPr>
          <a:xfrm>
            <a:off x="4663440" y="3703320"/>
            <a:ext cx="2103120" cy="1973298"/>
          </a:xfrm>
          <a:prstGeom prst="rect">
            <a:avLst/>
          </a:prstGeom>
        </p:spPr>
      </p:pic>
      <p:sp>
        <p:nvSpPr>
          <p:cNvPr id="17" name="TextBox 16"/>
          <p:cNvSpPr txBox="1"/>
          <p:nvPr/>
        </p:nvSpPr>
        <p:spPr>
          <a:xfrm>
            <a:off x="6903720" y="3749039"/>
            <a:ext cx="1828800" cy="411480"/>
          </a:xfrm>
          <a:prstGeom prst="rect">
            <a:avLst/>
          </a:prstGeom>
          <a:noFill/>
        </p:spPr>
        <p:txBody>
          <a:bodyPr wrap="square" lIns="0" tIns="0" rIns="0" bIns="0" anchor="t">
            <a:spAutoFit/>
          </a:bodyPr>
          <a:lstStyle/>
          <a:p>
            <a:pPr algn="l">
              <a:spcAft>
                <a:spcPts val="600"/>
              </a:spcAft>
            </a:pPr>
            <a:r>
              <a:rPr sz="1700" b="1" i="0">
                <a:solidFill>
                  <a:srgbClr val="8E1B1B"/>
                </a:solidFill>
                <a:latin typeface="Calibri"/>
              </a:rPr>
              <a:t>Pose</a:t>
            </a:r>
          </a:p>
        </p:txBody>
      </p:sp>
      <p:sp>
        <p:nvSpPr>
          <p:cNvPr id="18" name="TextBox 17"/>
          <p:cNvSpPr txBox="1"/>
          <p:nvPr/>
        </p:nvSpPr>
        <p:spPr>
          <a:xfrm>
            <a:off x="6903720" y="4206240"/>
            <a:ext cx="1874519" cy="1371600"/>
          </a:xfrm>
          <a:prstGeom prst="rect">
            <a:avLst/>
          </a:prstGeom>
          <a:noFill/>
        </p:spPr>
        <p:txBody>
          <a:bodyPr wrap="square" lIns="0" tIns="0" rIns="0" bIns="0" anchor="t">
            <a:spAutoFit/>
          </a:bodyPr>
          <a:lstStyle/>
          <a:p>
            <a:pPr algn="l">
              <a:spcAft>
                <a:spcPts val="600"/>
              </a:spcAft>
            </a:pPr>
            <a:r>
              <a:rPr sz="1400" b="0" i="0">
                <a:solidFill>
                  <a:srgbClr val="262626"/>
                </a:solidFill>
                <a:latin typeface="Calibri"/>
              </a:rPr>
              <a:t>¿Dónde están los puntos clave del cuerpo?</a:t>
            </a:r>
          </a:p>
        </p:txBody>
      </p:sp>
      <p:sp>
        <p:nvSpPr>
          <p:cNvPr id="19" name="TextBox 18"/>
          <p:cNvSpPr txBox="1"/>
          <p:nvPr/>
        </p:nvSpPr>
        <p:spPr>
          <a:xfrm>
            <a:off x="457200" y="6172200"/>
            <a:ext cx="8229600" cy="320040"/>
          </a:xfrm>
          <a:prstGeom prst="rect">
            <a:avLst/>
          </a:prstGeom>
          <a:noFill/>
        </p:spPr>
        <p:txBody>
          <a:bodyPr wrap="square" anchor="t">
            <a:spAutoFit/>
          </a:bodyPr>
          <a:lstStyle/>
          <a:p>
            <a:pPr algn="l">
              <a:spcAft>
                <a:spcPts val="600"/>
              </a:spcAft>
            </a:pPr>
            <a:r>
              <a:rPr sz="1100" b="0" i="1">
                <a:solidFill>
                  <a:srgbClr val="707070"/>
                </a:solidFill>
                <a:latin typeface="Calibri"/>
              </a:rPr>
              <a:t>Resultados reales de YOLO26n sobre la misma foto. Hoy nos enfocamos en la detección.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¿Cómo funciona YOLO?</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26</a:t>
            </a:r>
          </a:p>
        </p:txBody>
      </p:sp>
      <p:pic>
        <p:nvPicPr>
          <p:cNvPr id="7" name="Picture 6" descr="yolo_grilla.jpg"/>
          <p:cNvPicPr>
            <a:picLocks noChangeAspect="1"/>
          </p:cNvPicPr>
          <p:nvPr/>
        </p:nvPicPr>
        <p:blipFill>
          <a:blip r:embed="rId5"/>
          <a:stretch>
            <a:fillRect/>
          </a:stretch>
        </p:blipFill>
        <p:spPr>
          <a:xfrm>
            <a:off x="457200" y="1097280"/>
            <a:ext cx="4288055" cy="4023360"/>
          </a:xfrm>
          <a:prstGeom prst="rect">
            <a:avLst/>
          </a:prstGeom>
        </p:spPr>
      </p:pic>
      <p:sp>
        <p:nvSpPr>
          <p:cNvPr id="8" name="Oval 7"/>
          <p:cNvSpPr/>
          <p:nvPr/>
        </p:nvSpPr>
        <p:spPr>
          <a:xfrm>
            <a:off x="4892040" y="1143000"/>
            <a:ext cx="411480" cy="4114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892040" y="1143000"/>
            <a:ext cx="411480" cy="411480"/>
          </a:xfrm>
          <a:prstGeom prst="rect">
            <a:avLst/>
          </a:prstGeom>
          <a:noFill/>
        </p:spPr>
        <p:txBody>
          <a:bodyPr wrap="square" lIns="0" tIns="0" rIns="0" bIns="0" anchor="ctr">
            <a:spAutoFit/>
          </a:bodyPr>
          <a:lstStyle/>
          <a:p>
            <a:pPr algn="ctr">
              <a:spcAft>
                <a:spcPts val="600"/>
              </a:spcAft>
            </a:pPr>
            <a:r>
              <a:rPr sz="1400" b="1" i="0">
                <a:solidFill>
                  <a:srgbClr val="FFFFFF"/>
                </a:solidFill>
                <a:latin typeface="Calibri"/>
              </a:rPr>
              <a:t>1</a:t>
            </a:r>
          </a:p>
        </p:txBody>
      </p:sp>
      <p:sp>
        <p:nvSpPr>
          <p:cNvPr id="10" name="TextBox 9"/>
          <p:cNvSpPr txBox="1"/>
          <p:nvPr/>
        </p:nvSpPr>
        <p:spPr>
          <a:xfrm>
            <a:off x="5440680" y="1069848"/>
            <a:ext cx="3246120" cy="914400"/>
          </a:xfrm>
          <a:prstGeom prst="rect">
            <a:avLst/>
          </a:prstGeom>
          <a:noFill/>
        </p:spPr>
        <p:txBody>
          <a:bodyPr wrap="square" anchor="t">
            <a:spAutoFit/>
          </a:bodyPr>
          <a:lstStyle/>
          <a:p>
            <a:pPr algn="l">
              <a:spcAft>
                <a:spcPts val="600"/>
              </a:spcAft>
            </a:pPr>
            <a:r>
              <a:rPr sz="1400" b="0" i="0">
                <a:solidFill>
                  <a:srgbClr val="262626"/>
                </a:solidFill>
                <a:latin typeface="Calibri"/>
              </a:rPr>
              <a:t>Divide la imagen en una </a:t>
            </a:r>
            <a:r>
              <a:rPr sz="1400" b="1" i="0">
                <a:solidFill>
                  <a:srgbClr val="262626"/>
                </a:solidFill>
                <a:latin typeface="Calibri"/>
              </a:rPr>
              <a:t>grilla</a:t>
            </a:r>
            <a:r>
              <a:rPr sz="1400" b="0" i="0">
                <a:solidFill>
                  <a:srgbClr val="262626"/>
                </a:solidFill>
                <a:latin typeface="Calibri"/>
              </a:rPr>
              <a:t>.</a:t>
            </a:r>
          </a:p>
        </p:txBody>
      </p:sp>
      <p:sp>
        <p:nvSpPr>
          <p:cNvPr id="11" name="Oval 10"/>
          <p:cNvSpPr/>
          <p:nvPr/>
        </p:nvSpPr>
        <p:spPr>
          <a:xfrm>
            <a:off x="4892040" y="2130552"/>
            <a:ext cx="411480" cy="4114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892040" y="2130552"/>
            <a:ext cx="411480" cy="411480"/>
          </a:xfrm>
          <a:prstGeom prst="rect">
            <a:avLst/>
          </a:prstGeom>
          <a:noFill/>
        </p:spPr>
        <p:txBody>
          <a:bodyPr wrap="square" lIns="0" tIns="0" rIns="0" bIns="0" anchor="ctr">
            <a:spAutoFit/>
          </a:bodyPr>
          <a:lstStyle/>
          <a:p>
            <a:pPr algn="ctr">
              <a:spcAft>
                <a:spcPts val="600"/>
              </a:spcAft>
            </a:pPr>
            <a:r>
              <a:rPr sz="1400" b="1" i="0">
                <a:solidFill>
                  <a:srgbClr val="FFFFFF"/>
                </a:solidFill>
                <a:latin typeface="Calibri"/>
              </a:rPr>
              <a:t>2</a:t>
            </a:r>
          </a:p>
        </p:txBody>
      </p:sp>
      <p:sp>
        <p:nvSpPr>
          <p:cNvPr id="13" name="TextBox 12"/>
          <p:cNvSpPr txBox="1"/>
          <p:nvPr/>
        </p:nvSpPr>
        <p:spPr>
          <a:xfrm>
            <a:off x="5440680" y="2057400"/>
            <a:ext cx="3246120" cy="914400"/>
          </a:xfrm>
          <a:prstGeom prst="rect">
            <a:avLst/>
          </a:prstGeom>
          <a:noFill/>
        </p:spPr>
        <p:txBody>
          <a:bodyPr wrap="square" anchor="t">
            <a:spAutoFit/>
          </a:bodyPr>
          <a:lstStyle/>
          <a:p>
            <a:pPr algn="l">
              <a:spcAft>
                <a:spcPts val="600"/>
              </a:spcAft>
            </a:pPr>
            <a:r>
              <a:rPr sz="1400" b="0" i="0">
                <a:solidFill>
                  <a:srgbClr val="262626"/>
                </a:solidFill>
                <a:latin typeface="Calibri"/>
              </a:rPr>
              <a:t>La celda que contiene el </a:t>
            </a:r>
            <a:r>
              <a:rPr sz="1400" b="1" i="0">
                <a:solidFill>
                  <a:srgbClr val="262626"/>
                </a:solidFill>
                <a:latin typeface="Calibri"/>
              </a:rPr>
              <a:t>centro</a:t>
            </a:r>
            <a:r>
              <a:rPr sz="1400" b="0" i="0">
                <a:solidFill>
                  <a:srgbClr val="262626"/>
                </a:solidFill>
                <a:latin typeface="Calibri"/>
              </a:rPr>
              <a:t> del objeto se hace responsable de él.</a:t>
            </a:r>
          </a:p>
        </p:txBody>
      </p:sp>
      <p:sp>
        <p:nvSpPr>
          <p:cNvPr id="14" name="Oval 13"/>
          <p:cNvSpPr/>
          <p:nvPr/>
        </p:nvSpPr>
        <p:spPr>
          <a:xfrm>
            <a:off x="4892040" y="3118104"/>
            <a:ext cx="411480" cy="4114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892040" y="3118104"/>
            <a:ext cx="411480" cy="411480"/>
          </a:xfrm>
          <a:prstGeom prst="rect">
            <a:avLst/>
          </a:prstGeom>
          <a:noFill/>
        </p:spPr>
        <p:txBody>
          <a:bodyPr wrap="square" lIns="0" tIns="0" rIns="0" bIns="0" anchor="ctr">
            <a:spAutoFit/>
          </a:bodyPr>
          <a:lstStyle/>
          <a:p>
            <a:pPr algn="ctr">
              <a:spcAft>
                <a:spcPts val="600"/>
              </a:spcAft>
            </a:pPr>
            <a:r>
              <a:rPr sz="1400" b="1" i="0">
                <a:solidFill>
                  <a:srgbClr val="FFFFFF"/>
                </a:solidFill>
                <a:latin typeface="Calibri"/>
              </a:rPr>
              <a:t>3</a:t>
            </a:r>
          </a:p>
        </p:txBody>
      </p:sp>
      <p:sp>
        <p:nvSpPr>
          <p:cNvPr id="16" name="TextBox 15"/>
          <p:cNvSpPr txBox="1"/>
          <p:nvPr/>
        </p:nvSpPr>
        <p:spPr>
          <a:xfrm>
            <a:off x="5440680" y="3044952"/>
            <a:ext cx="3246120" cy="914400"/>
          </a:xfrm>
          <a:prstGeom prst="rect">
            <a:avLst/>
          </a:prstGeom>
          <a:noFill/>
        </p:spPr>
        <p:txBody>
          <a:bodyPr wrap="square" anchor="t">
            <a:spAutoFit/>
          </a:bodyPr>
          <a:lstStyle/>
          <a:p>
            <a:pPr algn="l">
              <a:spcAft>
                <a:spcPts val="600"/>
              </a:spcAft>
            </a:pPr>
            <a:r>
              <a:rPr sz="1400" b="0" i="0">
                <a:solidFill>
                  <a:srgbClr val="262626"/>
                </a:solidFill>
                <a:latin typeface="Calibri"/>
              </a:rPr>
              <a:t>Predice </a:t>
            </a:r>
            <a:r>
              <a:rPr sz="1400" b="1" i="0">
                <a:solidFill>
                  <a:srgbClr val="262626"/>
                </a:solidFill>
                <a:latin typeface="Calibri"/>
              </a:rPr>
              <a:t>caja, clase y confianza</a:t>
            </a:r>
            <a:r>
              <a:rPr sz="1400" b="0" i="0">
                <a:solidFill>
                  <a:srgbClr val="262626"/>
                </a:solidFill>
                <a:latin typeface="Calibri"/>
              </a:rPr>
              <a:t> para todas las celdas a la vez.</a:t>
            </a:r>
          </a:p>
        </p:txBody>
      </p:sp>
      <p:sp>
        <p:nvSpPr>
          <p:cNvPr id="17" name="Oval 16"/>
          <p:cNvSpPr/>
          <p:nvPr/>
        </p:nvSpPr>
        <p:spPr>
          <a:xfrm>
            <a:off x="4892040" y="4105656"/>
            <a:ext cx="411480" cy="4114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892040" y="4105656"/>
            <a:ext cx="411480" cy="411480"/>
          </a:xfrm>
          <a:prstGeom prst="rect">
            <a:avLst/>
          </a:prstGeom>
          <a:noFill/>
        </p:spPr>
        <p:txBody>
          <a:bodyPr wrap="square" lIns="0" tIns="0" rIns="0" bIns="0" anchor="ctr">
            <a:spAutoFit/>
          </a:bodyPr>
          <a:lstStyle/>
          <a:p>
            <a:pPr algn="ctr">
              <a:spcAft>
                <a:spcPts val="600"/>
              </a:spcAft>
            </a:pPr>
            <a:r>
              <a:rPr sz="1400" b="1" i="0">
                <a:solidFill>
                  <a:srgbClr val="FFFFFF"/>
                </a:solidFill>
                <a:latin typeface="Calibri"/>
              </a:rPr>
              <a:t>4</a:t>
            </a:r>
          </a:p>
        </p:txBody>
      </p:sp>
      <p:sp>
        <p:nvSpPr>
          <p:cNvPr id="19" name="TextBox 18"/>
          <p:cNvSpPr txBox="1"/>
          <p:nvPr/>
        </p:nvSpPr>
        <p:spPr>
          <a:xfrm>
            <a:off x="5440680" y="4032504"/>
            <a:ext cx="3246120" cy="914400"/>
          </a:xfrm>
          <a:prstGeom prst="rect">
            <a:avLst/>
          </a:prstGeom>
          <a:noFill/>
        </p:spPr>
        <p:txBody>
          <a:bodyPr wrap="square" anchor="t">
            <a:spAutoFit/>
          </a:bodyPr>
          <a:lstStyle/>
          <a:p>
            <a:pPr algn="l">
              <a:spcAft>
                <a:spcPts val="600"/>
              </a:spcAft>
            </a:pPr>
            <a:r>
              <a:rPr sz="1400" b="0" i="0">
                <a:solidFill>
                  <a:srgbClr val="262626"/>
                </a:solidFill>
                <a:latin typeface="Calibri"/>
              </a:rPr>
              <a:t>Se quedan las predicciones con confianza alta (ej.: ≥ 50 %).</a:t>
            </a:r>
          </a:p>
        </p:txBody>
      </p:sp>
      <p:sp>
        <p:nvSpPr>
          <p:cNvPr id="20" name="Rounded Rectangle 19"/>
          <p:cNvSpPr/>
          <p:nvPr/>
        </p:nvSpPr>
        <p:spPr>
          <a:xfrm>
            <a:off x="457200" y="5349240"/>
            <a:ext cx="8229600" cy="7772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85800" y="5349240"/>
            <a:ext cx="7772400" cy="777240"/>
          </a:xfrm>
          <a:prstGeom prst="rect">
            <a:avLst/>
          </a:prstGeom>
          <a:noFill/>
        </p:spPr>
        <p:txBody>
          <a:bodyPr wrap="square" anchor="ctr">
            <a:spAutoFit/>
          </a:bodyPr>
          <a:lstStyle/>
          <a:p>
            <a:pPr algn="l">
              <a:spcAft>
                <a:spcPts val="600"/>
              </a:spcAft>
            </a:pPr>
            <a:r>
              <a:rPr sz="1500" b="1" i="0">
                <a:solidFill>
                  <a:srgbClr val="262626"/>
                </a:solidFill>
                <a:latin typeface="Calibri"/>
              </a:rPr>
              <a:t>Una sola pasada</a:t>
            </a:r>
            <a:r>
              <a:rPr sz="1500" b="0" i="0">
                <a:solidFill>
                  <a:srgbClr val="262626"/>
                </a:solidFill>
                <a:latin typeface="Calibri"/>
              </a:rPr>
              <a:t> por la red (de ahí «You Only Look Once») → suficientemente rápido para </a:t>
            </a:r>
            <a:r>
              <a:rPr sz="1500" b="1" i="0">
                <a:solidFill>
                  <a:srgbClr val="262626"/>
                </a:solidFill>
                <a:latin typeface="Calibri"/>
              </a:rPr>
              <a:t>video en tiempo real</a:t>
            </a:r>
            <a:r>
              <a:rPr sz="1500" b="0" i="0">
                <a:solidFill>
                  <a:srgbClr val="262626"/>
                </a:solidFill>
                <a:latin typeface="Calibri"/>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¿Qué entrega YOLO?</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27</a:t>
            </a:r>
          </a:p>
        </p:txBody>
      </p:sp>
      <p:pic>
        <p:nvPicPr>
          <p:cNvPr id="7" name="Picture 6" descr="03_yolo.jpg"/>
          <p:cNvPicPr>
            <a:picLocks noChangeAspect="1"/>
          </p:cNvPicPr>
          <p:nvPr/>
        </p:nvPicPr>
        <p:blipFill>
          <a:blip r:embed="rId5"/>
          <a:stretch>
            <a:fillRect/>
          </a:stretch>
        </p:blipFill>
        <p:spPr>
          <a:xfrm>
            <a:off x="457200" y="1097280"/>
            <a:ext cx="3429000" cy="4572000"/>
          </a:xfrm>
          <a:prstGeom prst="rect">
            <a:avLst/>
          </a:prstGeom>
        </p:spPr>
      </p:pic>
      <p:sp>
        <p:nvSpPr>
          <p:cNvPr id="8" name="Rounded Rectangle 7"/>
          <p:cNvSpPr/>
          <p:nvPr/>
        </p:nvSpPr>
        <p:spPr>
          <a:xfrm>
            <a:off x="4526280" y="1097280"/>
            <a:ext cx="4160520" cy="1874519"/>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663440" y="1152144"/>
            <a:ext cx="3886200"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clase   confianza   caja (x1,y1)-(x2,y2)</a:t>
            </a:r>
          </a:p>
        </p:txBody>
      </p:sp>
      <p:sp>
        <p:nvSpPr>
          <p:cNvPr id="10" name="Codigo"/>
          <p:cNvSpPr txBox="1"/>
          <p:nvPr/>
        </p:nvSpPr>
        <p:spPr>
          <a:xfrm>
            <a:off x="4663440" y="1444752"/>
            <a:ext cx="3886200" cy="1490472"/>
          </a:xfrm>
          <a:prstGeom prst="rect">
            <a:avLst/>
          </a:prstGeom>
          <a:noFill/>
        </p:spPr>
        <p:txBody>
          <a:bodyPr wrap="square" lIns="0" tIns="0" rIns="0" bIns="0">
            <a:spAutoFit/>
          </a:bodyPr>
          <a:lstStyle/>
          <a:p>
            <a:pPr>
              <a:spcAft>
                <a:spcPts val="0"/>
              </a:spcAft>
            </a:pPr>
            <a:r>
              <a:rPr sz="1000">
                <a:solidFill>
                  <a:srgbClr val="E6E6E6"/>
                </a:solidFill>
                <a:latin typeface="Courier New"/>
              </a:rPr>
              <a:t>bus          0.88  (0,230)-(803,750)</a:t>
            </a:r>
          </a:p>
          <a:p>
            <a:pPr>
              <a:spcAft>
                <a:spcPts val="0"/>
              </a:spcAft>
            </a:pPr>
            <a:r>
              <a:rPr sz="1000">
                <a:solidFill>
                  <a:srgbClr val="E6E6E6"/>
                </a:solidFill>
                <a:latin typeface="Courier New"/>
              </a:rPr>
              <a:t>person       0.87  (48,397)-(240,902)</a:t>
            </a:r>
          </a:p>
          <a:p>
            <a:pPr>
              <a:spcAft>
                <a:spcPts val="0"/>
              </a:spcAft>
            </a:pPr>
            <a:r>
              <a:rPr sz="1000">
                <a:solidFill>
                  <a:srgbClr val="E6E6E6"/>
                </a:solidFill>
                <a:latin typeface="Courier New"/>
              </a:rPr>
              <a:t>person       0.86  (222,404)-(345,861)</a:t>
            </a:r>
          </a:p>
          <a:p>
            <a:pPr>
              <a:spcAft>
                <a:spcPts val="0"/>
              </a:spcAft>
            </a:pPr>
            <a:r>
              <a:rPr sz="1000">
                <a:solidFill>
                  <a:srgbClr val="E6E6E6"/>
                </a:solidFill>
                <a:latin typeface="Courier New"/>
              </a:rPr>
              <a:t>person       0.85  (669,394)-(809,879)</a:t>
            </a:r>
          </a:p>
          <a:p>
            <a:pPr>
              <a:spcAft>
                <a:spcPts val="0"/>
              </a:spcAft>
            </a:pPr>
            <a:r>
              <a:rPr sz="1000">
                <a:solidFill>
                  <a:srgbClr val="E6E6E6"/>
                </a:solidFill>
                <a:latin typeface="Courier New"/>
              </a:rPr>
              <a:t>person       0.66  (0,552)-(59,871)</a:t>
            </a:r>
          </a:p>
        </p:txBody>
      </p:sp>
      <p:sp>
        <p:nvSpPr>
          <p:cNvPr id="11" name="TextBox 10"/>
          <p:cNvSpPr txBox="1"/>
          <p:nvPr/>
        </p:nvSpPr>
        <p:spPr>
          <a:xfrm>
            <a:off x="4526280" y="3154680"/>
            <a:ext cx="4160520" cy="548640"/>
          </a:xfrm>
          <a:prstGeom prst="rect">
            <a:avLst/>
          </a:prstGeom>
          <a:noFill/>
        </p:spPr>
        <p:txBody>
          <a:bodyPr wrap="square" anchor="t">
            <a:spAutoFit/>
          </a:bodyPr>
          <a:lstStyle/>
          <a:p>
            <a:pPr algn="l">
              <a:spcAft>
                <a:spcPts val="600"/>
              </a:spcAft>
            </a:pPr>
            <a:r>
              <a:rPr sz="1400" b="1" i="0">
                <a:solidFill>
                  <a:srgbClr val="262626"/>
                </a:solidFill>
                <a:latin typeface="Calibri"/>
              </a:rPr>
              <a:t>Clase:</a:t>
            </a:r>
            <a:r>
              <a:rPr sz="1400" b="0" i="0">
                <a:solidFill>
                  <a:srgbClr val="262626"/>
                </a:solidFill>
                <a:latin typeface="Calibri"/>
              </a:rPr>
              <a:t> qué es: una de las 80 clases del dataset COCO.</a:t>
            </a:r>
          </a:p>
        </p:txBody>
      </p:sp>
      <p:sp>
        <p:nvSpPr>
          <p:cNvPr id="12" name="TextBox 11"/>
          <p:cNvSpPr txBox="1"/>
          <p:nvPr/>
        </p:nvSpPr>
        <p:spPr>
          <a:xfrm>
            <a:off x="4526280" y="3721608"/>
            <a:ext cx="4160520" cy="548640"/>
          </a:xfrm>
          <a:prstGeom prst="rect">
            <a:avLst/>
          </a:prstGeom>
          <a:noFill/>
        </p:spPr>
        <p:txBody>
          <a:bodyPr wrap="square" anchor="t">
            <a:spAutoFit/>
          </a:bodyPr>
          <a:lstStyle/>
          <a:p>
            <a:pPr algn="l">
              <a:spcAft>
                <a:spcPts val="600"/>
              </a:spcAft>
            </a:pPr>
            <a:r>
              <a:rPr sz="1400" b="1" i="0">
                <a:solidFill>
                  <a:srgbClr val="262626"/>
                </a:solidFill>
                <a:latin typeface="Calibri"/>
              </a:rPr>
              <a:t>Confianza:</a:t>
            </a:r>
            <a:r>
              <a:rPr sz="1400" b="0" i="0">
                <a:solidFill>
                  <a:srgbClr val="262626"/>
                </a:solidFill>
                <a:latin typeface="Calibri"/>
              </a:rPr>
              <a:t> qué tan seguro está (0 a 1).</a:t>
            </a:r>
          </a:p>
        </p:txBody>
      </p:sp>
      <p:sp>
        <p:nvSpPr>
          <p:cNvPr id="13" name="TextBox 12"/>
          <p:cNvSpPr txBox="1"/>
          <p:nvPr/>
        </p:nvSpPr>
        <p:spPr>
          <a:xfrm>
            <a:off x="4526280" y="4288536"/>
            <a:ext cx="4160520" cy="548640"/>
          </a:xfrm>
          <a:prstGeom prst="rect">
            <a:avLst/>
          </a:prstGeom>
          <a:noFill/>
        </p:spPr>
        <p:txBody>
          <a:bodyPr wrap="square" anchor="t">
            <a:spAutoFit/>
          </a:bodyPr>
          <a:lstStyle/>
          <a:p>
            <a:pPr algn="l">
              <a:spcAft>
                <a:spcPts val="600"/>
              </a:spcAft>
            </a:pPr>
            <a:r>
              <a:rPr sz="1400" b="1" i="0">
                <a:solidFill>
                  <a:srgbClr val="262626"/>
                </a:solidFill>
                <a:latin typeface="Calibri"/>
              </a:rPr>
              <a:t>Caja:</a:t>
            </a:r>
            <a:r>
              <a:rPr sz="1400" b="0" i="0">
                <a:solidFill>
                  <a:srgbClr val="262626"/>
                </a:solidFill>
                <a:latin typeface="Calibri"/>
              </a:rPr>
              <a:t> dónde está: esquinas en píxeles.</a:t>
            </a:r>
          </a:p>
        </p:txBody>
      </p:sp>
      <p:sp>
        <p:nvSpPr>
          <p:cNvPr id="14" name="Rounded Rectangle 13"/>
          <p:cNvSpPr/>
          <p:nvPr/>
        </p:nvSpPr>
        <p:spPr>
          <a:xfrm>
            <a:off x="4526280" y="4937760"/>
            <a:ext cx="4160520" cy="91440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754880" y="4937760"/>
            <a:ext cx="3703320" cy="914400"/>
          </a:xfrm>
          <a:prstGeom prst="rect">
            <a:avLst/>
          </a:prstGeom>
          <a:noFill/>
        </p:spPr>
        <p:txBody>
          <a:bodyPr wrap="square" anchor="ctr">
            <a:spAutoFit/>
          </a:bodyPr>
          <a:lstStyle/>
          <a:p>
            <a:pPr algn="l">
              <a:spcAft>
                <a:spcPts val="600"/>
              </a:spcAft>
            </a:pPr>
            <a:r>
              <a:rPr sz="1500" b="0" i="0">
                <a:solidFill>
                  <a:srgbClr val="262626"/>
                </a:solidFill>
                <a:latin typeface="Calibri"/>
              </a:rPr>
              <a:t>Con esos datos el programa </a:t>
            </a:r>
            <a:r>
              <a:rPr sz="1500" b="1" i="0">
                <a:solidFill>
                  <a:srgbClr val="262626"/>
                </a:solidFill>
                <a:latin typeface="Calibri"/>
              </a:rPr>
              <a:t>decide</a:t>
            </a:r>
            <a:r>
              <a:rPr sz="1500" b="0" i="0">
                <a:solidFill>
                  <a:srgbClr val="262626"/>
                </a:solidFill>
                <a:latin typeface="Calibri"/>
              </a:rPr>
              <a:t>: contar personas, avisar si aparece un objeto, medir su posición...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Código · Detectar objetos con YOLO</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28</a:t>
            </a:r>
          </a:p>
        </p:txBody>
      </p:sp>
      <p:sp>
        <p:nvSpPr>
          <p:cNvPr id="7" name="Rounded Rectangle 6"/>
          <p:cNvSpPr/>
          <p:nvPr/>
        </p:nvSpPr>
        <p:spPr>
          <a:xfrm>
            <a:off x="457200" y="1097280"/>
            <a:ext cx="5029200" cy="329184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4360" y="1152144"/>
            <a:ext cx="4754880"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04_yolo_imagen.py (extracto)</a:t>
            </a:r>
          </a:p>
        </p:txBody>
      </p:sp>
      <p:sp>
        <p:nvSpPr>
          <p:cNvPr id="9" name="Codigo"/>
          <p:cNvSpPr txBox="1"/>
          <p:nvPr/>
        </p:nvSpPr>
        <p:spPr>
          <a:xfrm>
            <a:off x="594360" y="1444752"/>
            <a:ext cx="4754880" cy="2907791"/>
          </a:xfrm>
          <a:prstGeom prst="rect">
            <a:avLst/>
          </a:prstGeom>
          <a:noFill/>
        </p:spPr>
        <p:txBody>
          <a:bodyPr wrap="square" lIns="0" tIns="0" rIns="0" bIns="0">
            <a:spAutoFit/>
          </a:bodyPr>
          <a:lstStyle/>
          <a:p>
            <a:pPr>
              <a:spcAft>
                <a:spcPts val="0"/>
              </a:spcAft>
            </a:pPr>
            <a:r>
              <a:rPr sz="1100">
                <a:solidFill>
                  <a:srgbClr val="E6E6E6"/>
                </a:solidFill>
                <a:latin typeface="Courier New"/>
              </a:rPr>
              <a:t>from ultralytics import YOLO</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modelo = YOLO("yolo26n.pt")</a:t>
            </a:r>
            <a:r>
              <a:rPr sz="1100">
                <a:solidFill>
                  <a:srgbClr val="8FBF8F"/>
                </a:solidFill>
                <a:latin typeface="Courier New"/>
              </a:rPr>
              <a:t>   # se descarga solo</a:t>
            </a:r>
          </a:p>
          <a:p>
            <a:pPr>
              <a:spcAft>
                <a:spcPts val="0"/>
              </a:spcAft>
            </a:pPr>
            <a:r>
              <a:rPr sz="1100">
                <a:solidFill>
                  <a:srgbClr val="E6E6E6"/>
                </a:solidFill>
                <a:latin typeface="Courier New"/>
              </a:rPr>
              <a:t>r = modelo("imagenes/calle.jpg", conf=0.5)[0]</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for caja in r.boxes:</a:t>
            </a:r>
          </a:p>
          <a:p>
            <a:pPr>
              <a:spcAft>
                <a:spcPts val="0"/>
              </a:spcAft>
            </a:pPr>
            <a:r>
              <a:rPr sz="1100">
                <a:solidFill>
                  <a:srgbClr val="E6E6E6"/>
                </a:solidFill>
                <a:latin typeface="Courier New"/>
              </a:rPr>
              <a:t>    clase = modelo.names[int(caja.cls)]</a:t>
            </a:r>
          </a:p>
          <a:p>
            <a:pPr>
              <a:spcAft>
                <a:spcPts val="0"/>
              </a:spcAft>
            </a:pPr>
            <a:r>
              <a:rPr sz="1100">
                <a:solidFill>
                  <a:srgbClr val="E6E6E6"/>
                </a:solidFill>
                <a:latin typeface="Courier New"/>
              </a:rPr>
              <a:t>    confianza = float(caja.conf)</a:t>
            </a:r>
          </a:p>
          <a:p>
            <a:pPr>
              <a:spcAft>
                <a:spcPts val="0"/>
              </a:spcAft>
            </a:pPr>
            <a:r>
              <a:rPr sz="1100">
                <a:solidFill>
                  <a:srgbClr val="E6E6E6"/>
                </a:solidFill>
                <a:latin typeface="Courier New"/>
              </a:rPr>
              <a:t>    x1, y1, x2, y2 = map(int, caja.xyxy[0])</a:t>
            </a:r>
          </a:p>
          <a:p>
            <a:pPr>
              <a:spcAft>
                <a:spcPts val="0"/>
              </a:spcAft>
            </a:pPr>
            <a:r>
              <a:rPr sz="1100">
                <a:solidFill>
                  <a:srgbClr val="E6E6E6"/>
                </a:solidFill>
                <a:latin typeface="Courier New"/>
              </a:rPr>
              <a:t>    print(clase, round(confianza, 2),</a:t>
            </a:r>
          </a:p>
          <a:p>
            <a:pPr>
              <a:spcAft>
                <a:spcPts val="0"/>
              </a:spcAft>
            </a:pPr>
            <a:r>
              <a:rPr sz="1100">
                <a:solidFill>
                  <a:srgbClr val="E6E6E6"/>
                </a:solidFill>
                <a:latin typeface="Courier New"/>
              </a:rPr>
              <a:t>          (x1, y1), (x2, y2))</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cv2.imwrite("resultados/04_yolo.jpg", r.plot())</a:t>
            </a:r>
          </a:p>
        </p:txBody>
      </p:sp>
      <p:pic>
        <p:nvPicPr>
          <p:cNvPr id="10" name="Picture 9" descr="t_det.jpg"/>
          <p:cNvPicPr>
            <a:picLocks noChangeAspect="1"/>
          </p:cNvPicPr>
          <p:nvPr/>
        </p:nvPicPr>
        <p:blipFill>
          <a:blip r:embed="rId5"/>
          <a:stretch>
            <a:fillRect/>
          </a:stretch>
        </p:blipFill>
        <p:spPr>
          <a:xfrm>
            <a:off x="5669280" y="1097280"/>
            <a:ext cx="3017520" cy="2831253"/>
          </a:xfrm>
          <a:prstGeom prst="rect">
            <a:avLst/>
          </a:prstGeom>
        </p:spPr>
      </p:pic>
      <p:sp>
        <p:nvSpPr>
          <p:cNvPr id="11" name="TextBox 10"/>
          <p:cNvSpPr txBox="1"/>
          <p:nvPr/>
        </p:nvSpPr>
        <p:spPr>
          <a:xfrm>
            <a:off x="5669280" y="3931920"/>
            <a:ext cx="3017520" cy="365760"/>
          </a:xfrm>
          <a:prstGeom prst="rect">
            <a:avLst/>
          </a:prstGeom>
          <a:noFill/>
        </p:spPr>
        <p:txBody>
          <a:bodyPr wrap="square" anchor="t">
            <a:spAutoFit/>
          </a:bodyPr>
          <a:lstStyle/>
          <a:p>
            <a:pPr algn="ctr">
              <a:spcAft>
                <a:spcPts val="600"/>
              </a:spcAft>
            </a:pPr>
            <a:r>
              <a:rPr sz="1100" b="0" i="1">
                <a:solidFill>
                  <a:srgbClr val="707070"/>
                </a:solidFill>
                <a:latin typeface="Calibri"/>
              </a:rPr>
              <a:t>Ejemplo de resultado</a:t>
            </a:r>
          </a:p>
        </p:txBody>
      </p:sp>
      <p:sp>
        <p:nvSpPr>
          <p:cNvPr id="12" name="TextBox 11"/>
          <p:cNvSpPr txBox="1"/>
          <p:nvPr/>
        </p:nvSpPr>
        <p:spPr>
          <a:xfrm>
            <a:off x="457200" y="4572000"/>
            <a:ext cx="8229600" cy="914400"/>
          </a:xfrm>
          <a:prstGeom prst="rect">
            <a:avLst/>
          </a:prstGeom>
          <a:noFill/>
        </p:spPr>
        <p:txBody>
          <a:bodyPr wrap="square" anchor="t">
            <a:spAutoFit/>
          </a:bodyPr>
          <a:lstStyle/>
          <a:p>
            <a:pPr marL="228600" indent="-201168" algn="l">
              <a:spcAft>
                <a:spcPts val="500"/>
              </a:spcAft>
              <a:buClr>
                <a:srgbClr val="8E1B1B"/>
              </a:buClr>
              <a:buFont typeface="Arial"/>
              <a:buChar char="•"/>
            </a:pPr>
            <a:r>
              <a:rPr sz="1300" b="0" i="0">
                <a:solidFill>
                  <a:srgbClr val="8E1B1B"/>
                </a:solidFill>
                <a:latin typeface="Courier New"/>
              </a:rPr>
              <a:t>YOLO("yolo26n.pt")</a:t>
            </a:r>
            <a:r>
              <a:rPr sz="1400" b="0" i="0">
                <a:solidFill>
                  <a:srgbClr val="262626"/>
                </a:solidFill>
                <a:latin typeface="Calibri"/>
              </a:rPr>
              <a:t>: carga un modelo </a:t>
            </a:r>
            <a:r>
              <a:rPr sz="1400" b="1" i="0">
                <a:solidFill>
                  <a:srgbClr val="262626"/>
                </a:solidFill>
                <a:latin typeface="Calibri"/>
              </a:rPr>
              <a:t>ya entrenado</a:t>
            </a:r>
            <a:r>
              <a:rPr sz="1400" b="0" i="0">
                <a:solidFill>
                  <a:srgbClr val="262626"/>
                </a:solidFill>
                <a:latin typeface="Calibri"/>
              </a:rPr>
              <a:t> con 80 clases.</a:t>
            </a:r>
          </a:p>
          <a:p>
            <a:pPr marL="228600" indent="-201168" algn="l">
              <a:spcAft>
                <a:spcPts val="500"/>
              </a:spcAft>
              <a:buClr>
                <a:srgbClr val="8E1B1B"/>
              </a:buClr>
              <a:buFont typeface="Arial"/>
              <a:buChar char="•"/>
            </a:pPr>
            <a:r>
              <a:rPr sz="1300" b="0" i="0">
                <a:solidFill>
                  <a:srgbClr val="8E1B1B"/>
                </a:solidFill>
                <a:latin typeface="Courier New"/>
              </a:rPr>
              <a:t>r.boxes</a:t>
            </a:r>
            <a:r>
              <a:rPr sz="1400" b="0" i="0">
                <a:solidFill>
                  <a:srgbClr val="262626"/>
                </a:solidFill>
                <a:latin typeface="Calibri"/>
              </a:rPr>
              <a:t>: la lista de objetos encontrados, cada uno con clase, confianza y caja.</a:t>
            </a:r>
          </a:p>
        </p:txBody>
      </p:sp>
      <p:sp>
        <p:nvSpPr>
          <p:cNvPr id="13" name="Rounded Rectangle 12"/>
          <p:cNvSpPr/>
          <p:nvPr/>
        </p:nvSpPr>
        <p:spPr>
          <a:xfrm>
            <a:off x="457200" y="5577840"/>
            <a:ext cx="8229600" cy="64008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85800" y="5577840"/>
            <a:ext cx="7772400" cy="640080"/>
          </a:xfrm>
          <a:prstGeom prst="rect">
            <a:avLst/>
          </a:prstGeom>
          <a:noFill/>
        </p:spPr>
        <p:txBody>
          <a:bodyPr wrap="square" anchor="ctr">
            <a:spAutoFit/>
          </a:bodyPr>
          <a:lstStyle/>
          <a:p>
            <a:pPr algn="l">
              <a:spcAft>
                <a:spcPts val="600"/>
              </a:spcAft>
            </a:pPr>
            <a:r>
              <a:rPr sz="1500" b="1" i="0">
                <a:solidFill>
                  <a:srgbClr val="262626"/>
                </a:solidFill>
                <a:latin typeface="Calibri"/>
              </a:rPr>
              <a:t>Una línea</a:t>
            </a:r>
            <a:r>
              <a:rPr sz="1500" b="0" i="0">
                <a:solidFill>
                  <a:srgbClr val="262626"/>
                </a:solidFill>
                <a:latin typeface="Calibri"/>
              </a:rPr>
              <a:t> carga el modelo y </a:t>
            </a:r>
            <a:r>
              <a:rPr sz="1500" b="1" i="0">
                <a:solidFill>
                  <a:srgbClr val="262626"/>
                </a:solidFill>
                <a:latin typeface="Calibri"/>
              </a:rPr>
              <a:t>una línea</a:t>
            </a:r>
            <a:r>
              <a:rPr sz="1500" b="0" i="0">
                <a:solidFill>
                  <a:srgbClr val="262626"/>
                </a:solidFill>
                <a:latin typeface="Calibri"/>
              </a:rPr>
              <a:t> detecta: el resto es decidir qué hacer con los resultados.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3272E"/>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Momento de código 3</a:t>
            </a:r>
          </a:p>
        </p:txBody>
      </p:sp>
      <p:sp>
        <p:nvSpPr>
          <p:cNvPr id="5" name="Oval 4"/>
          <p:cNvSpPr/>
          <p:nvPr/>
        </p:nvSpPr>
        <p:spPr>
          <a:xfrm>
            <a:off x="457200" y="105156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aptop_w.png"/>
          <p:cNvPicPr>
            <a:picLocks noChangeAspect="1"/>
          </p:cNvPicPr>
          <p:nvPr/>
        </p:nvPicPr>
        <p:blipFill>
          <a:blip r:embed="rId4"/>
          <a:stretch>
            <a:fillRect/>
          </a:stretch>
        </p:blipFill>
        <p:spPr>
          <a:xfrm>
            <a:off x="598017" y="1192377"/>
            <a:ext cx="358444" cy="358444"/>
          </a:xfrm>
          <a:prstGeom prst="rect">
            <a:avLst/>
          </a:prstGeom>
        </p:spPr>
      </p:pic>
      <p:sp>
        <p:nvSpPr>
          <p:cNvPr id="7" name="TextBox 6"/>
          <p:cNvSpPr txBox="1"/>
          <p:nvPr/>
        </p:nvSpPr>
        <p:spPr>
          <a:xfrm>
            <a:off x="1234440" y="1024128"/>
            <a:ext cx="5120640" cy="365760"/>
          </a:xfrm>
          <a:prstGeom prst="rect">
            <a:avLst/>
          </a:prstGeom>
          <a:noFill/>
        </p:spPr>
        <p:txBody>
          <a:bodyPr wrap="square" lIns="0" tIns="0" rIns="0" bIns="0" anchor="t">
            <a:spAutoFit/>
          </a:bodyPr>
          <a:lstStyle/>
          <a:p>
            <a:pPr algn="l">
              <a:spcAft>
                <a:spcPts val="600"/>
              </a:spcAft>
            </a:pPr>
            <a:r>
              <a:rPr sz="1300" b="1" i="0">
                <a:solidFill>
                  <a:srgbClr val="F2C14E"/>
                </a:solidFill>
                <a:latin typeface="Calibri"/>
              </a:rPr>
              <a:t>AHORA EN TU COMPUTADOR</a:t>
            </a:r>
          </a:p>
        </p:txBody>
      </p:sp>
      <p:sp>
        <p:nvSpPr>
          <p:cNvPr id="8" name="TextBox 7"/>
          <p:cNvSpPr txBox="1"/>
          <p:nvPr/>
        </p:nvSpPr>
        <p:spPr>
          <a:xfrm>
            <a:off x="1234440" y="1344168"/>
            <a:ext cx="5394960" cy="411480"/>
          </a:xfrm>
          <a:prstGeom prst="rect">
            <a:avLst/>
          </a:prstGeom>
          <a:noFill/>
        </p:spPr>
        <p:txBody>
          <a:bodyPr wrap="square" lIns="0" tIns="0" rIns="0" bIns="0" anchor="t">
            <a:spAutoFit/>
          </a:bodyPr>
          <a:lstStyle/>
          <a:p>
            <a:pPr algn="l">
              <a:spcAft>
                <a:spcPts val="600"/>
              </a:spcAft>
            </a:pPr>
            <a:r>
              <a:rPr sz="2200" b="1" i="0">
                <a:solidFill>
                  <a:srgbClr val="FFFFFF"/>
                </a:solidFill>
                <a:latin typeface="Courier New"/>
              </a:rPr>
              <a:t>04_yolo_imagen.py</a:t>
            </a:r>
          </a:p>
        </p:txBody>
      </p:sp>
      <p:sp>
        <p:nvSpPr>
          <p:cNvPr id="9" name="Rounded Rectangle 8"/>
          <p:cNvSpPr/>
          <p:nvPr/>
        </p:nvSpPr>
        <p:spPr>
          <a:xfrm>
            <a:off x="6720840" y="1051560"/>
            <a:ext cx="1965960" cy="6400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imer_w.png"/>
          <p:cNvPicPr>
            <a:picLocks noChangeAspect="1"/>
          </p:cNvPicPr>
          <p:nvPr/>
        </p:nvPicPr>
        <p:blipFill>
          <a:blip r:embed="rId5"/>
          <a:stretch>
            <a:fillRect/>
          </a:stretch>
        </p:blipFill>
        <p:spPr>
          <a:xfrm>
            <a:off x="6858000" y="1143000"/>
            <a:ext cx="457200" cy="457200"/>
          </a:xfrm>
          <a:prstGeom prst="rect">
            <a:avLst/>
          </a:prstGeom>
        </p:spPr>
      </p:pic>
      <p:sp>
        <p:nvSpPr>
          <p:cNvPr id="11" name="TextBox 10"/>
          <p:cNvSpPr txBox="1"/>
          <p:nvPr/>
        </p:nvSpPr>
        <p:spPr>
          <a:xfrm>
            <a:off x="7360920" y="1051560"/>
            <a:ext cx="1280160" cy="640080"/>
          </a:xfrm>
          <a:prstGeom prst="rect">
            <a:avLst/>
          </a:prstGeom>
          <a:noFill/>
        </p:spPr>
        <p:txBody>
          <a:bodyPr wrap="square" lIns="0" tIns="0" rIns="0" bIns="0" anchor="ctr">
            <a:spAutoFit/>
          </a:bodyPr>
          <a:lstStyle/>
          <a:p>
            <a:pPr algn="l">
              <a:spcAft>
                <a:spcPts val="600"/>
              </a:spcAft>
            </a:pPr>
            <a:r>
              <a:rPr sz="1700" b="1" i="0">
                <a:solidFill>
                  <a:srgbClr val="FFFFFF"/>
                </a:solidFill>
                <a:latin typeface="Calibri"/>
              </a:rPr>
              <a:t>≈ 10 min</a:t>
            </a:r>
          </a:p>
        </p:txBody>
      </p:sp>
      <p:sp>
        <p:nvSpPr>
          <p:cNvPr id="12" name="TextBox 11"/>
          <p:cNvSpPr txBox="1"/>
          <p:nvPr/>
        </p:nvSpPr>
        <p:spPr>
          <a:xfrm>
            <a:off x="457200" y="1874519"/>
            <a:ext cx="8229600" cy="457200"/>
          </a:xfrm>
          <a:prstGeom prst="rect">
            <a:avLst/>
          </a:prstGeom>
          <a:noFill/>
        </p:spPr>
        <p:txBody>
          <a:bodyPr wrap="square" lIns="0" tIns="0" rIns="0" bIns="0" anchor="t">
            <a:spAutoFit/>
          </a:bodyPr>
          <a:lstStyle/>
          <a:p>
            <a:pPr algn="l">
              <a:spcAft>
                <a:spcPts val="600"/>
              </a:spcAft>
            </a:pPr>
            <a:r>
              <a:rPr sz="1500" b="0" i="0">
                <a:solidFill>
                  <a:srgbClr val="D9DDE3"/>
                </a:solidFill>
                <a:latin typeface="Calibri"/>
              </a:rPr>
              <a:t>Detectar objetos en imágenes y entender qué significa la confianza.</a:t>
            </a:r>
          </a:p>
        </p:txBody>
      </p:sp>
      <p:sp>
        <p:nvSpPr>
          <p:cNvPr id="13" name="Rounded Rectangle 12"/>
          <p:cNvSpPr/>
          <p:nvPr/>
        </p:nvSpPr>
        <p:spPr>
          <a:xfrm>
            <a:off x="457200" y="2377440"/>
            <a:ext cx="8229600" cy="850392"/>
          </a:xfrm>
          <a:prstGeom prst="roundRect">
            <a:avLst>
              <a:gd name="adj" fmla="val 8000"/>
            </a:avLst>
          </a:prstGeom>
          <a:solidFill>
            <a:srgbClr val="141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2395728"/>
            <a:ext cx="7863840" cy="822959"/>
          </a:xfrm>
          <a:prstGeom prst="rect">
            <a:avLst/>
          </a:prstGeom>
          <a:noFill/>
        </p:spPr>
        <p:txBody>
          <a:bodyPr wrap="square" lIns="18288" tIns="18288" rIns="18288" bIns="18288" anchor="ctr">
            <a:spAutoFit/>
          </a:bodyPr>
          <a:lstStyle/>
          <a:p>
            <a:pPr algn="l">
              <a:spcAft>
                <a:spcPts val="0"/>
              </a:spcAft>
            </a:pPr>
            <a:r>
              <a:rPr sz="1400" b="0" i="0">
                <a:solidFill>
                  <a:srgbClr val="9FE29F"/>
                </a:solidFill>
                <a:latin typeface="Courier New"/>
              </a:rPr>
              <a:t>$ python 04_yolo_imagen.py imagenes/calle.jpg</a:t>
            </a:r>
          </a:p>
          <a:p>
            <a:pPr algn="l">
              <a:spcAft>
                <a:spcPts val="0"/>
              </a:spcAft>
            </a:pPr>
            <a:r>
              <a:rPr sz="1400" b="0" i="0">
                <a:solidFill>
                  <a:srgbClr val="9FE29F"/>
                </a:solidFill>
                <a:latin typeface="Courier New"/>
              </a:rPr>
              <a:t>$ python 04_yolo_imagen.py imagenes/foto_2.jpg</a:t>
            </a:r>
          </a:p>
        </p:txBody>
      </p:sp>
      <p:sp>
        <p:nvSpPr>
          <p:cNvPr id="15" name="TextBox 14"/>
          <p:cNvSpPr txBox="1"/>
          <p:nvPr/>
        </p:nvSpPr>
        <p:spPr>
          <a:xfrm>
            <a:off x="457200" y="3383280"/>
            <a:ext cx="8229600" cy="365760"/>
          </a:xfrm>
          <a:prstGeom prst="rect">
            <a:avLst/>
          </a:prstGeom>
          <a:noFill/>
        </p:spPr>
        <p:txBody>
          <a:bodyPr wrap="square" lIns="0" tIns="0" rIns="0" bIns="0" anchor="t">
            <a:spAutoFit/>
          </a:bodyPr>
          <a:lstStyle/>
          <a:p>
            <a:pPr algn="l">
              <a:spcAft>
                <a:spcPts val="600"/>
              </a:spcAft>
            </a:pPr>
            <a:r>
              <a:rPr sz="1500" b="1" i="0">
                <a:solidFill>
                  <a:srgbClr val="F2C14E"/>
                </a:solidFill>
                <a:latin typeface="Calibri"/>
              </a:rPr>
              <a:t>Prueba esto:</a:t>
            </a:r>
          </a:p>
        </p:txBody>
      </p:sp>
      <p:sp>
        <p:nvSpPr>
          <p:cNvPr id="16" name="Rounded Rectangle 15"/>
          <p:cNvSpPr/>
          <p:nvPr/>
        </p:nvSpPr>
        <p:spPr>
          <a:xfrm>
            <a:off x="457200" y="379476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94360" y="395020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395020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1</a:t>
            </a:r>
          </a:p>
        </p:txBody>
      </p:sp>
      <p:sp>
        <p:nvSpPr>
          <p:cNvPr id="19" name="TextBox 18"/>
          <p:cNvSpPr txBox="1"/>
          <p:nvPr/>
        </p:nvSpPr>
        <p:spPr>
          <a:xfrm>
            <a:off x="1097280" y="379476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Ejecuta con la imagen de ejemplo y con </a:t>
            </a:r>
            <a:r>
              <a:rPr sz="1400" b="1" i="0">
                <a:solidFill>
                  <a:srgbClr val="FFFFFF"/>
                </a:solidFill>
                <a:latin typeface="Calibri"/>
              </a:rPr>
              <a:t>tus fotos</a:t>
            </a:r>
            <a:r>
              <a:rPr sz="1400" b="0" i="0">
                <a:solidFill>
                  <a:srgbClr val="FFFFFF"/>
                </a:solidFill>
                <a:latin typeface="Calibri"/>
              </a:rPr>
              <a:t> de la clase anterior.</a:t>
            </a:r>
          </a:p>
        </p:txBody>
      </p:sp>
      <p:sp>
        <p:nvSpPr>
          <p:cNvPr id="20" name="Rounded Rectangle 19"/>
          <p:cNvSpPr/>
          <p:nvPr/>
        </p:nvSpPr>
        <p:spPr>
          <a:xfrm>
            <a:off x="457200" y="452628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594360" y="468172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94360" y="468172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2</a:t>
            </a:r>
          </a:p>
        </p:txBody>
      </p:sp>
      <p:sp>
        <p:nvSpPr>
          <p:cNvPr id="23" name="TextBox 22"/>
          <p:cNvSpPr txBox="1"/>
          <p:nvPr/>
        </p:nvSpPr>
        <p:spPr>
          <a:xfrm>
            <a:off x="1097280" y="452628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Cambia </a:t>
            </a:r>
            <a:r>
              <a:rPr sz="1300" b="0" i="0">
                <a:solidFill>
                  <a:srgbClr val="FFFFFF"/>
                </a:solidFill>
                <a:latin typeface="Courier New"/>
              </a:rPr>
              <a:t>conf=0.5</a:t>
            </a:r>
            <a:r>
              <a:rPr sz="1400" b="0" i="0">
                <a:solidFill>
                  <a:srgbClr val="FFFFFF"/>
                </a:solidFill>
                <a:latin typeface="Calibri"/>
              </a:rPr>
              <a:t> por </a:t>
            </a:r>
            <a:r>
              <a:rPr sz="1300" b="0" i="0">
                <a:solidFill>
                  <a:srgbClr val="FFFFFF"/>
                </a:solidFill>
                <a:latin typeface="Courier New"/>
              </a:rPr>
              <a:t>0.25</a:t>
            </a:r>
            <a:r>
              <a:rPr sz="1400" b="0" i="0">
                <a:solidFill>
                  <a:srgbClr val="FFFFFF"/>
                </a:solidFill>
                <a:latin typeface="Calibri"/>
              </a:rPr>
              <a:t> y por </a:t>
            </a:r>
            <a:r>
              <a:rPr sz="1300" b="0" i="0">
                <a:solidFill>
                  <a:srgbClr val="FFFFFF"/>
                </a:solidFill>
                <a:latin typeface="Courier New"/>
              </a:rPr>
              <a:t>0.8</a:t>
            </a:r>
            <a:r>
              <a:rPr sz="1400" b="0" i="0">
                <a:solidFill>
                  <a:srgbClr val="FFFFFF"/>
                </a:solidFill>
                <a:latin typeface="Calibri"/>
              </a:rPr>
              <a:t>: ¿aparecen más objetos? ¿hay errores?</a:t>
            </a:r>
          </a:p>
        </p:txBody>
      </p:sp>
      <p:sp>
        <p:nvSpPr>
          <p:cNvPr id="24" name="Rounded Rectangle 23"/>
          <p:cNvSpPr/>
          <p:nvPr/>
        </p:nvSpPr>
        <p:spPr>
          <a:xfrm>
            <a:off x="457200" y="525780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594360" y="541324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4360" y="541324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3</a:t>
            </a:r>
          </a:p>
        </p:txBody>
      </p:sp>
      <p:sp>
        <p:nvSpPr>
          <p:cNvPr id="27" name="TextBox 26"/>
          <p:cNvSpPr txBox="1"/>
          <p:nvPr/>
        </p:nvSpPr>
        <p:spPr>
          <a:xfrm>
            <a:off x="1097280" y="525780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Agrega </a:t>
            </a:r>
            <a:r>
              <a:rPr sz="1300" b="0" i="0">
                <a:solidFill>
                  <a:srgbClr val="FFFFFF"/>
                </a:solidFill>
                <a:latin typeface="Courier New"/>
              </a:rPr>
              <a:t>print(modelo.names)</a:t>
            </a:r>
            <a:r>
              <a:rPr sz="1400" b="0" i="0">
                <a:solidFill>
                  <a:srgbClr val="FFFFFF"/>
                </a:solidFill>
                <a:latin typeface="Calibri"/>
              </a:rPr>
              <a:t>: ¿qué objetos conoce? Busca uno de tu mesa que </a:t>
            </a:r>
            <a:r>
              <a:rPr sz="1400" b="1" i="0">
                <a:solidFill>
                  <a:srgbClr val="FFFFFF"/>
                </a:solidFill>
                <a:latin typeface="Calibri"/>
              </a:rPr>
              <a:t>no</a:t>
            </a:r>
            <a:r>
              <a:rPr sz="1400" b="0" i="0">
                <a:solidFill>
                  <a:srgbClr val="FFFFFF"/>
                </a:solidFill>
                <a:latin typeface="Calibri"/>
              </a:rPr>
              <a:t> esté.</a:t>
            </a:r>
          </a:p>
        </p:txBody>
      </p:sp>
      <p:sp>
        <p:nvSpPr>
          <p:cNvPr id="28" name="TextBox 27"/>
          <p:cNvSpPr txBox="1"/>
          <p:nvPr/>
        </p:nvSpPr>
        <p:spPr>
          <a:xfrm>
            <a:off x="457200" y="6053328"/>
            <a:ext cx="8229600" cy="411480"/>
          </a:xfrm>
          <a:prstGeom prst="rect">
            <a:avLst/>
          </a:prstGeom>
          <a:noFill/>
        </p:spPr>
        <p:txBody>
          <a:bodyPr wrap="square" lIns="0" tIns="0" rIns="0" bIns="0" anchor="t">
            <a:spAutoFit/>
          </a:bodyPr>
          <a:lstStyle/>
          <a:p>
            <a:pPr algn="l">
              <a:spcAft>
                <a:spcPts val="600"/>
              </a:spcAft>
            </a:pPr>
            <a:r>
              <a:rPr sz="1200" b="0" i="1">
                <a:solidFill>
                  <a:srgbClr val="AEB4BD"/>
                </a:solidFill>
                <a:latin typeface="Calibri"/>
              </a:rPr>
              <a:t>Pregunta para el cierre: ¿qué haría falta para que detecte el objeto que no conoce?</a:t>
            </a:r>
          </a:p>
        </p:txBody>
      </p:sp>
      <p:sp>
        <p:nvSpPr>
          <p:cNvPr id="29" name="TextBox 28"/>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8A9099"/>
                </a:solidFill>
                <a:latin typeface="Calibri"/>
              </a:rPr>
              <a:t>Tecnologías Disruptivas  ·  Escuela de Informática  ·  Universidad Andrés Bello</a:t>
            </a:r>
          </a:p>
        </p:txBody>
      </p:sp>
      <p:sp>
        <p:nvSpPr>
          <p:cNvPr id="30" name="TextBox 29"/>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8A9099"/>
                </a:solidFill>
                <a:latin typeface="Calibr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Una década de YOLO</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30</a:t>
            </a:r>
          </a:p>
        </p:txBody>
      </p:sp>
      <p:cxnSp>
        <p:nvCxnSpPr>
          <p:cNvPr id="7" name="Connector 6"/>
          <p:cNvCxnSpPr/>
          <p:nvPr/>
        </p:nvCxnSpPr>
        <p:spPr>
          <a:xfrm>
            <a:off x="822960" y="2377440"/>
            <a:ext cx="7498080" cy="0"/>
          </a:xfrm>
          <a:prstGeom prst="line">
            <a:avLst/>
          </a:prstGeom>
          <a:ln w="38100">
            <a:solidFill>
              <a:srgbClr val="C9A0A0"/>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05840" y="2194560"/>
            <a:ext cx="365760" cy="365760"/>
          </a:xfrm>
          <a:prstGeom prst="ellipse">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57200" y="1600200"/>
            <a:ext cx="1463040" cy="457200"/>
          </a:xfrm>
          <a:prstGeom prst="rect">
            <a:avLst/>
          </a:prstGeom>
          <a:noFill/>
        </p:spPr>
        <p:txBody>
          <a:bodyPr wrap="square" anchor="t">
            <a:spAutoFit/>
          </a:bodyPr>
          <a:lstStyle/>
          <a:p>
            <a:pPr algn="ctr">
              <a:spcAft>
                <a:spcPts val="600"/>
              </a:spcAft>
            </a:pPr>
            <a:r>
              <a:rPr sz="1800" b="1" i="0">
                <a:solidFill>
                  <a:srgbClr val="8E1B1B"/>
                </a:solidFill>
                <a:latin typeface="Calibri"/>
              </a:rPr>
              <a:t>2015</a:t>
            </a:r>
          </a:p>
        </p:txBody>
      </p:sp>
      <p:sp>
        <p:nvSpPr>
          <p:cNvPr id="10" name="TextBox 9"/>
          <p:cNvSpPr txBox="1"/>
          <p:nvPr/>
        </p:nvSpPr>
        <p:spPr>
          <a:xfrm>
            <a:off x="457200" y="2697480"/>
            <a:ext cx="1463040" cy="365760"/>
          </a:xfrm>
          <a:prstGeom prst="rect">
            <a:avLst/>
          </a:prstGeom>
          <a:noFill/>
        </p:spPr>
        <p:txBody>
          <a:bodyPr wrap="square" anchor="t">
            <a:spAutoFit/>
          </a:bodyPr>
          <a:lstStyle/>
          <a:p>
            <a:pPr algn="ctr">
              <a:spcAft>
                <a:spcPts val="600"/>
              </a:spcAft>
            </a:pPr>
            <a:r>
              <a:rPr sz="1500" b="1" i="0">
                <a:solidFill>
                  <a:srgbClr val="262626"/>
                </a:solidFill>
                <a:latin typeface="Calibri"/>
              </a:rPr>
              <a:t>YOLOv1</a:t>
            </a:r>
          </a:p>
        </p:txBody>
      </p:sp>
      <p:sp>
        <p:nvSpPr>
          <p:cNvPr id="11" name="TextBox 10"/>
          <p:cNvSpPr txBox="1"/>
          <p:nvPr/>
        </p:nvSpPr>
        <p:spPr>
          <a:xfrm>
            <a:off x="457200" y="3063240"/>
            <a:ext cx="1463040" cy="914400"/>
          </a:xfrm>
          <a:prstGeom prst="rect">
            <a:avLst/>
          </a:prstGeom>
          <a:noFill/>
        </p:spPr>
        <p:txBody>
          <a:bodyPr wrap="square" anchor="t">
            <a:spAutoFit/>
          </a:bodyPr>
          <a:lstStyle/>
          <a:p>
            <a:pPr algn="ctr">
              <a:spcAft>
                <a:spcPts val="600"/>
              </a:spcAft>
            </a:pPr>
            <a:r>
              <a:rPr sz="1200" b="0" i="0">
                <a:solidFill>
                  <a:srgbClr val="262626"/>
                </a:solidFill>
                <a:latin typeface="Calibri"/>
              </a:rPr>
              <a:t>Primera detección en una sola pasada</a:t>
            </a:r>
          </a:p>
        </p:txBody>
      </p:sp>
      <p:sp>
        <p:nvSpPr>
          <p:cNvPr id="12" name="Oval 11"/>
          <p:cNvSpPr/>
          <p:nvPr/>
        </p:nvSpPr>
        <p:spPr>
          <a:xfrm>
            <a:off x="2670048" y="2194560"/>
            <a:ext cx="365760" cy="365760"/>
          </a:xfrm>
          <a:prstGeom prst="ellipse">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121408" y="1600200"/>
            <a:ext cx="1463040" cy="457200"/>
          </a:xfrm>
          <a:prstGeom prst="rect">
            <a:avLst/>
          </a:prstGeom>
          <a:noFill/>
        </p:spPr>
        <p:txBody>
          <a:bodyPr wrap="square" anchor="t">
            <a:spAutoFit/>
          </a:bodyPr>
          <a:lstStyle/>
          <a:p>
            <a:pPr algn="ctr">
              <a:spcAft>
                <a:spcPts val="600"/>
              </a:spcAft>
            </a:pPr>
            <a:r>
              <a:rPr sz="1800" b="1" i="0">
                <a:solidFill>
                  <a:srgbClr val="8E1B1B"/>
                </a:solidFill>
                <a:latin typeface="Calibri"/>
              </a:rPr>
              <a:t>2020</a:t>
            </a:r>
          </a:p>
        </p:txBody>
      </p:sp>
      <p:sp>
        <p:nvSpPr>
          <p:cNvPr id="14" name="TextBox 13"/>
          <p:cNvSpPr txBox="1"/>
          <p:nvPr/>
        </p:nvSpPr>
        <p:spPr>
          <a:xfrm>
            <a:off x="2121408" y="2697480"/>
            <a:ext cx="1463040" cy="365760"/>
          </a:xfrm>
          <a:prstGeom prst="rect">
            <a:avLst/>
          </a:prstGeom>
          <a:noFill/>
        </p:spPr>
        <p:txBody>
          <a:bodyPr wrap="square" anchor="t">
            <a:spAutoFit/>
          </a:bodyPr>
          <a:lstStyle/>
          <a:p>
            <a:pPr algn="ctr">
              <a:spcAft>
                <a:spcPts val="600"/>
              </a:spcAft>
            </a:pPr>
            <a:r>
              <a:rPr sz="1500" b="1" i="0">
                <a:solidFill>
                  <a:srgbClr val="262626"/>
                </a:solidFill>
                <a:latin typeface="Calibri"/>
              </a:rPr>
              <a:t>YOLOv5</a:t>
            </a:r>
          </a:p>
        </p:txBody>
      </p:sp>
      <p:sp>
        <p:nvSpPr>
          <p:cNvPr id="15" name="TextBox 14"/>
          <p:cNvSpPr txBox="1"/>
          <p:nvPr/>
        </p:nvSpPr>
        <p:spPr>
          <a:xfrm>
            <a:off x="2121408" y="3063240"/>
            <a:ext cx="1463040" cy="914400"/>
          </a:xfrm>
          <a:prstGeom prst="rect">
            <a:avLst/>
          </a:prstGeom>
          <a:noFill/>
        </p:spPr>
        <p:txBody>
          <a:bodyPr wrap="square" anchor="t">
            <a:spAutoFit/>
          </a:bodyPr>
          <a:lstStyle/>
          <a:p>
            <a:pPr algn="ctr">
              <a:spcAft>
                <a:spcPts val="600"/>
              </a:spcAft>
            </a:pPr>
            <a:r>
              <a:rPr sz="1200" b="0" i="0">
                <a:solidFill>
                  <a:srgbClr val="262626"/>
                </a:solidFill>
                <a:latin typeface="Calibri"/>
              </a:rPr>
              <a:t>Ultralytics en PyTorch, fácil de usar</a:t>
            </a:r>
          </a:p>
        </p:txBody>
      </p:sp>
      <p:sp>
        <p:nvSpPr>
          <p:cNvPr id="16" name="Oval 15"/>
          <p:cNvSpPr/>
          <p:nvPr/>
        </p:nvSpPr>
        <p:spPr>
          <a:xfrm>
            <a:off x="4334256" y="2194560"/>
            <a:ext cx="365760" cy="365760"/>
          </a:xfrm>
          <a:prstGeom prst="ellipse">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785616" y="1600200"/>
            <a:ext cx="1463040" cy="457200"/>
          </a:xfrm>
          <a:prstGeom prst="rect">
            <a:avLst/>
          </a:prstGeom>
          <a:noFill/>
        </p:spPr>
        <p:txBody>
          <a:bodyPr wrap="square" anchor="t">
            <a:spAutoFit/>
          </a:bodyPr>
          <a:lstStyle/>
          <a:p>
            <a:pPr algn="ctr">
              <a:spcAft>
                <a:spcPts val="600"/>
              </a:spcAft>
            </a:pPr>
            <a:r>
              <a:rPr sz="1800" b="1" i="0">
                <a:solidFill>
                  <a:srgbClr val="8E1B1B"/>
                </a:solidFill>
                <a:latin typeface="Calibri"/>
              </a:rPr>
              <a:t>2023</a:t>
            </a:r>
          </a:p>
        </p:txBody>
      </p:sp>
      <p:sp>
        <p:nvSpPr>
          <p:cNvPr id="18" name="TextBox 17"/>
          <p:cNvSpPr txBox="1"/>
          <p:nvPr/>
        </p:nvSpPr>
        <p:spPr>
          <a:xfrm>
            <a:off x="3785616" y="2697480"/>
            <a:ext cx="1463040" cy="365760"/>
          </a:xfrm>
          <a:prstGeom prst="rect">
            <a:avLst/>
          </a:prstGeom>
          <a:noFill/>
        </p:spPr>
        <p:txBody>
          <a:bodyPr wrap="square" anchor="t">
            <a:spAutoFit/>
          </a:bodyPr>
          <a:lstStyle/>
          <a:p>
            <a:pPr algn="ctr">
              <a:spcAft>
                <a:spcPts val="600"/>
              </a:spcAft>
            </a:pPr>
            <a:r>
              <a:rPr sz="1500" b="1" i="0">
                <a:solidFill>
                  <a:srgbClr val="262626"/>
                </a:solidFill>
                <a:latin typeface="Calibri"/>
              </a:rPr>
              <a:t>YOLOv8</a:t>
            </a:r>
          </a:p>
        </p:txBody>
      </p:sp>
      <p:sp>
        <p:nvSpPr>
          <p:cNvPr id="19" name="TextBox 18"/>
          <p:cNvSpPr txBox="1"/>
          <p:nvPr/>
        </p:nvSpPr>
        <p:spPr>
          <a:xfrm>
            <a:off x="3785616" y="3063240"/>
            <a:ext cx="1463040" cy="914400"/>
          </a:xfrm>
          <a:prstGeom prst="rect">
            <a:avLst/>
          </a:prstGeom>
          <a:noFill/>
        </p:spPr>
        <p:txBody>
          <a:bodyPr wrap="square" anchor="t">
            <a:spAutoFit/>
          </a:bodyPr>
          <a:lstStyle/>
          <a:p>
            <a:pPr algn="ctr">
              <a:spcAft>
                <a:spcPts val="600"/>
              </a:spcAft>
            </a:pPr>
            <a:r>
              <a:rPr sz="1200" b="0" i="0">
                <a:solidFill>
                  <a:srgbClr val="262626"/>
                </a:solidFill>
                <a:latin typeface="Calibri"/>
              </a:rPr>
              <a:t>Detección, segmentación y pose</a:t>
            </a:r>
          </a:p>
        </p:txBody>
      </p:sp>
      <p:sp>
        <p:nvSpPr>
          <p:cNvPr id="20" name="Oval 19"/>
          <p:cNvSpPr/>
          <p:nvPr/>
        </p:nvSpPr>
        <p:spPr>
          <a:xfrm>
            <a:off x="5998464" y="2194560"/>
            <a:ext cx="365760" cy="365760"/>
          </a:xfrm>
          <a:prstGeom prst="ellipse">
            <a:avLst/>
          </a:prstGeom>
          <a:solidFill>
            <a:srgbClr val="C05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49824" y="1600200"/>
            <a:ext cx="1463040" cy="457200"/>
          </a:xfrm>
          <a:prstGeom prst="rect">
            <a:avLst/>
          </a:prstGeom>
          <a:noFill/>
        </p:spPr>
        <p:txBody>
          <a:bodyPr wrap="square" anchor="t">
            <a:spAutoFit/>
          </a:bodyPr>
          <a:lstStyle/>
          <a:p>
            <a:pPr algn="ctr">
              <a:spcAft>
                <a:spcPts val="600"/>
              </a:spcAft>
            </a:pPr>
            <a:r>
              <a:rPr sz="1800" b="1" i="0">
                <a:solidFill>
                  <a:srgbClr val="8E1B1B"/>
                </a:solidFill>
                <a:latin typeface="Calibri"/>
              </a:rPr>
              <a:t>2024</a:t>
            </a:r>
          </a:p>
        </p:txBody>
      </p:sp>
      <p:sp>
        <p:nvSpPr>
          <p:cNvPr id="22" name="TextBox 21"/>
          <p:cNvSpPr txBox="1"/>
          <p:nvPr/>
        </p:nvSpPr>
        <p:spPr>
          <a:xfrm>
            <a:off x="5449824" y="2697480"/>
            <a:ext cx="1463040" cy="365760"/>
          </a:xfrm>
          <a:prstGeom prst="rect">
            <a:avLst/>
          </a:prstGeom>
          <a:noFill/>
        </p:spPr>
        <p:txBody>
          <a:bodyPr wrap="square" anchor="t">
            <a:spAutoFit/>
          </a:bodyPr>
          <a:lstStyle/>
          <a:p>
            <a:pPr algn="ctr">
              <a:spcAft>
                <a:spcPts val="600"/>
              </a:spcAft>
            </a:pPr>
            <a:r>
              <a:rPr sz="1500" b="1" i="0">
                <a:solidFill>
                  <a:srgbClr val="262626"/>
                </a:solidFill>
                <a:latin typeface="Calibri"/>
              </a:rPr>
              <a:t>YOLO11</a:t>
            </a:r>
          </a:p>
        </p:txBody>
      </p:sp>
      <p:sp>
        <p:nvSpPr>
          <p:cNvPr id="23" name="TextBox 22"/>
          <p:cNvSpPr txBox="1"/>
          <p:nvPr/>
        </p:nvSpPr>
        <p:spPr>
          <a:xfrm>
            <a:off x="5449824" y="3063240"/>
            <a:ext cx="1463040" cy="914400"/>
          </a:xfrm>
          <a:prstGeom prst="rect">
            <a:avLst/>
          </a:prstGeom>
          <a:noFill/>
        </p:spPr>
        <p:txBody>
          <a:bodyPr wrap="square" anchor="t">
            <a:spAutoFit/>
          </a:bodyPr>
          <a:lstStyle/>
          <a:p>
            <a:pPr algn="ctr">
              <a:spcAft>
                <a:spcPts val="600"/>
              </a:spcAft>
            </a:pPr>
            <a:r>
              <a:rPr sz="1200" b="0" i="0">
                <a:solidFill>
                  <a:srgbClr val="262626"/>
                </a:solidFill>
                <a:latin typeface="Calibri"/>
              </a:rPr>
              <a:t>Más preciso con menos parámetros</a:t>
            </a:r>
          </a:p>
        </p:txBody>
      </p:sp>
      <p:sp>
        <p:nvSpPr>
          <p:cNvPr id="24" name="Oval 23"/>
          <p:cNvSpPr/>
          <p:nvPr/>
        </p:nvSpPr>
        <p:spPr>
          <a:xfrm>
            <a:off x="7662672" y="2194560"/>
            <a:ext cx="365760" cy="3657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114032" y="1600200"/>
            <a:ext cx="1463040" cy="457200"/>
          </a:xfrm>
          <a:prstGeom prst="rect">
            <a:avLst/>
          </a:prstGeom>
          <a:noFill/>
        </p:spPr>
        <p:txBody>
          <a:bodyPr wrap="square" anchor="t">
            <a:spAutoFit/>
          </a:bodyPr>
          <a:lstStyle/>
          <a:p>
            <a:pPr algn="ctr">
              <a:spcAft>
                <a:spcPts val="600"/>
              </a:spcAft>
            </a:pPr>
            <a:r>
              <a:rPr sz="1800" b="1" i="0">
                <a:solidFill>
                  <a:srgbClr val="8E1B1B"/>
                </a:solidFill>
                <a:latin typeface="Calibri"/>
              </a:rPr>
              <a:t>2026</a:t>
            </a:r>
          </a:p>
        </p:txBody>
      </p:sp>
      <p:sp>
        <p:nvSpPr>
          <p:cNvPr id="26" name="TextBox 25"/>
          <p:cNvSpPr txBox="1"/>
          <p:nvPr/>
        </p:nvSpPr>
        <p:spPr>
          <a:xfrm>
            <a:off x="7114032" y="2697480"/>
            <a:ext cx="1463040" cy="365760"/>
          </a:xfrm>
          <a:prstGeom prst="rect">
            <a:avLst/>
          </a:prstGeom>
          <a:noFill/>
        </p:spPr>
        <p:txBody>
          <a:bodyPr wrap="square" anchor="t">
            <a:spAutoFit/>
          </a:bodyPr>
          <a:lstStyle/>
          <a:p>
            <a:pPr algn="ctr">
              <a:spcAft>
                <a:spcPts val="600"/>
              </a:spcAft>
            </a:pPr>
            <a:r>
              <a:rPr sz="1500" b="1" i="0">
                <a:solidFill>
                  <a:srgbClr val="262626"/>
                </a:solidFill>
                <a:latin typeface="Calibri"/>
              </a:rPr>
              <a:t>YOLO26</a:t>
            </a:r>
          </a:p>
        </p:txBody>
      </p:sp>
      <p:sp>
        <p:nvSpPr>
          <p:cNvPr id="27" name="TextBox 26"/>
          <p:cNvSpPr txBox="1"/>
          <p:nvPr/>
        </p:nvSpPr>
        <p:spPr>
          <a:xfrm>
            <a:off x="7114032" y="3063240"/>
            <a:ext cx="1463040" cy="914400"/>
          </a:xfrm>
          <a:prstGeom prst="rect">
            <a:avLst/>
          </a:prstGeom>
          <a:noFill/>
        </p:spPr>
        <p:txBody>
          <a:bodyPr wrap="square" anchor="t">
            <a:spAutoFit/>
          </a:bodyPr>
          <a:lstStyle/>
          <a:p>
            <a:pPr algn="ctr">
              <a:spcAft>
                <a:spcPts val="600"/>
              </a:spcAft>
            </a:pPr>
            <a:r>
              <a:rPr sz="1200" b="0" i="0">
                <a:solidFill>
                  <a:srgbClr val="262626"/>
                </a:solidFill>
                <a:latin typeface="Calibri"/>
              </a:rPr>
              <a:t>Sin NMS, optimizado para el borde</a:t>
            </a:r>
          </a:p>
        </p:txBody>
      </p:sp>
      <p:sp>
        <p:nvSpPr>
          <p:cNvPr id="28" name="Rounded Rectangle 27"/>
          <p:cNvSpPr/>
          <p:nvPr/>
        </p:nvSpPr>
        <p:spPr>
          <a:xfrm>
            <a:off x="457200" y="4297680"/>
            <a:ext cx="8229600" cy="160020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685800" y="452628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star_w.png"/>
          <p:cNvPicPr>
            <a:picLocks noChangeAspect="1"/>
          </p:cNvPicPr>
          <p:nvPr/>
        </p:nvPicPr>
        <p:blipFill>
          <a:blip r:embed="rId5"/>
          <a:stretch>
            <a:fillRect/>
          </a:stretch>
        </p:blipFill>
        <p:spPr>
          <a:xfrm>
            <a:off x="826617" y="4667097"/>
            <a:ext cx="358444" cy="358444"/>
          </a:xfrm>
          <a:prstGeom prst="rect">
            <a:avLst/>
          </a:prstGeom>
        </p:spPr>
      </p:pic>
      <p:sp>
        <p:nvSpPr>
          <p:cNvPr id="31" name="TextBox 30"/>
          <p:cNvSpPr txBox="1"/>
          <p:nvPr/>
        </p:nvSpPr>
        <p:spPr>
          <a:xfrm>
            <a:off x="1508760" y="4389120"/>
            <a:ext cx="6949440" cy="457200"/>
          </a:xfrm>
          <a:prstGeom prst="rect">
            <a:avLst/>
          </a:prstGeom>
          <a:noFill/>
        </p:spPr>
        <p:txBody>
          <a:bodyPr wrap="square" anchor="t">
            <a:spAutoFit/>
          </a:bodyPr>
          <a:lstStyle/>
          <a:p>
            <a:pPr algn="l">
              <a:spcAft>
                <a:spcPts val="600"/>
              </a:spcAft>
            </a:pPr>
            <a:r>
              <a:rPr sz="1800" b="1" i="0">
                <a:solidFill>
                  <a:srgbClr val="8E1B1B"/>
                </a:solidFill>
                <a:latin typeface="Calibri"/>
              </a:rPr>
              <a:t>Usaremos YOLO26n</a:t>
            </a:r>
          </a:p>
        </p:txBody>
      </p:sp>
      <p:sp>
        <p:nvSpPr>
          <p:cNvPr id="32" name="TextBox 31"/>
          <p:cNvSpPr txBox="1"/>
          <p:nvPr/>
        </p:nvSpPr>
        <p:spPr>
          <a:xfrm>
            <a:off x="1508760" y="4846320"/>
            <a:ext cx="6949440" cy="1005840"/>
          </a:xfrm>
          <a:prstGeom prst="rect">
            <a:avLst/>
          </a:prstGeom>
          <a:noFill/>
        </p:spPr>
        <p:txBody>
          <a:bodyPr wrap="square" anchor="t">
            <a:spAutoFit/>
          </a:bodyPr>
          <a:lstStyle/>
          <a:p>
            <a:pPr marL="228600" indent="-201168" algn="l">
              <a:spcAft>
                <a:spcPts val="400"/>
              </a:spcAft>
              <a:buClr>
                <a:srgbClr val="8E1B1B"/>
              </a:buClr>
              <a:buFont typeface="Arial"/>
              <a:buChar char="•"/>
            </a:pPr>
            <a:r>
              <a:rPr sz="1400" b="0" i="0">
                <a:solidFill>
                  <a:srgbClr val="262626"/>
                </a:solidFill>
                <a:latin typeface="Calibri"/>
              </a:rPr>
              <a:t>Es la versión más reciente de Ultralytics, pensada para CPU y dispositivos pequeños.</a:t>
            </a:r>
          </a:p>
          <a:p>
            <a:pPr marL="228600" indent="-201168" algn="l">
              <a:spcAft>
                <a:spcPts val="400"/>
              </a:spcAft>
              <a:buClr>
                <a:srgbClr val="8E1B1B"/>
              </a:buClr>
              <a:buFont typeface="Arial"/>
              <a:buChar char="•"/>
            </a:pPr>
            <a:r>
              <a:rPr sz="1400" b="0" i="0">
                <a:solidFill>
                  <a:srgbClr val="262626"/>
                </a:solidFill>
                <a:latin typeface="Calibri"/>
              </a:rPr>
              <a:t>La «n» (nano) es la variante más liviana: ~5 MB; corre en un notebook sin GPU y en una Raspberry Pi.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Velocidad vs precisión</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31</a:t>
            </a:r>
          </a:p>
        </p:txBody>
      </p:sp>
      <p:graphicFrame>
        <p:nvGraphicFramePr>
          <p:cNvPr id="7" name="Table 6"/>
          <p:cNvGraphicFramePr>
            <a:graphicFrameLocks noGrp="1"/>
          </p:cNvGraphicFramePr>
          <p:nvPr/>
        </p:nvGraphicFramePr>
        <p:xfrm>
          <a:off x="457200" y="1143000"/>
          <a:ext cx="4206240" cy="22860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57200">
                <a:tc>
                  <a:txBody>
                    <a:bodyPr/>
                    <a:lstStyle/>
                    <a:p>
                      <a:r>
                        <a:rPr sz="1300" b="1" i="0">
                          <a:solidFill>
                            <a:srgbClr val="FFFFFF"/>
                          </a:solidFill>
                          <a:latin typeface="Calibri"/>
                        </a:rPr>
                        <a:t>Variante</a:t>
                      </a:r>
                    </a:p>
                  </a:txBody>
                  <a:tcPr marL="73152" marR="73152" marT="36576" marB="36576" anchor="ctr">
                    <a:solidFill>
                      <a:srgbClr val="8E1B1B"/>
                    </a:solidFill>
                  </a:tcPr>
                </a:tc>
                <a:tc>
                  <a:txBody>
                    <a:bodyPr/>
                    <a:lstStyle/>
                    <a:p>
                      <a:r>
                        <a:rPr sz="1300" b="1" i="0">
                          <a:solidFill>
                            <a:srgbClr val="FFFFFF"/>
                          </a:solidFill>
                          <a:latin typeface="Calibri"/>
                        </a:rPr>
                        <a:t>Tamaño</a:t>
                      </a:r>
                    </a:p>
                  </a:txBody>
                  <a:tcPr marL="73152" marR="73152" marT="36576" marB="36576" anchor="ctr">
                    <a:solidFill>
                      <a:srgbClr val="8E1B1B"/>
                    </a:solidFill>
                  </a:tcPr>
                </a:tc>
                <a:tc>
                  <a:txBody>
                    <a:bodyPr/>
                    <a:lstStyle/>
                    <a:p>
                      <a:r>
                        <a:rPr sz="1300" b="1" i="0">
                          <a:solidFill>
                            <a:srgbClr val="FFFFFF"/>
                          </a:solidFill>
                          <a:latin typeface="Calibri"/>
                        </a:rPr>
                        <a:t>Uso típico</a:t>
                      </a:r>
                    </a:p>
                  </a:txBody>
                  <a:tcPr marL="73152" marR="73152" marT="36576" marB="36576" anchor="ctr">
                    <a:solidFill>
                      <a:srgbClr val="8E1B1B"/>
                    </a:solidFill>
                  </a:tcPr>
                </a:tc>
                <a:extLst>
                  <a:ext uri="{0D108BD9-81ED-4DB2-BD59-A6C34878D82A}">
                    <a16:rowId xmlns:a16="http://schemas.microsoft.com/office/drawing/2014/main" val="10000"/>
                  </a:ext>
                </a:extLst>
              </a:tr>
              <a:tr h="457200">
                <a:tc>
                  <a:txBody>
                    <a:bodyPr/>
                    <a:lstStyle/>
                    <a:p>
                      <a:r>
                        <a:rPr sz="1300" b="1" i="0">
                          <a:solidFill>
                            <a:srgbClr val="262626"/>
                          </a:solidFill>
                          <a:latin typeface="Calibri"/>
                        </a:rPr>
                        <a:t>n (nano)</a:t>
                      </a:r>
                    </a:p>
                  </a:txBody>
                  <a:tcPr marL="73152" marR="73152" marT="36576" marB="36576" anchor="ctr">
                    <a:solidFill>
                      <a:srgbClr val="FFFFFF"/>
                    </a:solidFill>
                  </a:tcPr>
                </a:tc>
                <a:tc>
                  <a:txBody>
                    <a:bodyPr/>
                    <a:lstStyle/>
                    <a:p>
                      <a:r>
                        <a:rPr sz="1300" b="0" i="0">
                          <a:solidFill>
                            <a:srgbClr val="262626"/>
                          </a:solidFill>
                          <a:latin typeface="Calibri"/>
                        </a:rPr>
                        <a:t>Muy pequeño</a:t>
                      </a:r>
                    </a:p>
                  </a:txBody>
                  <a:tcPr marL="73152" marR="73152" marT="36576" marB="36576" anchor="ctr">
                    <a:solidFill>
                      <a:srgbClr val="FFFFFF"/>
                    </a:solidFill>
                  </a:tcPr>
                </a:tc>
                <a:tc>
                  <a:txBody>
                    <a:bodyPr/>
                    <a:lstStyle/>
                    <a:p>
                      <a:r>
                        <a:rPr sz="1300" b="0" i="0">
                          <a:solidFill>
                            <a:srgbClr val="262626"/>
                          </a:solidFill>
                          <a:latin typeface="Calibri"/>
                        </a:rPr>
                        <a:t>Raspberry Pi, celular</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300" b="1" i="0">
                          <a:solidFill>
                            <a:srgbClr val="262626"/>
                          </a:solidFill>
                          <a:latin typeface="Calibri"/>
                        </a:rPr>
                        <a:t>s (small)</a:t>
                      </a:r>
                    </a:p>
                  </a:txBody>
                  <a:tcPr marL="73152" marR="73152" marT="36576" marB="36576" anchor="ctr">
                    <a:solidFill>
                      <a:srgbClr val="FBF1F1"/>
                    </a:solidFill>
                  </a:tcPr>
                </a:tc>
                <a:tc>
                  <a:txBody>
                    <a:bodyPr/>
                    <a:lstStyle/>
                    <a:p>
                      <a:r>
                        <a:rPr sz="1300" b="0" i="0">
                          <a:solidFill>
                            <a:srgbClr val="262626"/>
                          </a:solidFill>
                          <a:latin typeface="Calibri"/>
                        </a:rPr>
                        <a:t>Pequeño</a:t>
                      </a:r>
                    </a:p>
                  </a:txBody>
                  <a:tcPr marL="73152" marR="73152" marT="36576" marB="36576" anchor="ctr">
                    <a:solidFill>
                      <a:srgbClr val="FBF1F1"/>
                    </a:solidFill>
                  </a:tcPr>
                </a:tc>
                <a:tc>
                  <a:txBody>
                    <a:bodyPr/>
                    <a:lstStyle/>
                    <a:p>
                      <a:r>
                        <a:rPr sz="1300" b="0" i="0">
                          <a:solidFill>
                            <a:srgbClr val="262626"/>
                          </a:solidFill>
                          <a:latin typeface="Calibri"/>
                        </a:rPr>
                        <a:t>PC sin GPU</a:t>
                      </a:r>
                    </a:p>
                  </a:txBody>
                  <a:tcPr marL="73152" marR="73152" marT="36576" marB="36576" anchor="ctr">
                    <a:solidFill>
                      <a:srgbClr val="FBF1F1"/>
                    </a:solidFill>
                  </a:tcPr>
                </a:tc>
                <a:extLst>
                  <a:ext uri="{0D108BD9-81ED-4DB2-BD59-A6C34878D82A}">
                    <a16:rowId xmlns:a16="http://schemas.microsoft.com/office/drawing/2014/main" val="10002"/>
                  </a:ext>
                </a:extLst>
              </a:tr>
              <a:tr h="457200">
                <a:tc>
                  <a:txBody>
                    <a:bodyPr/>
                    <a:lstStyle/>
                    <a:p>
                      <a:r>
                        <a:rPr sz="1300" b="1" i="0">
                          <a:solidFill>
                            <a:srgbClr val="262626"/>
                          </a:solidFill>
                          <a:latin typeface="Calibri"/>
                        </a:rPr>
                        <a:t>m (medium)</a:t>
                      </a:r>
                    </a:p>
                  </a:txBody>
                  <a:tcPr marL="73152" marR="73152" marT="36576" marB="36576" anchor="ctr">
                    <a:solidFill>
                      <a:srgbClr val="FFFFFF"/>
                    </a:solidFill>
                  </a:tcPr>
                </a:tc>
                <a:tc>
                  <a:txBody>
                    <a:bodyPr/>
                    <a:lstStyle/>
                    <a:p>
                      <a:r>
                        <a:rPr sz="1300" b="0" i="0">
                          <a:solidFill>
                            <a:srgbClr val="262626"/>
                          </a:solidFill>
                          <a:latin typeface="Calibri"/>
                        </a:rPr>
                        <a:t>Mediano</a:t>
                      </a:r>
                    </a:p>
                  </a:txBody>
                  <a:tcPr marL="73152" marR="73152" marT="36576" marB="36576" anchor="ctr">
                    <a:solidFill>
                      <a:srgbClr val="FFFFFF"/>
                    </a:solidFill>
                  </a:tcPr>
                </a:tc>
                <a:tc>
                  <a:txBody>
                    <a:bodyPr/>
                    <a:lstStyle/>
                    <a:p>
                      <a:r>
                        <a:rPr sz="1300" b="0" i="0">
                          <a:solidFill>
                            <a:srgbClr val="262626"/>
                          </a:solidFill>
                          <a:latin typeface="Calibri"/>
                        </a:rPr>
                        <a:t>PC con GPU</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300" b="1" i="0">
                          <a:solidFill>
                            <a:srgbClr val="262626"/>
                          </a:solidFill>
                          <a:latin typeface="Calibri"/>
                        </a:rPr>
                        <a:t>l / x</a:t>
                      </a:r>
                    </a:p>
                  </a:txBody>
                  <a:tcPr marL="73152" marR="73152" marT="36576" marB="36576" anchor="ctr">
                    <a:solidFill>
                      <a:srgbClr val="FBF1F1"/>
                    </a:solidFill>
                  </a:tcPr>
                </a:tc>
                <a:tc>
                  <a:txBody>
                    <a:bodyPr/>
                    <a:lstStyle/>
                    <a:p>
                      <a:r>
                        <a:rPr sz="1300" b="0" i="0">
                          <a:solidFill>
                            <a:srgbClr val="262626"/>
                          </a:solidFill>
                          <a:latin typeface="Calibri"/>
                        </a:rPr>
                        <a:t>Grande</a:t>
                      </a:r>
                    </a:p>
                  </a:txBody>
                  <a:tcPr marL="73152" marR="73152" marT="36576" marB="36576" anchor="ctr">
                    <a:solidFill>
                      <a:srgbClr val="FBF1F1"/>
                    </a:solidFill>
                  </a:tcPr>
                </a:tc>
                <a:tc>
                  <a:txBody>
                    <a:bodyPr/>
                    <a:lstStyle/>
                    <a:p>
                      <a:r>
                        <a:rPr sz="1300" b="0" i="0">
                          <a:solidFill>
                            <a:srgbClr val="262626"/>
                          </a:solidFill>
                          <a:latin typeface="Calibri"/>
                        </a:rPr>
                        <a:t>Servidores, nube</a:t>
                      </a:r>
                    </a:p>
                  </a:txBody>
                  <a:tcPr marL="73152" marR="73152" marT="36576" marB="36576" anchor="ctr">
                    <a:solidFill>
                      <a:srgbClr val="FBF1F1"/>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57200" y="3566160"/>
            <a:ext cx="4206240" cy="822960"/>
          </a:xfrm>
          <a:prstGeom prst="rect">
            <a:avLst/>
          </a:prstGeom>
          <a:noFill/>
        </p:spPr>
        <p:txBody>
          <a:bodyPr wrap="square" anchor="t">
            <a:spAutoFit/>
          </a:bodyPr>
          <a:lstStyle/>
          <a:p>
            <a:pPr algn="l">
              <a:spcAft>
                <a:spcPts val="600"/>
              </a:spcAft>
            </a:pPr>
            <a:r>
              <a:rPr sz="1400" b="0" i="0">
                <a:solidFill>
                  <a:srgbClr val="262626"/>
                </a:solidFill>
                <a:latin typeface="Calibri"/>
              </a:rPr>
              <a:t>Más grande = más preciso, pero más lento. En el borde </a:t>
            </a:r>
            <a:r>
              <a:rPr sz="1400" b="1" i="0">
                <a:solidFill>
                  <a:srgbClr val="262626"/>
                </a:solidFill>
                <a:latin typeface="Calibri"/>
              </a:rPr>
              <a:t>siempre</a:t>
            </a:r>
            <a:r>
              <a:rPr sz="1400" b="0" i="0">
                <a:solidFill>
                  <a:srgbClr val="262626"/>
                </a:solidFill>
                <a:latin typeface="Calibri"/>
              </a:rPr>
              <a:t> elegimos el más pequeño que cumpla.</a:t>
            </a:r>
          </a:p>
        </p:txBody>
      </p:sp>
      <p:sp>
        <p:nvSpPr>
          <p:cNvPr id="9" name="Rounded Rectangle 8"/>
          <p:cNvSpPr/>
          <p:nvPr/>
        </p:nvSpPr>
        <p:spPr>
          <a:xfrm>
            <a:off x="4937760" y="1143000"/>
            <a:ext cx="3749039" cy="324612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029200" y="1234440"/>
            <a:ext cx="3566160" cy="1097280"/>
          </a:xfrm>
          <a:prstGeom prst="rect">
            <a:avLst/>
          </a:prstGeom>
          <a:noFill/>
        </p:spPr>
        <p:txBody>
          <a:bodyPr wrap="square" anchor="ctr">
            <a:spAutoFit/>
          </a:bodyPr>
          <a:lstStyle/>
          <a:p>
            <a:pPr algn="ctr">
              <a:spcAft>
                <a:spcPts val="600"/>
              </a:spcAft>
            </a:pPr>
            <a:r>
              <a:rPr sz="6000" b="1" i="0">
                <a:solidFill>
                  <a:srgbClr val="8E1B1B"/>
                </a:solidFill>
                <a:latin typeface="Calibri"/>
              </a:rPr>
              <a:t>4,5×</a:t>
            </a:r>
          </a:p>
        </p:txBody>
      </p:sp>
      <p:sp>
        <p:nvSpPr>
          <p:cNvPr id="11" name="TextBox 10"/>
          <p:cNvSpPr txBox="1"/>
          <p:nvPr/>
        </p:nvSpPr>
        <p:spPr>
          <a:xfrm>
            <a:off x="5120640" y="2331720"/>
            <a:ext cx="3383280" cy="914400"/>
          </a:xfrm>
          <a:prstGeom prst="rect">
            <a:avLst/>
          </a:prstGeom>
          <a:noFill/>
        </p:spPr>
        <p:txBody>
          <a:bodyPr wrap="square" anchor="t">
            <a:spAutoFit/>
          </a:bodyPr>
          <a:lstStyle/>
          <a:p>
            <a:pPr algn="ctr">
              <a:spcAft>
                <a:spcPts val="600"/>
              </a:spcAft>
            </a:pPr>
            <a:r>
              <a:rPr sz="1400" b="0" i="0">
                <a:solidFill>
                  <a:srgbClr val="262626"/>
                </a:solidFill>
                <a:latin typeface="Calibri"/>
              </a:rPr>
              <a:t>más rápido al exportar YOLO26n a formato </a:t>
            </a:r>
            <a:r>
              <a:rPr sz="1400" b="1" i="0">
                <a:solidFill>
                  <a:srgbClr val="262626"/>
                </a:solidFill>
                <a:latin typeface="Calibri"/>
              </a:rPr>
              <a:t>NCNN</a:t>
            </a:r>
            <a:r>
              <a:rPr sz="1400" b="0" i="0">
                <a:solidFill>
                  <a:srgbClr val="262626"/>
                </a:solidFill>
                <a:latin typeface="Calibri"/>
              </a:rPr>
              <a:t> (67 ms vs 299 ms por imagen)</a:t>
            </a:r>
          </a:p>
        </p:txBody>
      </p:sp>
      <p:sp>
        <p:nvSpPr>
          <p:cNvPr id="12" name="TextBox 11"/>
          <p:cNvSpPr txBox="1"/>
          <p:nvPr/>
        </p:nvSpPr>
        <p:spPr>
          <a:xfrm>
            <a:off x="5120640" y="3337560"/>
            <a:ext cx="3383280" cy="914400"/>
          </a:xfrm>
          <a:prstGeom prst="rect">
            <a:avLst/>
          </a:prstGeom>
          <a:noFill/>
        </p:spPr>
        <p:txBody>
          <a:bodyPr wrap="square" anchor="t">
            <a:spAutoFit/>
          </a:bodyPr>
          <a:lstStyle/>
          <a:p>
            <a:pPr algn="ctr">
              <a:spcAft>
                <a:spcPts val="600"/>
              </a:spcAft>
            </a:pPr>
            <a:r>
              <a:rPr sz="1100" b="0" i="1">
                <a:solidFill>
                  <a:srgbClr val="707070"/>
                </a:solidFill>
                <a:latin typeface="Calibri"/>
              </a:rPr>
              <a:t>Benchmark oficial de Ultralytics en Raspberry Pi 5. En la Pi 4 los tiempos son mayores.</a:t>
            </a:r>
          </a:p>
        </p:txBody>
      </p:sp>
      <p:sp>
        <p:nvSpPr>
          <p:cNvPr id="13" name="TextBox 12"/>
          <p:cNvSpPr txBox="1"/>
          <p:nvPr/>
        </p:nvSpPr>
        <p:spPr>
          <a:xfrm>
            <a:off x="457200" y="4663440"/>
            <a:ext cx="8229600" cy="411480"/>
          </a:xfrm>
          <a:prstGeom prst="rect">
            <a:avLst/>
          </a:prstGeom>
          <a:noFill/>
        </p:spPr>
        <p:txBody>
          <a:bodyPr wrap="square" anchor="t">
            <a:spAutoFit/>
          </a:bodyPr>
          <a:lstStyle/>
          <a:p>
            <a:pPr algn="l">
              <a:spcAft>
                <a:spcPts val="600"/>
              </a:spcAft>
            </a:pPr>
            <a:r>
              <a:rPr sz="1500" b="1" i="0">
                <a:solidFill>
                  <a:srgbClr val="8E1B1B"/>
                </a:solidFill>
                <a:latin typeface="Calibri"/>
              </a:rPr>
              <a:t>Tres perillas para ganar velocidad (en el notebook y, sobre todo, en la Pi):</a:t>
            </a:r>
          </a:p>
        </p:txBody>
      </p:sp>
      <p:sp>
        <p:nvSpPr>
          <p:cNvPr id="14" name="Rounded Rectangle 13"/>
          <p:cNvSpPr/>
          <p:nvPr/>
        </p:nvSpPr>
        <p:spPr>
          <a:xfrm>
            <a:off x="457200" y="5120640"/>
            <a:ext cx="2606040" cy="109728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594360" y="534924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ayers_w.png"/>
          <p:cNvPicPr>
            <a:picLocks noChangeAspect="1"/>
          </p:cNvPicPr>
          <p:nvPr/>
        </p:nvPicPr>
        <p:blipFill>
          <a:blip r:embed="rId5"/>
          <a:stretch>
            <a:fillRect/>
          </a:stretch>
        </p:blipFill>
        <p:spPr>
          <a:xfrm>
            <a:off x="725119" y="5479999"/>
            <a:ext cx="332841" cy="332841"/>
          </a:xfrm>
          <a:prstGeom prst="rect">
            <a:avLst/>
          </a:prstGeom>
        </p:spPr>
      </p:pic>
      <p:sp>
        <p:nvSpPr>
          <p:cNvPr id="17" name="TextBox 16"/>
          <p:cNvSpPr txBox="1"/>
          <p:nvPr/>
        </p:nvSpPr>
        <p:spPr>
          <a:xfrm>
            <a:off x="1280160" y="5166360"/>
            <a:ext cx="1737360" cy="457200"/>
          </a:xfrm>
          <a:prstGeom prst="rect">
            <a:avLst/>
          </a:prstGeom>
          <a:noFill/>
        </p:spPr>
        <p:txBody>
          <a:bodyPr wrap="square" lIns="18288" tIns="18288" rIns="18288" bIns="18288" anchor="ctr">
            <a:spAutoFit/>
          </a:bodyPr>
          <a:lstStyle/>
          <a:p>
            <a:pPr algn="l">
              <a:spcAft>
                <a:spcPts val="600"/>
              </a:spcAft>
            </a:pPr>
            <a:r>
              <a:rPr sz="1400" b="1" i="0">
                <a:solidFill>
                  <a:srgbClr val="262626"/>
                </a:solidFill>
                <a:latin typeface="Calibri"/>
              </a:rPr>
              <a:t>Modelo nano</a:t>
            </a:r>
          </a:p>
        </p:txBody>
      </p:sp>
      <p:sp>
        <p:nvSpPr>
          <p:cNvPr id="18" name="TextBox 17"/>
          <p:cNvSpPr txBox="1"/>
          <p:nvPr/>
        </p:nvSpPr>
        <p:spPr>
          <a:xfrm>
            <a:off x="1280160" y="5623560"/>
            <a:ext cx="1737360" cy="502920"/>
          </a:xfrm>
          <a:prstGeom prst="rect">
            <a:avLst/>
          </a:prstGeom>
          <a:noFill/>
        </p:spPr>
        <p:txBody>
          <a:bodyPr wrap="square" lIns="18288" tIns="18288" rIns="18288" bIns="18288" anchor="t">
            <a:spAutoFit/>
          </a:bodyPr>
          <a:lstStyle/>
          <a:p>
            <a:pPr algn="l">
              <a:spcAft>
                <a:spcPts val="600"/>
              </a:spcAft>
            </a:pPr>
            <a:r>
              <a:rPr sz="1100" b="0" i="0">
                <a:solidFill>
                  <a:srgbClr val="8E1B1B"/>
                </a:solidFill>
                <a:latin typeface="Courier New"/>
              </a:rPr>
              <a:t>yolo26n</a:t>
            </a:r>
          </a:p>
        </p:txBody>
      </p:sp>
      <p:sp>
        <p:nvSpPr>
          <p:cNvPr id="19" name="Rounded Rectangle 18"/>
          <p:cNvSpPr/>
          <p:nvPr/>
        </p:nvSpPr>
        <p:spPr>
          <a:xfrm>
            <a:off x="3246120" y="5120640"/>
            <a:ext cx="2606040" cy="109728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3383279" y="534924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speed_w.png"/>
          <p:cNvPicPr>
            <a:picLocks noChangeAspect="1"/>
          </p:cNvPicPr>
          <p:nvPr/>
        </p:nvPicPr>
        <p:blipFill>
          <a:blip r:embed="rId6"/>
          <a:stretch>
            <a:fillRect/>
          </a:stretch>
        </p:blipFill>
        <p:spPr>
          <a:xfrm>
            <a:off x="3514039" y="5479999"/>
            <a:ext cx="332841" cy="332841"/>
          </a:xfrm>
          <a:prstGeom prst="rect">
            <a:avLst/>
          </a:prstGeom>
        </p:spPr>
      </p:pic>
      <p:sp>
        <p:nvSpPr>
          <p:cNvPr id="22" name="TextBox 21"/>
          <p:cNvSpPr txBox="1"/>
          <p:nvPr/>
        </p:nvSpPr>
        <p:spPr>
          <a:xfrm>
            <a:off x="4069080" y="5166360"/>
            <a:ext cx="1737360" cy="457200"/>
          </a:xfrm>
          <a:prstGeom prst="rect">
            <a:avLst/>
          </a:prstGeom>
          <a:noFill/>
        </p:spPr>
        <p:txBody>
          <a:bodyPr wrap="square" lIns="18288" tIns="18288" rIns="18288" bIns="18288" anchor="ctr">
            <a:spAutoFit/>
          </a:bodyPr>
          <a:lstStyle/>
          <a:p>
            <a:pPr algn="l">
              <a:spcAft>
                <a:spcPts val="600"/>
              </a:spcAft>
            </a:pPr>
            <a:r>
              <a:rPr sz="1400" b="1" i="0">
                <a:solidFill>
                  <a:srgbClr val="262626"/>
                </a:solidFill>
                <a:latin typeface="Calibri"/>
              </a:rPr>
              <a:t>Formato NCNN</a:t>
            </a:r>
          </a:p>
        </p:txBody>
      </p:sp>
      <p:sp>
        <p:nvSpPr>
          <p:cNvPr id="23" name="TextBox 22"/>
          <p:cNvSpPr txBox="1"/>
          <p:nvPr/>
        </p:nvSpPr>
        <p:spPr>
          <a:xfrm>
            <a:off x="4069080" y="5623560"/>
            <a:ext cx="1737360" cy="502920"/>
          </a:xfrm>
          <a:prstGeom prst="rect">
            <a:avLst/>
          </a:prstGeom>
          <a:noFill/>
        </p:spPr>
        <p:txBody>
          <a:bodyPr wrap="square" lIns="18288" tIns="18288" rIns="18288" bIns="18288" anchor="t">
            <a:spAutoFit/>
          </a:bodyPr>
          <a:lstStyle/>
          <a:p>
            <a:pPr algn="l">
              <a:spcAft>
                <a:spcPts val="600"/>
              </a:spcAft>
            </a:pPr>
            <a:r>
              <a:rPr sz="1100" b="0" i="0">
                <a:solidFill>
                  <a:srgbClr val="8E1B1B"/>
                </a:solidFill>
                <a:latin typeface="Courier New"/>
              </a:rPr>
              <a:t>format="ncnn"</a:t>
            </a:r>
          </a:p>
        </p:txBody>
      </p:sp>
      <p:sp>
        <p:nvSpPr>
          <p:cNvPr id="24" name="Rounded Rectangle 23"/>
          <p:cNvSpPr/>
          <p:nvPr/>
        </p:nvSpPr>
        <p:spPr>
          <a:xfrm>
            <a:off x="6035040" y="5120640"/>
            <a:ext cx="2606040" cy="109728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6172200" y="534924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image_w.png"/>
          <p:cNvPicPr>
            <a:picLocks noChangeAspect="1"/>
          </p:cNvPicPr>
          <p:nvPr/>
        </p:nvPicPr>
        <p:blipFill>
          <a:blip r:embed="rId7"/>
          <a:stretch>
            <a:fillRect/>
          </a:stretch>
        </p:blipFill>
        <p:spPr>
          <a:xfrm>
            <a:off x="6302959" y="5479999"/>
            <a:ext cx="332841" cy="332841"/>
          </a:xfrm>
          <a:prstGeom prst="rect">
            <a:avLst/>
          </a:prstGeom>
        </p:spPr>
      </p:pic>
      <p:sp>
        <p:nvSpPr>
          <p:cNvPr id="27" name="TextBox 26"/>
          <p:cNvSpPr txBox="1"/>
          <p:nvPr/>
        </p:nvSpPr>
        <p:spPr>
          <a:xfrm>
            <a:off x="6858000" y="5166360"/>
            <a:ext cx="1737360" cy="457200"/>
          </a:xfrm>
          <a:prstGeom prst="rect">
            <a:avLst/>
          </a:prstGeom>
          <a:noFill/>
        </p:spPr>
        <p:txBody>
          <a:bodyPr wrap="square" lIns="18288" tIns="18288" rIns="18288" bIns="18288" anchor="ctr">
            <a:spAutoFit/>
          </a:bodyPr>
          <a:lstStyle/>
          <a:p>
            <a:pPr algn="l">
              <a:spcAft>
                <a:spcPts val="600"/>
              </a:spcAft>
            </a:pPr>
            <a:r>
              <a:rPr sz="1400" b="1" i="0">
                <a:solidFill>
                  <a:srgbClr val="262626"/>
                </a:solidFill>
                <a:latin typeface="Calibri"/>
              </a:rPr>
              <a:t>Imagen más chica</a:t>
            </a:r>
          </a:p>
        </p:txBody>
      </p:sp>
      <p:sp>
        <p:nvSpPr>
          <p:cNvPr id="28" name="TextBox 27"/>
          <p:cNvSpPr txBox="1"/>
          <p:nvPr/>
        </p:nvSpPr>
        <p:spPr>
          <a:xfrm>
            <a:off x="6858000" y="5623560"/>
            <a:ext cx="1737360" cy="502920"/>
          </a:xfrm>
          <a:prstGeom prst="rect">
            <a:avLst/>
          </a:prstGeom>
          <a:noFill/>
        </p:spPr>
        <p:txBody>
          <a:bodyPr wrap="square" lIns="18288" tIns="18288" rIns="18288" bIns="18288" anchor="t">
            <a:spAutoFit/>
          </a:bodyPr>
          <a:lstStyle/>
          <a:p>
            <a:pPr algn="l">
              <a:spcAft>
                <a:spcPts val="600"/>
              </a:spcAft>
            </a:pPr>
            <a:r>
              <a:rPr sz="1100" b="0" i="0">
                <a:solidFill>
                  <a:srgbClr val="8E1B1B"/>
                </a:solidFill>
                <a:latin typeface="Courier New"/>
              </a:rPr>
              <a:t>imgsz=320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Código · Tiempo real con tu cámara</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32</a:t>
            </a:r>
          </a:p>
        </p:txBody>
      </p:sp>
      <p:sp>
        <p:nvSpPr>
          <p:cNvPr id="7" name="Rounded Rectangle 6"/>
          <p:cNvSpPr/>
          <p:nvPr/>
        </p:nvSpPr>
        <p:spPr>
          <a:xfrm>
            <a:off x="457200" y="1097280"/>
            <a:ext cx="8229600" cy="379476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4360" y="1152144"/>
            <a:ext cx="7955279"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05_yolo_camara.py (extracto)</a:t>
            </a:r>
          </a:p>
        </p:txBody>
      </p:sp>
      <p:sp>
        <p:nvSpPr>
          <p:cNvPr id="9" name="Codigo"/>
          <p:cNvSpPr txBox="1"/>
          <p:nvPr/>
        </p:nvSpPr>
        <p:spPr>
          <a:xfrm>
            <a:off x="594360" y="1444752"/>
            <a:ext cx="7955279" cy="3410712"/>
          </a:xfrm>
          <a:prstGeom prst="rect">
            <a:avLst/>
          </a:prstGeom>
          <a:noFill/>
        </p:spPr>
        <p:txBody>
          <a:bodyPr wrap="square" lIns="0" tIns="0" rIns="0" bIns="0">
            <a:spAutoFit/>
          </a:bodyPr>
          <a:lstStyle/>
          <a:p>
            <a:pPr>
              <a:spcAft>
                <a:spcPts val="0"/>
              </a:spcAft>
            </a:pPr>
            <a:r>
              <a:rPr sz="1100">
                <a:solidFill>
                  <a:srgbClr val="E6E6E6"/>
                </a:solidFill>
                <a:latin typeface="Courier New"/>
              </a:rPr>
              <a:t>CLASE_A_CONTAR = "person"</a:t>
            </a:r>
            <a:r>
              <a:rPr sz="1100">
                <a:solidFill>
                  <a:srgbClr val="8FBF8F"/>
                </a:solidFill>
                <a:latin typeface="Courier New"/>
              </a:rPr>
              <a:t>        # prueba: cell phone, bottle, cup, book...</a:t>
            </a:r>
          </a:p>
          <a:p>
            <a:pPr>
              <a:spcAft>
                <a:spcPts val="0"/>
              </a:spcAft>
            </a:pPr>
            <a:r>
              <a:rPr sz="1100">
                <a:solidFill>
                  <a:srgbClr val="E6E6E6"/>
                </a:solidFill>
                <a:latin typeface="Courier New"/>
              </a:rPr>
              <a:t>TAMANO = 320</a:t>
            </a:r>
            <a:r>
              <a:rPr sz="1100">
                <a:solidFill>
                  <a:srgbClr val="8FBF8F"/>
                </a:solidFill>
                <a:latin typeface="Courier New"/>
              </a:rPr>
              <a:t>                     # 320 = más rápido  ·  640 = más preciso</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leer = abrir_camara(fuente_desde_argumentos(sys.argv))</a:t>
            </a:r>
            <a:r>
              <a:rPr sz="1100">
                <a:solidFill>
                  <a:srgbClr val="8FBF8F"/>
                </a:solidFill>
                <a:latin typeface="Courier New"/>
              </a:rPr>
              <a:t>     # webcam, celular o ESP32-CAM</a:t>
            </a:r>
          </a:p>
          <a:p>
            <a:pPr>
              <a:spcAft>
                <a:spcPts val="0"/>
              </a:spcAft>
            </a:pPr>
            <a:r>
              <a:rPr sz="1100">
                <a:solidFill>
                  <a:srgbClr val="E6E6E6"/>
                </a:solidFill>
                <a:latin typeface="Courier New"/>
              </a:rPr>
              <a:t>while True:</a:t>
            </a:r>
          </a:p>
          <a:p>
            <a:pPr>
              <a:spcAft>
                <a:spcPts val="0"/>
              </a:spcAft>
            </a:pPr>
            <a:r>
              <a:rPr sz="1100">
                <a:solidFill>
                  <a:srgbClr val="E6E6E6"/>
                </a:solidFill>
                <a:latin typeface="Courier New"/>
              </a:rPr>
              <a:t>    frame = leer()</a:t>
            </a:r>
          </a:p>
          <a:p>
            <a:pPr>
              <a:spcAft>
                <a:spcPts val="0"/>
              </a:spcAft>
            </a:pPr>
            <a:r>
              <a:rPr sz="1100">
                <a:solidFill>
                  <a:srgbClr val="E6E6E6"/>
                </a:solidFill>
                <a:latin typeface="Courier New"/>
              </a:rPr>
              <a:t>    t0 = time.time()</a:t>
            </a:r>
          </a:p>
          <a:p>
            <a:pPr>
              <a:spcAft>
                <a:spcPts val="0"/>
              </a:spcAft>
            </a:pPr>
            <a:r>
              <a:rPr sz="1100">
                <a:solidFill>
                  <a:srgbClr val="E6E6E6"/>
                </a:solidFill>
                <a:latin typeface="Courier New"/>
              </a:rPr>
              <a:t>    r = modelo(frame, imgsz=TAMANO, conf=0.5, verbose=False)[0]</a:t>
            </a:r>
          </a:p>
          <a:p>
            <a:pPr>
              <a:spcAft>
                <a:spcPts val="0"/>
              </a:spcAft>
            </a:pPr>
            <a:r>
              <a:rPr sz="1100">
                <a:solidFill>
                  <a:srgbClr val="E6E6E6"/>
                </a:solidFill>
                <a:latin typeface="Courier New"/>
              </a:rPr>
              <a:t>    fps = 1 / (time.time() - t0)</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    cantidad = sum(1 for c in r.boxes if modelo.names[int(c.cls)] == CLASE_A_CONTAR)</a:t>
            </a:r>
          </a:p>
          <a:p>
            <a:pPr>
              <a:spcAft>
                <a:spcPts val="0"/>
              </a:spcAft>
            </a:pPr>
            <a:r>
              <a:rPr sz="1100">
                <a:solidFill>
                  <a:srgbClr val="E6E6E6"/>
                </a:solidFill>
                <a:latin typeface="Courier New"/>
              </a:rPr>
              <a:t>    vista = r.plot()</a:t>
            </a:r>
          </a:p>
          <a:p>
            <a:pPr>
              <a:spcAft>
                <a:spcPts val="0"/>
              </a:spcAft>
            </a:pPr>
            <a:r>
              <a:rPr sz="1100">
                <a:solidFill>
                  <a:srgbClr val="E6E6E6"/>
                </a:solidFill>
                <a:latin typeface="Courier New"/>
              </a:rPr>
              <a:t>    cv2.putText(vista, f"{CLASE_A_CONTAR}: {cantidad}   FPS: {fps:.1f}", (10, 30),</a:t>
            </a:r>
          </a:p>
          <a:p>
            <a:pPr>
              <a:spcAft>
                <a:spcPts val="0"/>
              </a:spcAft>
            </a:pPr>
            <a:r>
              <a:rPr sz="1100">
                <a:solidFill>
                  <a:srgbClr val="E6E6E6"/>
                </a:solidFill>
                <a:latin typeface="Courier New"/>
              </a:rPr>
              <a:t>                cv2.FONT_HERSHEY_SIMPLEX, 0.8, (0, 0, 255), 2)</a:t>
            </a:r>
          </a:p>
          <a:p>
            <a:pPr>
              <a:spcAft>
                <a:spcPts val="0"/>
              </a:spcAft>
            </a:pPr>
            <a:r>
              <a:rPr sz="1100">
                <a:solidFill>
                  <a:srgbClr val="E6E6E6"/>
                </a:solidFill>
                <a:latin typeface="Courier New"/>
              </a:rPr>
              <a:t>    cv2.imshow("YOLO en tiempo real", vista)</a:t>
            </a:r>
          </a:p>
          <a:p>
            <a:pPr>
              <a:spcAft>
                <a:spcPts val="0"/>
              </a:spcAft>
            </a:pPr>
            <a:r>
              <a:rPr sz="1100">
                <a:solidFill>
                  <a:srgbClr val="E6E6E6"/>
                </a:solidFill>
                <a:latin typeface="Courier New"/>
              </a:rPr>
              <a:t>    if cv2.waitKey(1) &amp; 0xFF == ord("q"):</a:t>
            </a:r>
            <a:r>
              <a:rPr sz="1100">
                <a:solidFill>
                  <a:srgbClr val="8FBF8F"/>
                </a:solidFill>
                <a:latin typeface="Courier New"/>
              </a:rPr>
              <a:t>                  # q para salir</a:t>
            </a:r>
          </a:p>
          <a:p>
            <a:pPr>
              <a:spcAft>
                <a:spcPts val="0"/>
              </a:spcAft>
            </a:pPr>
            <a:r>
              <a:rPr sz="1100">
                <a:solidFill>
                  <a:srgbClr val="E6E6E6"/>
                </a:solidFill>
                <a:latin typeface="Courier New"/>
              </a:rPr>
              <a:t>        break</a:t>
            </a:r>
          </a:p>
        </p:txBody>
      </p:sp>
      <p:sp>
        <p:nvSpPr>
          <p:cNvPr id="10" name="TextBox 9"/>
          <p:cNvSpPr txBox="1"/>
          <p:nvPr/>
        </p:nvSpPr>
        <p:spPr>
          <a:xfrm>
            <a:off x="457200" y="5074920"/>
            <a:ext cx="8229600" cy="1188720"/>
          </a:xfrm>
          <a:prstGeom prst="rect">
            <a:avLst/>
          </a:prstGeom>
          <a:noFill/>
        </p:spPr>
        <p:txBody>
          <a:bodyPr wrap="square" anchor="t">
            <a:spAutoFit/>
          </a:bodyPr>
          <a:lstStyle/>
          <a:p>
            <a:pPr marL="228600" indent="-201168" algn="l">
              <a:spcAft>
                <a:spcPts val="500"/>
              </a:spcAft>
              <a:buClr>
                <a:srgbClr val="8E1B1B"/>
              </a:buClr>
              <a:buFont typeface="Arial"/>
              <a:buChar char="•"/>
            </a:pPr>
            <a:r>
              <a:rPr sz="1400" b="0" i="0">
                <a:solidFill>
                  <a:srgbClr val="262626"/>
                </a:solidFill>
                <a:latin typeface="Calibri"/>
              </a:rPr>
              <a:t>Es el mismo código de la imagen, pero </a:t>
            </a:r>
            <a:r>
              <a:rPr sz="1400" b="1" i="0">
                <a:solidFill>
                  <a:srgbClr val="262626"/>
                </a:solidFill>
                <a:latin typeface="Calibri"/>
              </a:rPr>
              <a:t>dentro de un ciclo</a:t>
            </a:r>
            <a:r>
              <a:rPr sz="1400" b="0" i="0">
                <a:solidFill>
                  <a:srgbClr val="262626"/>
                </a:solidFill>
                <a:latin typeface="Calibri"/>
              </a:rPr>
              <a:t>: un cuadro de video a la vez.</a:t>
            </a:r>
          </a:p>
          <a:p>
            <a:pPr marL="228600" indent="-201168" algn="l">
              <a:spcAft>
                <a:spcPts val="500"/>
              </a:spcAft>
              <a:buClr>
                <a:srgbClr val="8E1B1B"/>
              </a:buClr>
              <a:buFont typeface="Arial"/>
              <a:buChar char="•"/>
            </a:pPr>
            <a:r>
              <a:rPr sz="1400" b="1" i="0">
                <a:solidFill>
                  <a:srgbClr val="262626"/>
                </a:solidFill>
                <a:latin typeface="Calibri"/>
              </a:rPr>
              <a:t>FPS</a:t>
            </a:r>
            <a:r>
              <a:rPr sz="1400" b="0" i="0">
                <a:solidFill>
                  <a:srgbClr val="262626"/>
                </a:solidFill>
                <a:latin typeface="Calibri"/>
              </a:rPr>
              <a:t> (cuadros por segundo): cuántas imágenes alcanza a analizar en un segundo.</a:t>
            </a:r>
          </a:p>
          <a:p>
            <a:pPr marL="228600" indent="-201168" algn="l">
              <a:spcAft>
                <a:spcPts val="500"/>
              </a:spcAft>
              <a:buClr>
                <a:srgbClr val="8E1B1B"/>
              </a:buClr>
              <a:buFont typeface="Arial"/>
              <a:buChar char="•"/>
            </a:pPr>
            <a:r>
              <a:rPr sz="1400" b="0" i="0">
                <a:solidFill>
                  <a:srgbClr val="262626"/>
                </a:solidFill>
                <a:latin typeface="Calibri"/>
              </a:rPr>
              <a:t>La cámara se elige al ejecutar: </a:t>
            </a:r>
            <a:r>
              <a:rPr sz="1300" b="0" i="0">
                <a:solidFill>
                  <a:srgbClr val="8E1B1B"/>
                </a:solidFill>
                <a:latin typeface="Courier New"/>
              </a:rPr>
              <a:t>python 05_yolo_camara.py 1</a:t>
            </a:r>
            <a:r>
              <a:rPr sz="1400" b="0" i="0">
                <a:solidFill>
                  <a:srgbClr val="262626"/>
                </a:solidFill>
                <a:latin typeface="Calibri"/>
              </a:rPr>
              <a:t> o con una URL.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3272E"/>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Momento de código 4</a:t>
            </a:r>
          </a:p>
        </p:txBody>
      </p:sp>
      <p:sp>
        <p:nvSpPr>
          <p:cNvPr id="5" name="Oval 4"/>
          <p:cNvSpPr/>
          <p:nvPr/>
        </p:nvSpPr>
        <p:spPr>
          <a:xfrm>
            <a:off x="457200" y="105156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aptop_w.png"/>
          <p:cNvPicPr>
            <a:picLocks noChangeAspect="1"/>
          </p:cNvPicPr>
          <p:nvPr/>
        </p:nvPicPr>
        <p:blipFill>
          <a:blip r:embed="rId4"/>
          <a:stretch>
            <a:fillRect/>
          </a:stretch>
        </p:blipFill>
        <p:spPr>
          <a:xfrm>
            <a:off x="598017" y="1192377"/>
            <a:ext cx="358444" cy="358444"/>
          </a:xfrm>
          <a:prstGeom prst="rect">
            <a:avLst/>
          </a:prstGeom>
        </p:spPr>
      </p:pic>
      <p:sp>
        <p:nvSpPr>
          <p:cNvPr id="7" name="TextBox 6"/>
          <p:cNvSpPr txBox="1"/>
          <p:nvPr/>
        </p:nvSpPr>
        <p:spPr>
          <a:xfrm>
            <a:off x="1234440" y="1024128"/>
            <a:ext cx="5120640" cy="365760"/>
          </a:xfrm>
          <a:prstGeom prst="rect">
            <a:avLst/>
          </a:prstGeom>
          <a:noFill/>
        </p:spPr>
        <p:txBody>
          <a:bodyPr wrap="square" lIns="0" tIns="0" rIns="0" bIns="0" anchor="t">
            <a:spAutoFit/>
          </a:bodyPr>
          <a:lstStyle/>
          <a:p>
            <a:pPr algn="l">
              <a:spcAft>
                <a:spcPts val="600"/>
              </a:spcAft>
            </a:pPr>
            <a:r>
              <a:rPr sz="1300" b="1" i="0">
                <a:solidFill>
                  <a:srgbClr val="F2C14E"/>
                </a:solidFill>
                <a:latin typeface="Calibri"/>
              </a:rPr>
              <a:t>AHORA EN TU COMPUTADOR</a:t>
            </a:r>
          </a:p>
        </p:txBody>
      </p:sp>
      <p:sp>
        <p:nvSpPr>
          <p:cNvPr id="8" name="TextBox 7"/>
          <p:cNvSpPr txBox="1"/>
          <p:nvPr/>
        </p:nvSpPr>
        <p:spPr>
          <a:xfrm>
            <a:off x="1234440" y="1344168"/>
            <a:ext cx="5394960" cy="411480"/>
          </a:xfrm>
          <a:prstGeom prst="rect">
            <a:avLst/>
          </a:prstGeom>
          <a:noFill/>
        </p:spPr>
        <p:txBody>
          <a:bodyPr wrap="square" lIns="0" tIns="0" rIns="0" bIns="0" anchor="t">
            <a:spAutoFit/>
          </a:bodyPr>
          <a:lstStyle/>
          <a:p>
            <a:pPr algn="l">
              <a:spcAft>
                <a:spcPts val="600"/>
              </a:spcAft>
            </a:pPr>
            <a:r>
              <a:rPr sz="2200" b="1" i="0">
                <a:solidFill>
                  <a:srgbClr val="FFFFFF"/>
                </a:solidFill>
                <a:latin typeface="Courier New"/>
              </a:rPr>
              <a:t>05_yolo_camara.py</a:t>
            </a:r>
          </a:p>
        </p:txBody>
      </p:sp>
      <p:sp>
        <p:nvSpPr>
          <p:cNvPr id="9" name="Rounded Rectangle 8"/>
          <p:cNvSpPr/>
          <p:nvPr/>
        </p:nvSpPr>
        <p:spPr>
          <a:xfrm>
            <a:off x="6720840" y="1051560"/>
            <a:ext cx="1965960" cy="6400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imer_w.png"/>
          <p:cNvPicPr>
            <a:picLocks noChangeAspect="1"/>
          </p:cNvPicPr>
          <p:nvPr/>
        </p:nvPicPr>
        <p:blipFill>
          <a:blip r:embed="rId5"/>
          <a:stretch>
            <a:fillRect/>
          </a:stretch>
        </p:blipFill>
        <p:spPr>
          <a:xfrm>
            <a:off x="6858000" y="1143000"/>
            <a:ext cx="457200" cy="457200"/>
          </a:xfrm>
          <a:prstGeom prst="rect">
            <a:avLst/>
          </a:prstGeom>
        </p:spPr>
      </p:pic>
      <p:sp>
        <p:nvSpPr>
          <p:cNvPr id="11" name="TextBox 10"/>
          <p:cNvSpPr txBox="1"/>
          <p:nvPr/>
        </p:nvSpPr>
        <p:spPr>
          <a:xfrm>
            <a:off x="7360920" y="1051560"/>
            <a:ext cx="1280160" cy="640080"/>
          </a:xfrm>
          <a:prstGeom prst="rect">
            <a:avLst/>
          </a:prstGeom>
          <a:noFill/>
        </p:spPr>
        <p:txBody>
          <a:bodyPr wrap="square" lIns="0" tIns="0" rIns="0" bIns="0" anchor="ctr">
            <a:spAutoFit/>
          </a:bodyPr>
          <a:lstStyle/>
          <a:p>
            <a:pPr algn="l">
              <a:spcAft>
                <a:spcPts val="600"/>
              </a:spcAft>
            </a:pPr>
            <a:r>
              <a:rPr sz="1700" b="1" i="0">
                <a:solidFill>
                  <a:srgbClr val="FFFFFF"/>
                </a:solidFill>
                <a:latin typeface="Calibri"/>
              </a:rPr>
              <a:t>≈ 10 min</a:t>
            </a:r>
          </a:p>
        </p:txBody>
      </p:sp>
      <p:sp>
        <p:nvSpPr>
          <p:cNvPr id="12" name="TextBox 11"/>
          <p:cNvSpPr txBox="1"/>
          <p:nvPr/>
        </p:nvSpPr>
        <p:spPr>
          <a:xfrm>
            <a:off x="457200" y="1874519"/>
            <a:ext cx="8229600" cy="457200"/>
          </a:xfrm>
          <a:prstGeom prst="rect">
            <a:avLst/>
          </a:prstGeom>
          <a:noFill/>
        </p:spPr>
        <p:txBody>
          <a:bodyPr wrap="square" lIns="0" tIns="0" rIns="0" bIns="0" anchor="t">
            <a:spAutoFit/>
          </a:bodyPr>
          <a:lstStyle/>
          <a:p>
            <a:pPr algn="l">
              <a:spcAft>
                <a:spcPts val="600"/>
              </a:spcAft>
            </a:pPr>
            <a:r>
              <a:rPr sz="1500" b="0" i="0">
                <a:solidFill>
                  <a:srgbClr val="D9DDE3"/>
                </a:solidFill>
                <a:latin typeface="Calibri"/>
              </a:rPr>
              <a:t>Detectar y contar objetos en vivo con tu propia cámara.</a:t>
            </a:r>
          </a:p>
        </p:txBody>
      </p:sp>
      <p:sp>
        <p:nvSpPr>
          <p:cNvPr id="13" name="Rounded Rectangle 12"/>
          <p:cNvSpPr/>
          <p:nvPr/>
        </p:nvSpPr>
        <p:spPr>
          <a:xfrm>
            <a:off x="457200" y="2377440"/>
            <a:ext cx="8229600" cy="576072"/>
          </a:xfrm>
          <a:prstGeom prst="roundRect">
            <a:avLst>
              <a:gd name="adj" fmla="val 8000"/>
            </a:avLst>
          </a:prstGeom>
          <a:solidFill>
            <a:srgbClr val="141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2395728"/>
            <a:ext cx="7863840" cy="548640"/>
          </a:xfrm>
          <a:prstGeom prst="rect">
            <a:avLst/>
          </a:prstGeom>
          <a:noFill/>
        </p:spPr>
        <p:txBody>
          <a:bodyPr wrap="square" lIns="18288" tIns="18288" rIns="18288" bIns="18288" anchor="ctr">
            <a:spAutoFit/>
          </a:bodyPr>
          <a:lstStyle/>
          <a:p>
            <a:pPr algn="l">
              <a:spcAft>
                <a:spcPts val="0"/>
              </a:spcAft>
            </a:pPr>
            <a:r>
              <a:rPr sz="1400" b="0" i="0">
                <a:solidFill>
                  <a:srgbClr val="9FE29F"/>
                </a:solidFill>
                <a:latin typeface="Courier New"/>
              </a:rPr>
              <a:t>$ python 05_yolo_camara.py</a:t>
            </a:r>
          </a:p>
        </p:txBody>
      </p:sp>
      <p:sp>
        <p:nvSpPr>
          <p:cNvPr id="15" name="TextBox 14"/>
          <p:cNvSpPr txBox="1"/>
          <p:nvPr/>
        </p:nvSpPr>
        <p:spPr>
          <a:xfrm>
            <a:off x="457200" y="3108960"/>
            <a:ext cx="8229600" cy="365760"/>
          </a:xfrm>
          <a:prstGeom prst="rect">
            <a:avLst/>
          </a:prstGeom>
          <a:noFill/>
        </p:spPr>
        <p:txBody>
          <a:bodyPr wrap="square" lIns="0" tIns="0" rIns="0" bIns="0" anchor="t">
            <a:spAutoFit/>
          </a:bodyPr>
          <a:lstStyle/>
          <a:p>
            <a:pPr algn="l">
              <a:spcAft>
                <a:spcPts val="600"/>
              </a:spcAft>
            </a:pPr>
            <a:r>
              <a:rPr sz="1500" b="1" i="0">
                <a:solidFill>
                  <a:srgbClr val="F2C14E"/>
                </a:solidFill>
                <a:latin typeface="Calibri"/>
              </a:rPr>
              <a:t>Prueba esto:</a:t>
            </a:r>
          </a:p>
        </p:txBody>
      </p:sp>
      <p:sp>
        <p:nvSpPr>
          <p:cNvPr id="16" name="Rounded Rectangle 15"/>
          <p:cNvSpPr/>
          <p:nvPr/>
        </p:nvSpPr>
        <p:spPr>
          <a:xfrm>
            <a:off x="457200" y="3520440"/>
            <a:ext cx="8229600" cy="658368"/>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94360" y="367588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367588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1</a:t>
            </a:r>
          </a:p>
        </p:txBody>
      </p:sp>
      <p:sp>
        <p:nvSpPr>
          <p:cNvPr id="19" name="TextBox 18"/>
          <p:cNvSpPr txBox="1"/>
          <p:nvPr/>
        </p:nvSpPr>
        <p:spPr>
          <a:xfrm>
            <a:off x="1097280" y="3520440"/>
            <a:ext cx="7452360" cy="658368"/>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Cambia </a:t>
            </a:r>
            <a:r>
              <a:rPr sz="1300" b="0" i="0">
                <a:solidFill>
                  <a:srgbClr val="FFFFFF"/>
                </a:solidFill>
                <a:latin typeface="Courier New"/>
              </a:rPr>
              <a:t>CLASE_A_CONTAR</a:t>
            </a:r>
            <a:r>
              <a:rPr sz="1400" b="0" i="0">
                <a:solidFill>
                  <a:srgbClr val="FFFFFF"/>
                </a:solidFill>
                <a:latin typeface="Calibri"/>
              </a:rPr>
              <a:t> por </a:t>
            </a:r>
            <a:r>
              <a:rPr sz="1300" b="0" i="0">
                <a:solidFill>
                  <a:srgbClr val="FFFFFF"/>
                </a:solidFill>
                <a:latin typeface="Courier New"/>
              </a:rPr>
              <a:t>"cell phone"</a:t>
            </a:r>
            <a:r>
              <a:rPr sz="1400" b="0" i="0">
                <a:solidFill>
                  <a:srgbClr val="FFFFFF"/>
                </a:solidFill>
                <a:latin typeface="Calibri"/>
              </a:rPr>
              <a:t>, </a:t>
            </a:r>
            <a:r>
              <a:rPr sz="1300" b="0" i="0">
                <a:solidFill>
                  <a:srgbClr val="FFFFFF"/>
                </a:solidFill>
                <a:latin typeface="Courier New"/>
              </a:rPr>
              <a:t>"bottle"</a:t>
            </a:r>
            <a:r>
              <a:rPr sz="1400" b="0" i="0">
                <a:solidFill>
                  <a:srgbClr val="FFFFFF"/>
                </a:solidFill>
                <a:latin typeface="Calibri"/>
              </a:rPr>
              <a:t> o </a:t>
            </a:r>
            <a:r>
              <a:rPr sz="1300" b="0" i="0">
                <a:solidFill>
                  <a:srgbClr val="FFFFFF"/>
                </a:solidFill>
                <a:latin typeface="Courier New"/>
              </a:rPr>
              <a:t>"cup"</a:t>
            </a:r>
            <a:r>
              <a:rPr sz="1400" b="0" i="0">
                <a:solidFill>
                  <a:srgbClr val="FFFFFF"/>
                </a:solidFill>
                <a:latin typeface="Calibri"/>
              </a:rPr>
              <a:t> y cuenta objetos de tu mesa.</a:t>
            </a:r>
          </a:p>
        </p:txBody>
      </p:sp>
      <p:sp>
        <p:nvSpPr>
          <p:cNvPr id="20" name="Rounded Rectangle 19"/>
          <p:cNvSpPr/>
          <p:nvPr/>
        </p:nvSpPr>
        <p:spPr>
          <a:xfrm>
            <a:off x="457200" y="4251960"/>
            <a:ext cx="8229600" cy="658368"/>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594360" y="440740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94360" y="440740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2</a:t>
            </a:r>
          </a:p>
        </p:txBody>
      </p:sp>
      <p:sp>
        <p:nvSpPr>
          <p:cNvPr id="23" name="TextBox 22"/>
          <p:cNvSpPr txBox="1"/>
          <p:nvPr/>
        </p:nvSpPr>
        <p:spPr>
          <a:xfrm>
            <a:off x="1097280" y="4251960"/>
            <a:ext cx="7452360" cy="658368"/>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Anota los FPS con </a:t>
            </a:r>
            <a:r>
              <a:rPr sz="1300" b="0" i="0">
                <a:solidFill>
                  <a:srgbClr val="FFFFFF"/>
                </a:solidFill>
                <a:latin typeface="Courier New"/>
              </a:rPr>
              <a:t>TAMANO = 320</a:t>
            </a:r>
            <a:r>
              <a:rPr sz="1400" b="0" i="0">
                <a:solidFill>
                  <a:srgbClr val="FFFFFF"/>
                </a:solidFill>
                <a:latin typeface="Calibri"/>
              </a:rPr>
              <a:t> y con </a:t>
            </a:r>
            <a:r>
              <a:rPr sz="1300" b="0" i="0">
                <a:solidFill>
                  <a:srgbClr val="FFFFFF"/>
                </a:solidFill>
                <a:latin typeface="Courier New"/>
              </a:rPr>
              <a:t>640</a:t>
            </a:r>
            <a:r>
              <a:rPr sz="1400" b="0" i="0">
                <a:solidFill>
                  <a:srgbClr val="FFFFFF"/>
                </a:solidFill>
                <a:latin typeface="Calibri"/>
              </a:rPr>
              <a:t>. Los compararemos con la Raspberry Pi.</a:t>
            </a:r>
          </a:p>
        </p:txBody>
      </p:sp>
      <p:sp>
        <p:nvSpPr>
          <p:cNvPr id="24" name="Rounded Rectangle 23"/>
          <p:cNvSpPr/>
          <p:nvPr/>
        </p:nvSpPr>
        <p:spPr>
          <a:xfrm>
            <a:off x="457200" y="4983480"/>
            <a:ext cx="8229600" cy="658368"/>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594360" y="513892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4360" y="513892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3</a:t>
            </a:r>
          </a:p>
        </p:txBody>
      </p:sp>
      <p:sp>
        <p:nvSpPr>
          <p:cNvPr id="27" name="TextBox 26"/>
          <p:cNvSpPr txBox="1"/>
          <p:nvPr/>
        </p:nvSpPr>
        <p:spPr>
          <a:xfrm>
            <a:off x="1097280" y="4983480"/>
            <a:ext cx="7452360" cy="658368"/>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Pon un objeto de lado, tapado a medias o lejos: ¿cuándo deja de detectarlo?</a:t>
            </a:r>
          </a:p>
        </p:txBody>
      </p:sp>
      <p:sp>
        <p:nvSpPr>
          <p:cNvPr id="28" name="TextBox 27"/>
          <p:cNvSpPr txBox="1"/>
          <p:nvPr/>
        </p:nvSpPr>
        <p:spPr>
          <a:xfrm>
            <a:off x="457200" y="6053328"/>
            <a:ext cx="8229600" cy="411480"/>
          </a:xfrm>
          <a:prstGeom prst="rect">
            <a:avLst/>
          </a:prstGeom>
          <a:noFill/>
        </p:spPr>
        <p:txBody>
          <a:bodyPr wrap="square" lIns="0" tIns="0" rIns="0" bIns="0" anchor="t">
            <a:spAutoFit/>
          </a:bodyPr>
          <a:lstStyle/>
          <a:p>
            <a:pPr algn="l">
              <a:spcAft>
                <a:spcPts val="600"/>
              </a:spcAft>
            </a:pPr>
            <a:r>
              <a:rPr sz="1200" b="0" i="1">
                <a:solidFill>
                  <a:srgbClr val="AEB4BD"/>
                </a:solidFill>
                <a:latin typeface="Calibri"/>
              </a:rPr>
              <a:t>Tecla q para salir. Si la cámara no abre, ciérrala en otras apps (Teams, Zoom, navegador).</a:t>
            </a:r>
          </a:p>
        </p:txBody>
      </p:sp>
      <p:sp>
        <p:nvSpPr>
          <p:cNvPr id="29" name="TextBox 28"/>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8A9099"/>
                </a:solidFill>
                <a:latin typeface="Calibri"/>
              </a:rPr>
              <a:t>Tecnologías Disruptivas  ·  Escuela de Informática  ·  Universidad Andrés Bello</a:t>
            </a:r>
          </a:p>
        </p:txBody>
      </p:sp>
      <p:sp>
        <p:nvSpPr>
          <p:cNvPr id="30" name="TextBox 29"/>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8A9099"/>
                </a:solidFill>
                <a:latin typeface="Calibri"/>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8E1B1B"/>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Demostración del profesor</a:t>
            </a:r>
          </a:p>
        </p:txBody>
      </p:sp>
      <p:sp>
        <p:nvSpPr>
          <p:cNvPr id="5" name="Oval 4"/>
          <p:cNvSpPr/>
          <p:nvPr/>
        </p:nvSpPr>
        <p:spPr>
          <a:xfrm>
            <a:off x="457200" y="109728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ast_r.png"/>
          <p:cNvPicPr>
            <a:picLocks noChangeAspect="1"/>
          </p:cNvPicPr>
          <p:nvPr/>
        </p:nvPicPr>
        <p:blipFill>
          <a:blip r:embed="rId5"/>
          <a:stretch>
            <a:fillRect/>
          </a:stretch>
        </p:blipFill>
        <p:spPr>
          <a:xfrm>
            <a:off x="618134" y="1258214"/>
            <a:ext cx="409651" cy="409651"/>
          </a:xfrm>
          <a:prstGeom prst="rect">
            <a:avLst/>
          </a:prstGeom>
        </p:spPr>
      </p:pic>
      <p:sp>
        <p:nvSpPr>
          <p:cNvPr id="7" name="TextBox 6"/>
          <p:cNvSpPr txBox="1"/>
          <p:nvPr/>
        </p:nvSpPr>
        <p:spPr>
          <a:xfrm>
            <a:off x="1371600" y="1051560"/>
            <a:ext cx="7315200" cy="365760"/>
          </a:xfrm>
          <a:prstGeom prst="rect">
            <a:avLst/>
          </a:prstGeom>
          <a:noFill/>
        </p:spPr>
        <p:txBody>
          <a:bodyPr wrap="square" lIns="0" tIns="0" rIns="0" bIns="0" anchor="t">
            <a:spAutoFit/>
          </a:bodyPr>
          <a:lstStyle/>
          <a:p>
            <a:pPr algn="l">
              <a:spcAft>
                <a:spcPts val="600"/>
              </a:spcAft>
            </a:pPr>
            <a:r>
              <a:rPr sz="1300" b="1" i="0">
                <a:solidFill>
                  <a:srgbClr val="F2D6D6"/>
                </a:solidFill>
                <a:latin typeface="Calibri"/>
              </a:rPr>
              <a:t>MIREN LA PANTALLA  ·  RASPBERRY PI 4</a:t>
            </a:r>
          </a:p>
        </p:txBody>
      </p:sp>
      <p:sp>
        <p:nvSpPr>
          <p:cNvPr id="8" name="TextBox 7"/>
          <p:cNvSpPr txBox="1"/>
          <p:nvPr/>
        </p:nvSpPr>
        <p:spPr>
          <a:xfrm>
            <a:off x="1371600" y="1371600"/>
            <a:ext cx="7315200" cy="548640"/>
          </a:xfrm>
          <a:prstGeom prst="rect">
            <a:avLst/>
          </a:prstGeom>
          <a:noFill/>
        </p:spPr>
        <p:txBody>
          <a:bodyPr wrap="square" lIns="0" tIns="0" rIns="0" bIns="0" anchor="t">
            <a:spAutoFit/>
          </a:bodyPr>
          <a:lstStyle/>
          <a:p>
            <a:pPr algn="l">
              <a:spcAft>
                <a:spcPts val="600"/>
              </a:spcAft>
            </a:pPr>
            <a:r>
              <a:rPr sz="2400" b="1" i="0">
                <a:solidFill>
                  <a:srgbClr val="FFFFFF"/>
                </a:solidFill>
                <a:latin typeface="Calibri"/>
              </a:rPr>
              <a:t>La misma detección en una Raspberry Pi 4</a:t>
            </a:r>
          </a:p>
        </p:txBody>
      </p:sp>
      <p:sp>
        <p:nvSpPr>
          <p:cNvPr id="9" name="Rounded Rectangle 8"/>
          <p:cNvSpPr/>
          <p:nvPr/>
        </p:nvSpPr>
        <p:spPr>
          <a:xfrm>
            <a:off x="457200" y="2194560"/>
            <a:ext cx="8229600" cy="183794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85800" y="2286000"/>
            <a:ext cx="7772400" cy="365760"/>
          </a:xfrm>
          <a:prstGeom prst="rect">
            <a:avLst/>
          </a:prstGeom>
          <a:noFill/>
        </p:spPr>
        <p:txBody>
          <a:bodyPr wrap="square" lIns="0" tIns="0" rIns="0" bIns="0" anchor="t">
            <a:spAutoFit/>
          </a:bodyPr>
          <a:lstStyle/>
          <a:p>
            <a:pPr algn="l">
              <a:spcAft>
                <a:spcPts val="600"/>
              </a:spcAft>
            </a:pPr>
            <a:r>
              <a:rPr sz="1500" b="1" i="0">
                <a:solidFill>
                  <a:srgbClr val="8E1B1B"/>
                </a:solidFill>
                <a:latin typeface="Calibri"/>
              </a:rPr>
              <a:t>Lo que vamos a ver:</a:t>
            </a:r>
          </a:p>
        </p:txBody>
      </p:sp>
      <p:sp>
        <p:nvSpPr>
          <p:cNvPr id="11" name="TextBox 10"/>
          <p:cNvSpPr txBox="1"/>
          <p:nvPr/>
        </p:nvSpPr>
        <p:spPr>
          <a:xfrm>
            <a:off x="685800" y="2651760"/>
            <a:ext cx="7772400" cy="1426464"/>
          </a:xfrm>
          <a:prstGeom prst="rect">
            <a:avLst/>
          </a:prstGeom>
          <a:noFill/>
        </p:spPr>
        <p:txBody>
          <a:bodyPr wrap="square" lIns="0" tIns="0" rIns="0" bIns="0" anchor="t">
            <a:spAutoFit/>
          </a:bodyPr>
          <a:lstStyle/>
          <a:p>
            <a:pPr marL="228600" indent="-201168" algn="l">
              <a:spcAft>
                <a:spcPts val="600"/>
              </a:spcAft>
              <a:buClr>
                <a:srgbClr val="8E1B1B"/>
              </a:buClr>
              <a:buFont typeface="Arial"/>
              <a:buChar char="•"/>
            </a:pPr>
            <a:r>
              <a:rPr sz="1400" b="0" i="0">
                <a:solidFill>
                  <a:srgbClr val="8E1B1B"/>
                </a:solidFill>
                <a:latin typeface="Courier New"/>
              </a:rPr>
              <a:t>05_yolo_camara.py</a:t>
            </a:r>
            <a:r>
              <a:rPr sz="1500" b="0" i="0">
                <a:solidFill>
                  <a:srgbClr val="262626"/>
                </a:solidFill>
                <a:latin typeface="Calibri"/>
              </a:rPr>
              <a:t> con la cámara de la Pi: ¿cuántos FPS logra?</a:t>
            </a:r>
          </a:p>
          <a:p>
            <a:pPr marL="228600" indent="-201168" algn="l">
              <a:spcAft>
                <a:spcPts val="600"/>
              </a:spcAft>
              <a:buClr>
                <a:srgbClr val="8E1B1B"/>
              </a:buClr>
              <a:buFont typeface="Arial"/>
              <a:buChar char="•"/>
            </a:pPr>
            <a:r>
              <a:rPr sz="1400" b="0" i="0">
                <a:solidFill>
                  <a:srgbClr val="8E1B1B"/>
                </a:solidFill>
                <a:latin typeface="Courier New"/>
              </a:rPr>
              <a:t>06_exportar_ncnn.py</a:t>
            </a:r>
            <a:r>
              <a:rPr sz="1500" b="0" i="0">
                <a:solidFill>
                  <a:srgbClr val="262626"/>
                </a:solidFill>
                <a:latin typeface="Calibri"/>
              </a:rPr>
              <a:t>: convertir el modelo al formato NCNN (una sola vez).</a:t>
            </a:r>
          </a:p>
          <a:p>
            <a:pPr marL="228600" indent="-201168" algn="l">
              <a:spcAft>
                <a:spcPts val="600"/>
              </a:spcAft>
              <a:buClr>
                <a:srgbClr val="8E1B1B"/>
              </a:buClr>
              <a:buFont typeface="Arial"/>
              <a:buChar char="•"/>
            </a:pPr>
            <a:r>
              <a:rPr sz="1500" b="0" i="0">
                <a:solidFill>
                  <a:srgbClr val="262626"/>
                </a:solidFill>
                <a:latin typeface="Calibri"/>
              </a:rPr>
              <a:t>Volver a ejecutar y comparar los FPS antes y después.</a:t>
            </a:r>
          </a:p>
        </p:txBody>
      </p:sp>
      <p:sp>
        <p:nvSpPr>
          <p:cNvPr id="12" name="Rounded Rectangle 11"/>
          <p:cNvSpPr/>
          <p:nvPr/>
        </p:nvSpPr>
        <p:spPr>
          <a:xfrm>
            <a:off x="457200" y="4306824"/>
            <a:ext cx="8229600" cy="1362456"/>
          </a:xfrm>
          <a:prstGeom prst="roundRect">
            <a:avLst>
              <a:gd name="adj" fmla="val 6000"/>
            </a:avLst>
          </a:prstGeom>
          <a:solidFill>
            <a:srgbClr val="A3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5800" y="4398264"/>
            <a:ext cx="7772400" cy="365760"/>
          </a:xfrm>
          <a:prstGeom prst="rect">
            <a:avLst/>
          </a:prstGeom>
          <a:noFill/>
        </p:spPr>
        <p:txBody>
          <a:bodyPr wrap="square" lIns="0" tIns="0" rIns="0" bIns="0" anchor="t">
            <a:spAutoFit/>
          </a:bodyPr>
          <a:lstStyle/>
          <a:p>
            <a:pPr algn="l">
              <a:spcAft>
                <a:spcPts val="600"/>
              </a:spcAft>
            </a:pPr>
            <a:r>
              <a:rPr sz="1500" b="1" i="0">
                <a:solidFill>
                  <a:srgbClr val="F2D6D6"/>
                </a:solidFill>
                <a:latin typeface="Calibri"/>
              </a:rPr>
              <a:t>Para pensar mientras miran:</a:t>
            </a:r>
          </a:p>
        </p:txBody>
      </p:sp>
      <p:sp>
        <p:nvSpPr>
          <p:cNvPr id="14" name="TextBox 13"/>
          <p:cNvSpPr txBox="1"/>
          <p:nvPr/>
        </p:nvSpPr>
        <p:spPr>
          <a:xfrm>
            <a:off x="685800" y="4764024"/>
            <a:ext cx="7772400" cy="859536"/>
          </a:xfrm>
          <a:prstGeom prst="rect">
            <a:avLst/>
          </a:prstGeom>
          <a:noFill/>
        </p:spPr>
        <p:txBody>
          <a:bodyPr wrap="square" lIns="0" tIns="0" rIns="0" bIns="0" anchor="t">
            <a:spAutoFit/>
          </a:bodyPr>
          <a:lstStyle/>
          <a:p>
            <a:pPr algn="l">
              <a:spcAft>
                <a:spcPts val="500"/>
              </a:spcAft>
            </a:pPr>
            <a:r>
              <a:rPr sz="1400" b="0" i="0">
                <a:solidFill>
                  <a:srgbClr val="FFFFFF"/>
                </a:solidFill>
                <a:latin typeface="Calibri"/>
              </a:rPr>
              <a:t>¿Por qué la Pi es más lenta que su notebook?</a:t>
            </a:r>
          </a:p>
          <a:p>
            <a:pPr algn="l">
              <a:spcAft>
                <a:spcPts val="500"/>
              </a:spcAft>
            </a:pPr>
            <a:r>
              <a:rPr sz="1400" b="0" i="0">
                <a:solidFill>
                  <a:srgbClr val="FFFFFF"/>
                </a:solidFill>
                <a:latin typeface="Calibri"/>
              </a:rPr>
              <a:t>Si es más lenta, ¿por qué usarla? Piensen en costo, consumo, tamaño y privacidad.</a:t>
            </a:r>
          </a:p>
        </p:txBody>
      </p:sp>
      <p:sp>
        <p:nvSpPr>
          <p:cNvPr id="15" name="TextBox 1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E8C9C9"/>
                </a:solidFill>
                <a:latin typeface="Calibri"/>
              </a:rPr>
              <a:t>Tecnologías Disruptivas  ·  Escuela de Informática  ·  Universidad Andrés Bello</a:t>
            </a:r>
          </a:p>
        </p:txBody>
      </p:sp>
      <p:sp>
        <p:nvSpPr>
          <p:cNvPr id="16" name="TextBox 1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E8C9C9"/>
                </a:solidFill>
                <a:latin typeface="Calibri"/>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Comparemos: notebook vs Raspberry Pi</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35</a:t>
            </a:r>
          </a:p>
        </p:txBody>
      </p:sp>
      <p:sp>
        <p:nvSpPr>
          <p:cNvPr id="7" name="TextBox 6"/>
          <p:cNvSpPr txBox="1"/>
          <p:nvPr/>
        </p:nvSpPr>
        <p:spPr>
          <a:xfrm>
            <a:off x="457200" y="1097280"/>
            <a:ext cx="8229600" cy="457200"/>
          </a:xfrm>
          <a:prstGeom prst="rect">
            <a:avLst/>
          </a:prstGeom>
          <a:noFill/>
        </p:spPr>
        <p:txBody>
          <a:bodyPr wrap="square" anchor="t">
            <a:spAutoFit/>
          </a:bodyPr>
          <a:lstStyle/>
          <a:p>
            <a:pPr algn="l">
              <a:spcAft>
                <a:spcPts val="600"/>
              </a:spcAft>
            </a:pPr>
            <a:r>
              <a:rPr sz="1600" b="0" i="0">
                <a:solidFill>
                  <a:srgbClr val="262626"/>
                </a:solidFill>
                <a:latin typeface="Calibri"/>
              </a:rPr>
              <a:t>Completamos la tabla con sus mediciones y las de la demo:</a:t>
            </a:r>
          </a:p>
        </p:txBody>
      </p:sp>
      <p:graphicFrame>
        <p:nvGraphicFramePr>
          <p:cNvPr id="8" name="Table 7"/>
          <p:cNvGraphicFramePr>
            <a:graphicFrameLocks noGrp="1"/>
          </p:cNvGraphicFramePr>
          <p:nvPr/>
        </p:nvGraphicFramePr>
        <p:xfrm>
          <a:off x="457200" y="1645920"/>
          <a:ext cx="8229600" cy="23774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475488">
                <a:tc>
                  <a:txBody>
                    <a:bodyPr/>
                    <a:lstStyle/>
                    <a:p>
                      <a:r>
                        <a:rPr sz="1300" b="1" i="0">
                          <a:solidFill>
                            <a:srgbClr val="FFFFFF"/>
                          </a:solidFill>
                          <a:latin typeface="Calibri"/>
                        </a:rPr>
                        <a:t>Equipo</a:t>
                      </a:r>
                    </a:p>
                  </a:txBody>
                  <a:tcPr marL="73152" marR="73152" marT="36576" marB="36576" anchor="ctr">
                    <a:solidFill>
                      <a:srgbClr val="8E1B1B"/>
                    </a:solidFill>
                  </a:tcPr>
                </a:tc>
                <a:tc>
                  <a:txBody>
                    <a:bodyPr/>
                    <a:lstStyle/>
                    <a:p>
                      <a:r>
                        <a:rPr sz="1300" b="1" i="0">
                          <a:solidFill>
                            <a:srgbClr val="FFFFFF"/>
                          </a:solidFill>
                          <a:latin typeface="Calibri"/>
                        </a:rPr>
                        <a:t>Formato del modelo</a:t>
                      </a:r>
                    </a:p>
                  </a:txBody>
                  <a:tcPr marL="73152" marR="73152" marT="36576" marB="36576" anchor="ctr">
                    <a:solidFill>
                      <a:srgbClr val="8E1B1B"/>
                    </a:solidFill>
                  </a:tcPr>
                </a:tc>
                <a:tc>
                  <a:txBody>
                    <a:bodyPr/>
                    <a:lstStyle/>
                    <a:p>
                      <a:r>
                        <a:rPr sz="1300" b="1" i="0">
                          <a:solidFill>
                            <a:srgbClr val="FFFFFF"/>
                          </a:solidFill>
                          <a:latin typeface="Calibri"/>
                        </a:rPr>
                        <a:t>TAMANO</a:t>
                      </a:r>
                    </a:p>
                  </a:txBody>
                  <a:tcPr marL="73152" marR="73152" marT="36576" marB="36576" anchor="ctr">
                    <a:solidFill>
                      <a:srgbClr val="8E1B1B"/>
                    </a:solidFill>
                  </a:tcPr>
                </a:tc>
                <a:tc>
                  <a:txBody>
                    <a:bodyPr/>
                    <a:lstStyle/>
                    <a:p>
                      <a:r>
                        <a:rPr sz="1300" b="1" i="0">
                          <a:solidFill>
                            <a:srgbClr val="FFFFFF"/>
                          </a:solidFill>
                          <a:latin typeface="Calibri"/>
                        </a:rPr>
                        <a:t>FPS</a:t>
                      </a:r>
                    </a:p>
                  </a:txBody>
                  <a:tcPr marL="73152" marR="73152" marT="36576" marB="36576" anchor="ctr">
                    <a:solidFill>
                      <a:srgbClr val="8E1B1B"/>
                    </a:solidFill>
                  </a:tcPr>
                </a:tc>
                <a:extLst>
                  <a:ext uri="{0D108BD9-81ED-4DB2-BD59-A6C34878D82A}">
                    <a16:rowId xmlns:a16="http://schemas.microsoft.com/office/drawing/2014/main" val="10000"/>
                  </a:ext>
                </a:extLst>
              </a:tr>
              <a:tr h="475488">
                <a:tc>
                  <a:txBody>
                    <a:bodyPr/>
                    <a:lstStyle/>
                    <a:p>
                      <a:r>
                        <a:rPr sz="1300" b="1" i="0">
                          <a:solidFill>
                            <a:srgbClr val="262626"/>
                          </a:solidFill>
                          <a:latin typeface="Calibri"/>
                        </a:rPr>
                        <a:t>Notebook (grupo ___)</a:t>
                      </a:r>
                    </a:p>
                  </a:txBody>
                  <a:tcPr marL="73152" marR="73152" marT="36576" marB="36576" anchor="ctr">
                    <a:solidFill>
                      <a:srgbClr val="FFFFFF"/>
                    </a:solidFill>
                  </a:tcPr>
                </a:tc>
                <a:tc>
                  <a:txBody>
                    <a:bodyPr/>
                    <a:lstStyle/>
                    <a:p>
                      <a:r>
                        <a:rPr sz="1300" b="0" i="0">
                          <a:solidFill>
                            <a:srgbClr val="262626"/>
                          </a:solidFill>
                          <a:latin typeface="Calibri"/>
                        </a:rPr>
                        <a:t>PyTorch (yolo26n.pt)</a:t>
                      </a:r>
                    </a:p>
                  </a:txBody>
                  <a:tcPr marL="73152" marR="73152" marT="36576" marB="36576" anchor="ctr">
                    <a:solidFill>
                      <a:srgbClr val="FFFFFF"/>
                    </a:solidFill>
                  </a:tcPr>
                </a:tc>
                <a:tc>
                  <a:txBody>
                    <a:bodyPr/>
                    <a:lstStyle/>
                    <a:p>
                      <a:r>
                        <a:rPr sz="1300" b="0" i="0">
                          <a:solidFill>
                            <a:srgbClr val="262626"/>
                          </a:solidFill>
                          <a:latin typeface="Calibri"/>
                        </a:rPr>
                        <a:t>640</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r>
                        <a:rPr sz="1300" b="1" i="0">
                          <a:solidFill>
                            <a:srgbClr val="262626"/>
                          </a:solidFill>
                          <a:latin typeface="Calibri"/>
                        </a:rPr>
                        <a:t>Notebook (grupo ___)</a:t>
                      </a:r>
                    </a:p>
                  </a:txBody>
                  <a:tcPr marL="73152" marR="73152" marT="36576" marB="36576" anchor="ctr">
                    <a:solidFill>
                      <a:srgbClr val="FBF1F1"/>
                    </a:solidFill>
                  </a:tcPr>
                </a:tc>
                <a:tc>
                  <a:txBody>
                    <a:bodyPr/>
                    <a:lstStyle/>
                    <a:p>
                      <a:r>
                        <a:rPr sz="1300" b="0" i="0">
                          <a:solidFill>
                            <a:srgbClr val="262626"/>
                          </a:solidFill>
                          <a:latin typeface="Calibri"/>
                        </a:rPr>
                        <a:t>PyTorch (yolo26n.pt)</a:t>
                      </a:r>
                    </a:p>
                  </a:txBody>
                  <a:tcPr marL="73152" marR="73152" marT="36576" marB="36576" anchor="ctr">
                    <a:solidFill>
                      <a:srgbClr val="FBF1F1"/>
                    </a:solidFill>
                  </a:tcPr>
                </a:tc>
                <a:tc>
                  <a:txBody>
                    <a:bodyPr/>
                    <a:lstStyle/>
                    <a:p>
                      <a:r>
                        <a:rPr sz="1300" b="0" i="0">
                          <a:solidFill>
                            <a:srgbClr val="262626"/>
                          </a:solidFill>
                          <a:latin typeface="Calibri"/>
                        </a:rPr>
                        <a:t>320</a:t>
                      </a:r>
                    </a:p>
                  </a:txBody>
                  <a:tcPr marL="73152" marR="73152" marT="36576" marB="36576" anchor="ctr">
                    <a:solidFill>
                      <a:srgbClr val="FBF1F1"/>
                    </a:solidFill>
                  </a:tcPr>
                </a:tc>
                <a:tc>
                  <a:txBody>
                    <a:bodyPr/>
                    <a:lstStyle/>
                    <a:p>
                      <a:endParaRPr/>
                    </a:p>
                  </a:txBody>
                  <a:tcPr marL="73152" marR="73152" marT="36576" marB="36576" anchor="ctr">
                    <a:solidFill>
                      <a:srgbClr val="FBF1F1"/>
                    </a:solidFill>
                  </a:tcPr>
                </a:tc>
                <a:extLst>
                  <a:ext uri="{0D108BD9-81ED-4DB2-BD59-A6C34878D82A}">
                    <a16:rowId xmlns:a16="http://schemas.microsoft.com/office/drawing/2014/main" val="10002"/>
                  </a:ext>
                </a:extLst>
              </a:tr>
              <a:tr h="475488">
                <a:tc>
                  <a:txBody>
                    <a:bodyPr/>
                    <a:lstStyle/>
                    <a:p>
                      <a:r>
                        <a:rPr sz="1300" b="1" i="0">
                          <a:solidFill>
                            <a:srgbClr val="262626"/>
                          </a:solidFill>
                          <a:latin typeface="Calibri"/>
                        </a:rPr>
                        <a:t>Raspberry Pi 4</a:t>
                      </a:r>
                    </a:p>
                  </a:txBody>
                  <a:tcPr marL="73152" marR="73152" marT="36576" marB="36576" anchor="ctr">
                    <a:solidFill>
                      <a:srgbClr val="FFFFFF"/>
                    </a:solidFill>
                  </a:tcPr>
                </a:tc>
                <a:tc>
                  <a:txBody>
                    <a:bodyPr/>
                    <a:lstStyle/>
                    <a:p>
                      <a:r>
                        <a:rPr sz="1300" b="0" i="0">
                          <a:solidFill>
                            <a:srgbClr val="262626"/>
                          </a:solidFill>
                          <a:latin typeface="Calibri"/>
                        </a:rPr>
                        <a:t>PyTorch (yolo26n.pt)</a:t>
                      </a:r>
                    </a:p>
                  </a:txBody>
                  <a:tcPr marL="73152" marR="73152" marT="36576" marB="36576" anchor="ctr">
                    <a:solidFill>
                      <a:srgbClr val="FFFFFF"/>
                    </a:solidFill>
                  </a:tcPr>
                </a:tc>
                <a:tc>
                  <a:txBody>
                    <a:bodyPr/>
                    <a:lstStyle/>
                    <a:p>
                      <a:r>
                        <a:rPr sz="1300" b="0" i="0">
                          <a:solidFill>
                            <a:srgbClr val="262626"/>
                          </a:solidFill>
                          <a:latin typeface="Calibri"/>
                        </a:rPr>
                        <a:t>320</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475488">
                <a:tc>
                  <a:txBody>
                    <a:bodyPr/>
                    <a:lstStyle/>
                    <a:p>
                      <a:r>
                        <a:rPr sz="1300" b="1" i="0">
                          <a:solidFill>
                            <a:srgbClr val="262626"/>
                          </a:solidFill>
                          <a:latin typeface="Calibri"/>
                        </a:rPr>
                        <a:t>Raspberry Pi 4</a:t>
                      </a:r>
                    </a:p>
                  </a:txBody>
                  <a:tcPr marL="73152" marR="73152" marT="36576" marB="36576" anchor="ctr">
                    <a:solidFill>
                      <a:srgbClr val="FBF1F1"/>
                    </a:solidFill>
                  </a:tcPr>
                </a:tc>
                <a:tc>
                  <a:txBody>
                    <a:bodyPr/>
                    <a:lstStyle/>
                    <a:p>
                      <a:r>
                        <a:rPr sz="1300" b="0" i="0">
                          <a:solidFill>
                            <a:srgbClr val="262626"/>
                          </a:solidFill>
                          <a:latin typeface="Calibri"/>
                        </a:rPr>
                        <a:t>NCNN (yolo26n_ncnn_model)</a:t>
                      </a:r>
                    </a:p>
                  </a:txBody>
                  <a:tcPr marL="73152" marR="73152" marT="36576" marB="36576" anchor="ctr">
                    <a:solidFill>
                      <a:srgbClr val="FBF1F1"/>
                    </a:solidFill>
                  </a:tcPr>
                </a:tc>
                <a:tc>
                  <a:txBody>
                    <a:bodyPr/>
                    <a:lstStyle/>
                    <a:p>
                      <a:r>
                        <a:rPr sz="1300" b="0" i="0">
                          <a:solidFill>
                            <a:srgbClr val="262626"/>
                          </a:solidFill>
                          <a:latin typeface="Calibri"/>
                        </a:rPr>
                        <a:t>320</a:t>
                      </a:r>
                    </a:p>
                  </a:txBody>
                  <a:tcPr marL="73152" marR="73152" marT="36576" marB="36576" anchor="ctr">
                    <a:solidFill>
                      <a:srgbClr val="FBF1F1"/>
                    </a:solidFill>
                  </a:tcPr>
                </a:tc>
                <a:tc>
                  <a:txBody>
                    <a:bodyPr/>
                    <a:lstStyle/>
                    <a:p>
                      <a:endParaRPr/>
                    </a:p>
                  </a:txBody>
                  <a:tcPr marL="73152" marR="73152" marT="36576" marB="36576" anchor="ctr">
                    <a:solidFill>
                      <a:srgbClr val="FBF1F1"/>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457200" y="4343400"/>
            <a:ext cx="8229600" cy="68580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85800" y="4343400"/>
            <a:ext cx="7772400" cy="685800"/>
          </a:xfrm>
          <a:prstGeom prst="rect">
            <a:avLst/>
          </a:prstGeom>
          <a:noFill/>
        </p:spPr>
        <p:txBody>
          <a:bodyPr wrap="square" anchor="ctr">
            <a:spAutoFit/>
          </a:bodyPr>
          <a:lstStyle/>
          <a:p>
            <a:pPr algn="l">
              <a:spcAft>
                <a:spcPts val="600"/>
              </a:spcAft>
            </a:pPr>
            <a:r>
              <a:rPr sz="1500" b="1" i="0">
                <a:solidFill>
                  <a:srgbClr val="262626"/>
                </a:solidFill>
                <a:latin typeface="Calibri"/>
              </a:rPr>
              <a:t>Pregunta:</a:t>
            </a:r>
            <a:r>
              <a:rPr sz="1500" b="0" i="0">
                <a:solidFill>
                  <a:srgbClr val="262626"/>
                </a:solidFill>
                <a:latin typeface="Calibri"/>
              </a:rPr>
              <a:t> ¿cuántos FPS necesita un contador de personas? ¿Y un auto autónomo?</a:t>
            </a:r>
          </a:p>
        </p:txBody>
      </p:sp>
      <p:sp>
        <p:nvSpPr>
          <p:cNvPr id="11" name="Rounded Rectangle 10"/>
          <p:cNvSpPr/>
          <p:nvPr/>
        </p:nvSpPr>
        <p:spPr>
          <a:xfrm>
            <a:off x="457200" y="5257800"/>
            <a:ext cx="8229600" cy="1005840"/>
          </a:xfrm>
          <a:prstGeom prst="roundRect">
            <a:avLst>
              <a:gd name="adj" fmla="val 6000"/>
            </a:avLst>
          </a:prstGeom>
          <a:solidFill>
            <a:srgbClr val="F6F6F6"/>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85800" y="5303520"/>
            <a:ext cx="7772400" cy="365760"/>
          </a:xfrm>
          <a:prstGeom prst="rect">
            <a:avLst/>
          </a:prstGeom>
          <a:noFill/>
        </p:spPr>
        <p:txBody>
          <a:bodyPr wrap="square" lIns="0" tIns="0" rIns="0" bIns="0" anchor="t">
            <a:spAutoFit/>
          </a:bodyPr>
          <a:lstStyle/>
          <a:p>
            <a:pPr algn="l">
              <a:spcAft>
                <a:spcPts val="600"/>
              </a:spcAft>
            </a:pPr>
            <a:r>
              <a:rPr sz="1400" b="1" i="0">
                <a:solidFill>
                  <a:srgbClr val="8E1B1B"/>
                </a:solidFill>
                <a:latin typeface="Calibri"/>
              </a:rPr>
              <a:t>Lo que concluimos:</a:t>
            </a:r>
          </a:p>
        </p:txBody>
      </p:sp>
      <p:sp>
        <p:nvSpPr>
          <p:cNvPr id="13" name="TextBox 12"/>
          <p:cNvSpPr txBox="1"/>
          <p:nvPr/>
        </p:nvSpPr>
        <p:spPr>
          <a:xfrm>
            <a:off x="685800" y="5669280"/>
            <a:ext cx="7772400" cy="548640"/>
          </a:xfrm>
          <a:prstGeom prst="rect">
            <a:avLst/>
          </a:prstGeom>
          <a:noFill/>
        </p:spPr>
        <p:txBody>
          <a:bodyPr wrap="square" lIns="0" tIns="0" rIns="0" bIns="0" anchor="t">
            <a:spAutoFit/>
          </a:bodyPr>
          <a:lstStyle/>
          <a:p>
            <a:pPr algn="l">
              <a:spcAft>
                <a:spcPts val="600"/>
              </a:spcAft>
            </a:pPr>
            <a:r>
              <a:rPr sz="1400" b="0" i="0">
                <a:solidFill>
                  <a:srgbClr val="BFBFBF"/>
                </a:solidFill>
                <a:latin typeface="Calibri"/>
              </a:rPr>
              <a:t>_____________________________________________________________________________</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Modelo pre-entrenado o entrenamiento propio</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36</a:t>
            </a:r>
          </a:p>
        </p:txBody>
      </p:sp>
      <p:sp>
        <p:nvSpPr>
          <p:cNvPr id="7" name="Rounded Rectangle 6"/>
          <p:cNvSpPr/>
          <p:nvPr/>
        </p:nvSpPr>
        <p:spPr>
          <a:xfrm>
            <a:off x="457200" y="1143000"/>
            <a:ext cx="3931920" cy="31089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85800" y="132588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heck_w.png"/>
          <p:cNvPicPr>
            <a:picLocks noChangeAspect="1"/>
          </p:cNvPicPr>
          <p:nvPr/>
        </p:nvPicPr>
        <p:blipFill>
          <a:blip r:embed="rId5"/>
          <a:stretch>
            <a:fillRect/>
          </a:stretch>
        </p:blipFill>
        <p:spPr>
          <a:xfrm>
            <a:off x="816559" y="1456639"/>
            <a:ext cx="332841" cy="332841"/>
          </a:xfrm>
          <a:prstGeom prst="rect">
            <a:avLst/>
          </a:prstGeom>
        </p:spPr>
      </p:pic>
      <p:sp>
        <p:nvSpPr>
          <p:cNvPr id="10" name="TextBox 9"/>
          <p:cNvSpPr txBox="1"/>
          <p:nvPr/>
        </p:nvSpPr>
        <p:spPr>
          <a:xfrm>
            <a:off x="1417320" y="1325880"/>
            <a:ext cx="2834640" cy="594360"/>
          </a:xfrm>
          <a:prstGeom prst="rect">
            <a:avLst/>
          </a:prstGeom>
          <a:noFill/>
        </p:spPr>
        <p:txBody>
          <a:bodyPr wrap="square" anchor="ctr">
            <a:spAutoFit/>
          </a:bodyPr>
          <a:lstStyle/>
          <a:p>
            <a:pPr algn="l">
              <a:spcAft>
                <a:spcPts val="600"/>
              </a:spcAft>
            </a:pPr>
            <a:r>
              <a:rPr sz="1700" b="1" i="0">
                <a:solidFill>
                  <a:srgbClr val="8E1B1B"/>
                </a:solidFill>
                <a:latin typeface="Calibri"/>
              </a:rPr>
              <a:t>Pre-entrenado (hoy)</a:t>
            </a:r>
          </a:p>
        </p:txBody>
      </p:sp>
      <p:sp>
        <p:nvSpPr>
          <p:cNvPr id="11" name="TextBox 10"/>
          <p:cNvSpPr txBox="1"/>
          <p:nvPr/>
        </p:nvSpPr>
        <p:spPr>
          <a:xfrm>
            <a:off x="685800" y="2103120"/>
            <a:ext cx="3520440" cy="2103120"/>
          </a:xfrm>
          <a:prstGeom prst="rect">
            <a:avLst/>
          </a:prstGeom>
          <a:noFill/>
        </p:spPr>
        <p:txBody>
          <a:bodyPr wrap="square" anchor="t">
            <a:spAutoFit/>
          </a:bodyPr>
          <a:lstStyle/>
          <a:p>
            <a:pPr marL="228600" indent="-201168" algn="l">
              <a:spcAft>
                <a:spcPts val="600"/>
              </a:spcAft>
              <a:buClr>
                <a:srgbClr val="8E1B1B"/>
              </a:buClr>
              <a:buFont typeface="Arial"/>
              <a:buChar char="•"/>
            </a:pPr>
            <a:r>
              <a:rPr sz="1400" b="0" i="0">
                <a:solidFill>
                  <a:srgbClr val="262626"/>
                </a:solidFill>
                <a:latin typeface="Calibri"/>
              </a:rPr>
              <a:t>Ya conoce 80 clases: personas, autos, animales, objetos de casa.</a:t>
            </a:r>
          </a:p>
          <a:p>
            <a:pPr marL="228600" indent="-201168" algn="l">
              <a:spcAft>
                <a:spcPts val="600"/>
              </a:spcAft>
              <a:buClr>
                <a:srgbClr val="8E1B1B"/>
              </a:buClr>
              <a:buFont typeface="Arial"/>
              <a:buChar char="•"/>
            </a:pPr>
            <a:r>
              <a:rPr sz="1400" b="0" i="0">
                <a:solidFill>
                  <a:srgbClr val="262626"/>
                </a:solidFill>
                <a:latin typeface="Calibri"/>
              </a:rPr>
              <a:t>Se descarga y se usa en minutos.</a:t>
            </a:r>
          </a:p>
          <a:p>
            <a:pPr marL="228600" indent="-201168" algn="l">
              <a:spcAft>
                <a:spcPts val="600"/>
              </a:spcAft>
              <a:buClr>
                <a:srgbClr val="8E1B1B"/>
              </a:buClr>
              <a:buFont typeface="Arial"/>
              <a:buChar char="•"/>
            </a:pPr>
            <a:r>
              <a:rPr sz="1400" b="0" i="0">
                <a:solidFill>
                  <a:srgbClr val="262626"/>
                </a:solidFill>
                <a:latin typeface="Calibri"/>
              </a:rPr>
              <a:t>No sirve si necesitas algo que no está en la lista.</a:t>
            </a:r>
          </a:p>
        </p:txBody>
      </p:sp>
      <p:sp>
        <p:nvSpPr>
          <p:cNvPr id="12" name="Rounded Rectangle 11"/>
          <p:cNvSpPr/>
          <p:nvPr/>
        </p:nvSpPr>
        <p:spPr>
          <a:xfrm>
            <a:off x="4754880" y="1143000"/>
            <a:ext cx="3931920" cy="310896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4983480" y="132588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chool_w.png"/>
          <p:cNvPicPr>
            <a:picLocks noChangeAspect="1"/>
          </p:cNvPicPr>
          <p:nvPr/>
        </p:nvPicPr>
        <p:blipFill>
          <a:blip r:embed="rId6"/>
          <a:stretch>
            <a:fillRect/>
          </a:stretch>
        </p:blipFill>
        <p:spPr>
          <a:xfrm>
            <a:off x="5114239" y="1456639"/>
            <a:ext cx="332841" cy="332841"/>
          </a:xfrm>
          <a:prstGeom prst="rect">
            <a:avLst/>
          </a:prstGeom>
        </p:spPr>
      </p:pic>
      <p:sp>
        <p:nvSpPr>
          <p:cNvPr id="15" name="TextBox 14"/>
          <p:cNvSpPr txBox="1"/>
          <p:nvPr/>
        </p:nvSpPr>
        <p:spPr>
          <a:xfrm>
            <a:off x="5715000" y="1325880"/>
            <a:ext cx="2834640" cy="594360"/>
          </a:xfrm>
          <a:prstGeom prst="rect">
            <a:avLst/>
          </a:prstGeom>
          <a:noFill/>
        </p:spPr>
        <p:txBody>
          <a:bodyPr wrap="square" anchor="ctr">
            <a:spAutoFit/>
          </a:bodyPr>
          <a:lstStyle/>
          <a:p>
            <a:pPr algn="l">
              <a:spcAft>
                <a:spcPts val="600"/>
              </a:spcAft>
            </a:pPr>
            <a:r>
              <a:rPr sz="1700" b="1" i="0">
                <a:solidFill>
                  <a:srgbClr val="8E1B1B"/>
                </a:solidFill>
                <a:latin typeface="Calibri"/>
              </a:rPr>
              <a:t>Entrenamiento propio</a:t>
            </a:r>
          </a:p>
        </p:txBody>
      </p:sp>
      <p:sp>
        <p:nvSpPr>
          <p:cNvPr id="16" name="TextBox 15"/>
          <p:cNvSpPr txBox="1"/>
          <p:nvPr/>
        </p:nvSpPr>
        <p:spPr>
          <a:xfrm>
            <a:off x="4983480" y="2103120"/>
            <a:ext cx="3520440" cy="2103120"/>
          </a:xfrm>
          <a:prstGeom prst="rect">
            <a:avLst/>
          </a:prstGeom>
          <a:noFill/>
        </p:spPr>
        <p:txBody>
          <a:bodyPr wrap="square" anchor="t">
            <a:spAutoFit/>
          </a:bodyPr>
          <a:lstStyle/>
          <a:p>
            <a:pPr marL="228600" indent="-201168" algn="l">
              <a:spcAft>
                <a:spcPts val="600"/>
              </a:spcAft>
              <a:buClr>
                <a:srgbClr val="8E1B1B"/>
              </a:buClr>
              <a:buFont typeface="Arial"/>
              <a:buChar char="•"/>
            </a:pPr>
            <a:r>
              <a:rPr sz="1400" b="0" i="0">
                <a:solidFill>
                  <a:srgbClr val="262626"/>
                </a:solidFill>
                <a:latin typeface="Calibri"/>
              </a:rPr>
              <a:t>Detecta </a:t>
            </a:r>
            <a:r>
              <a:rPr sz="1400" b="1" i="0">
                <a:solidFill>
                  <a:srgbClr val="262626"/>
                </a:solidFill>
                <a:latin typeface="Calibri"/>
              </a:rPr>
              <a:t>tus</a:t>
            </a:r>
            <a:r>
              <a:rPr sz="1400" b="0" i="0">
                <a:solidFill>
                  <a:srgbClr val="262626"/>
                </a:solidFill>
                <a:latin typeface="Calibri"/>
              </a:rPr>
              <a:t> clases: piedra/papel/tijera, un sensor, un casco.</a:t>
            </a:r>
          </a:p>
          <a:p>
            <a:pPr marL="228600" indent="-201168" algn="l">
              <a:spcAft>
                <a:spcPts val="600"/>
              </a:spcAft>
              <a:buClr>
                <a:srgbClr val="8E1B1B"/>
              </a:buClr>
              <a:buFont typeface="Arial"/>
              <a:buChar char="•"/>
            </a:pPr>
            <a:r>
              <a:rPr sz="1400" b="0" i="0">
                <a:solidFill>
                  <a:srgbClr val="262626"/>
                </a:solidFill>
                <a:latin typeface="Calibri"/>
              </a:rPr>
              <a:t>Necesitas cientos de fotos </a:t>
            </a:r>
            <a:r>
              <a:rPr sz="1400" b="1" i="0">
                <a:solidFill>
                  <a:srgbClr val="262626"/>
                </a:solidFill>
                <a:latin typeface="Calibri"/>
              </a:rPr>
              <a:t>etiquetadas</a:t>
            </a:r>
            <a:r>
              <a:rPr sz="1400" b="0" i="0">
                <a:solidFill>
                  <a:srgbClr val="262626"/>
                </a:solidFill>
                <a:latin typeface="Calibri"/>
              </a:rPr>
              <a:t> con cajas.</a:t>
            </a:r>
          </a:p>
          <a:p>
            <a:pPr marL="228600" indent="-201168" algn="l">
              <a:spcAft>
                <a:spcPts val="600"/>
              </a:spcAft>
              <a:buClr>
                <a:srgbClr val="8E1B1B"/>
              </a:buClr>
              <a:buFont typeface="Arial"/>
              <a:buChar char="•"/>
            </a:pPr>
            <a:r>
              <a:rPr sz="1400" b="0" i="0">
                <a:solidFill>
                  <a:srgbClr val="262626"/>
                </a:solidFill>
                <a:latin typeface="Calibri"/>
              </a:rPr>
              <a:t>Se entrena en un PC con GPU o en Colab y se usa igual que hoy.</a:t>
            </a:r>
          </a:p>
        </p:txBody>
      </p:sp>
      <p:sp>
        <p:nvSpPr>
          <p:cNvPr id="17" name="Rounded Rectangle 16"/>
          <p:cNvSpPr/>
          <p:nvPr/>
        </p:nvSpPr>
        <p:spPr>
          <a:xfrm>
            <a:off x="457200" y="4617720"/>
            <a:ext cx="1417320" cy="640080"/>
          </a:xfrm>
          <a:prstGeom prst="roundRect">
            <a:avLst>
              <a:gd name="adj" fmla="val 6000"/>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57200" y="4617720"/>
            <a:ext cx="1417320" cy="640080"/>
          </a:xfrm>
          <a:prstGeom prst="rect">
            <a:avLst/>
          </a:prstGeom>
          <a:noFill/>
        </p:spPr>
        <p:txBody>
          <a:bodyPr wrap="square" lIns="18288" tIns="18288" rIns="18288" bIns="18288" anchor="ctr">
            <a:spAutoFit/>
          </a:bodyPr>
          <a:lstStyle/>
          <a:p>
            <a:pPr algn="ctr">
              <a:spcAft>
                <a:spcPts val="600"/>
              </a:spcAft>
            </a:pPr>
            <a:r>
              <a:rPr sz="1300" b="1" i="0">
                <a:solidFill>
                  <a:srgbClr val="FFFFFF"/>
                </a:solidFill>
                <a:latin typeface="Calibri"/>
              </a:rPr>
              <a:t>Fotos</a:t>
            </a:r>
          </a:p>
        </p:txBody>
      </p:sp>
      <p:sp>
        <p:nvSpPr>
          <p:cNvPr id="19" name="Right Arrow 18"/>
          <p:cNvSpPr/>
          <p:nvPr/>
        </p:nvSpPr>
        <p:spPr>
          <a:xfrm>
            <a:off x="1901952" y="4818888"/>
            <a:ext cx="219456" cy="237744"/>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139696" y="4617720"/>
            <a:ext cx="1417320" cy="640080"/>
          </a:xfrm>
          <a:prstGeom prst="roundRect">
            <a:avLst>
              <a:gd name="adj" fmla="val 6000"/>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2139696" y="4617720"/>
            <a:ext cx="1417320" cy="640080"/>
          </a:xfrm>
          <a:prstGeom prst="rect">
            <a:avLst/>
          </a:prstGeom>
          <a:noFill/>
        </p:spPr>
        <p:txBody>
          <a:bodyPr wrap="square" lIns="18288" tIns="18288" rIns="18288" bIns="18288" anchor="ctr">
            <a:spAutoFit/>
          </a:bodyPr>
          <a:lstStyle/>
          <a:p>
            <a:pPr algn="ctr">
              <a:spcAft>
                <a:spcPts val="600"/>
              </a:spcAft>
            </a:pPr>
            <a:r>
              <a:rPr sz="1300" b="1" i="0">
                <a:solidFill>
                  <a:srgbClr val="FFFFFF"/>
                </a:solidFill>
                <a:latin typeface="Calibri"/>
              </a:rPr>
              <a:t>Etiquetar cajas</a:t>
            </a:r>
          </a:p>
        </p:txBody>
      </p:sp>
      <p:sp>
        <p:nvSpPr>
          <p:cNvPr id="22" name="Right Arrow 21"/>
          <p:cNvSpPr/>
          <p:nvPr/>
        </p:nvSpPr>
        <p:spPr>
          <a:xfrm>
            <a:off x="3584448" y="4818888"/>
            <a:ext cx="219456" cy="237744"/>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822191" y="4617720"/>
            <a:ext cx="1417320" cy="640080"/>
          </a:xfrm>
          <a:prstGeom prst="roundRect">
            <a:avLst>
              <a:gd name="adj" fmla="val 6000"/>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822191" y="4617720"/>
            <a:ext cx="1417320" cy="640080"/>
          </a:xfrm>
          <a:prstGeom prst="rect">
            <a:avLst/>
          </a:prstGeom>
          <a:noFill/>
        </p:spPr>
        <p:txBody>
          <a:bodyPr wrap="square" lIns="18288" tIns="18288" rIns="18288" bIns="18288" anchor="ctr">
            <a:spAutoFit/>
          </a:bodyPr>
          <a:lstStyle/>
          <a:p>
            <a:pPr algn="ctr">
              <a:spcAft>
                <a:spcPts val="600"/>
              </a:spcAft>
            </a:pPr>
            <a:r>
              <a:rPr sz="1300" b="1" i="0">
                <a:solidFill>
                  <a:srgbClr val="FFFFFF"/>
                </a:solidFill>
                <a:latin typeface="Calibri"/>
              </a:rPr>
              <a:t>Entrenar</a:t>
            </a:r>
          </a:p>
        </p:txBody>
      </p:sp>
      <p:sp>
        <p:nvSpPr>
          <p:cNvPr id="25" name="Right Arrow 24"/>
          <p:cNvSpPr/>
          <p:nvPr/>
        </p:nvSpPr>
        <p:spPr>
          <a:xfrm>
            <a:off x="5266944" y="4818888"/>
            <a:ext cx="219456" cy="237744"/>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504688" y="4617720"/>
            <a:ext cx="1417320" cy="640080"/>
          </a:xfrm>
          <a:prstGeom prst="roundRect">
            <a:avLst>
              <a:gd name="adj" fmla="val 6000"/>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504688" y="4617720"/>
            <a:ext cx="1417320" cy="640080"/>
          </a:xfrm>
          <a:prstGeom prst="rect">
            <a:avLst/>
          </a:prstGeom>
          <a:noFill/>
        </p:spPr>
        <p:txBody>
          <a:bodyPr wrap="square" lIns="18288" tIns="18288" rIns="18288" bIns="18288" anchor="ctr">
            <a:spAutoFit/>
          </a:bodyPr>
          <a:lstStyle/>
          <a:p>
            <a:pPr algn="ctr">
              <a:spcAft>
                <a:spcPts val="600"/>
              </a:spcAft>
            </a:pPr>
            <a:r>
              <a:rPr sz="1300" b="1" i="0">
                <a:solidFill>
                  <a:srgbClr val="FFFFFF"/>
                </a:solidFill>
                <a:latin typeface="Calibri"/>
              </a:rPr>
              <a:t>Exportar</a:t>
            </a:r>
          </a:p>
        </p:txBody>
      </p:sp>
      <p:sp>
        <p:nvSpPr>
          <p:cNvPr id="28" name="Right Arrow 27"/>
          <p:cNvSpPr/>
          <p:nvPr/>
        </p:nvSpPr>
        <p:spPr>
          <a:xfrm>
            <a:off x="6949440" y="4818888"/>
            <a:ext cx="219456" cy="237744"/>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187184" y="4617720"/>
            <a:ext cx="1417320" cy="6400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187184" y="4617720"/>
            <a:ext cx="1417320" cy="640080"/>
          </a:xfrm>
          <a:prstGeom prst="rect">
            <a:avLst/>
          </a:prstGeom>
          <a:noFill/>
        </p:spPr>
        <p:txBody>
          <a:bodyPr wrap="square" lIns="18288" tIns="18288" rIns="18288" bIns="18288" anchor="ctr">
            <a:spAutoFit/>
          </a:bodyPr>
          <a:lstStyle/>
          <a:p>
            <a:pPr algn="ctr">
              <a:spcAft>
                <a:spcPts val="600"/>
              </a:spcAft>
            </a:pPr>
            <a:r>
              <a:rPr sz="1300" b="1" i="0">
                <a:solidFill>
                  <a:srgbClr val="FFFFFF"/>
                </a:solidFill>
                <a:latin typeface="Calibri"/>
              </a:rPr>
              <a:t>Tu proyecto</a:t>
            </a:r>
          </a:p>
        </p:txBody>
      </p:sp>
      <p:sp>
        <p:nvSpPr>
          <p:cNvPr id="31" name="TextBox 30"/>
          <p:cNvSpPr txBox="1"/>
          <p:nvPr/>
        </p:nvSpPr>
        <p:spPr>
          <a:xfrm>
            <a:off x="457200" y="5486400"/>
            <a:ext cx="8229600" cy="731520"/>
          </a:xfrm>
          <a:prstGeom prst="rect">
            <a:avLst/>
          </a:prstGeom>
          <a:noFill/>
        </p:spPr>
        <p:txBody>
          <a:bodyPr wrap="square" anchor="t">
            <a:spAutoFit/>
          </a:bodyPr>
          <a:lstStyle/>
          <a:p>
            <a:pPr algn="l">
              <a:spcAft>
                <a:spcPts val="600"/>
              </a:spcAft>
            </a:pPr>
            <a:r>
              <a:rPr sz="1300" b="0" i="1">
                <a:solidFill>
                  <a:srgbClr val="707070"/>
                </a:solidFill>
                <a:latin typeface="Calibri"/>
              </a:rPr>
              <a:t>Herramientas para etiquetar: Roboflow, Label Studio, CVAT. Cómo se entrena la red por dentro: </a:t>
            </a:r>
            <a:r>
              <a:rPr sz="1300" b="1" i="1">
                <a:solidFill>
                  <a:srgbClr val="707070"/>
                </a:solidFill>
                <a:latin typeface="Calibri"/>
              </a:rPr>
              <a:t>Minería de Datos</a:t>
            </a:r>
            <a:r>
              <a:rPr sz="1300" b="0" i="1">
                <a:solidFill>
                  <a:srgbClr val="707070"/>
                </a:solidFill>
                <a:latin typeface="Calibri"/>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Casos de uso del reconocimiento de objetos</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37</a:t>
            </a:r>
          </a:p>
        </p:txBody>
      </p:sp>
      <p:sp>
        <p:nvSpPr>
          <p:cNvPr id="7" name="Rounded Rectangle 6"/>
          <p:cNvSpPr/>
          <p:nvPr/>
        </p:nvSpPr>
        <p:spPr>
          <a:xfrm>
            <a:off x="457200" y="1234440"/>
            <a:ext cx="2606040" cy="17373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40080" y="1417320"/>
            <a:ext cx="502920" cy="5029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agri_w.png"/>
          <p:cNvPicPr>
            <a:picLocks noChangeAspect="1"/>
          </p:cNvPicPr>
          <p:nvPr/>
        </p:nvPicPr>
        <p:blipFill>
          <a:blip r:embed="rId4"/>
          <a:stretch>
            <a:fillRect/>
          </a:stretch>
        </p:blipFill>
        <p:spPr>
          <a:xfrm>
            <a:off x="750722" y="1527962"/>
            <a:ext cx="281635" cy="281635"/>
          </a:xfrm>
          <a:prstGeom prst="rect">
            <a:avLst/>
          </a:prstGeom>
        </p:spPr>
      </p:pic>
      <p:sp>
        <p:nvSpPr>
          <p:cNvPr id="10" name="TextBox 9"/>
          <p:cNvSpPr txBox="1"/>
          <p:nvPr/>
        </p:nvSpPr>
        <p:spPr>
          <a:xfrm>
            <a:off x="1188720" y="1417320"/>
            <a:ext cx="1737360" cy="50292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Agricultura</a:t>
            </a:r>
          </a:p>
        </p:txBody>
      </p:sp>
      <p:sp>
        <p:nvSpPr>
          <p:cNvPr id="11" name="TextBox 10"/>
          <p:cNvSpPr txBox="1"/>
          <p:nvPr/>
        </p:nvSpPr>
        <p:spPr>
          <a:xfrm>
            <a:off x="640080" y="2011680"/>
            <a:ext cx="2240280" cy="868679"/>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Contar frutos, detectar plagas y malezas desde drones.</a:t>
            </a:r>
          </a:p>
        </p:txBody>
      </p:sp>
      <p:sp>
        <p:nvSpPr>
          <p:cNvPr id="12" name="Rounded Rectangle 11"/>
          <p:cNvSpPr/>
          <p:nvPr/>
        </p:nvSpPr>
        <p:spPr>
          <a:xfrm>
            <a:off x="3246120" y="1234440"/>
            <a:ext cx="2606040" cy="17373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429000" y="1417320"/>
            <a:ext cx="502920" cy="5029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tore_w.png"/>
          <p:cNvPicPr>
            <a:picLocks noChangeAspect="1"/>
          </p:cNvPicPr>
          <p:nvPr/>
        </p:nvPicPr>
        <p:blipFill>
          <a:blip r:embed="rId5"/>
          <a:stretch>
            <a:fillRect/>
          </a:stretch>
        </p:blipFill>
        <p:spPr>
          <a:xfrm>
            <a:off x="3539642" y="1527962"/>
            <a:ext cx="281635" cy="281635"/>
          </a:xfrm>
          <a:prstGeom prst="rect">
            <a:avLst/>
          </a:prstGeom>
        </p:spPr>
      </p:pic>
      <p:sp>
        <p:nvSpPr>
          <p:cNvPr id="15" name="TextBox 14"/>
          <p:cNvSpPr txBox="1"/>
          <p:nvPr/>
        </p:nvSpPr>
        <p:spPr>
          <a:xfrm>
            <a:off x="3977639" y="1417320"/>
            <a:ext cx="1737360" cy="50292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Retail</a:t>
            </a:r>
          </a:p>
        </p:txBody>
      </p:sp>
      <p:sp>
        <p:nvSpPr>
          <p:cNvPr id="16" name="TextBox 15"/>
          <p:cNvSpPr txBox="1"/>
          <p:nvPr/>
        </p:nvSpPr>
        <p:spPr>
          <a:xfrm>
            <a:off x="3429000" y="2011680"/>
            <a:ext cx="2240280" cy="868679"/>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Góndolas vacías, filas en caja, conteo de clientes.</a:t>
            </a:r>
          </a:p>
        </p:txBody>
      </p:sp>
      <p:sp>
        <p:nvSpPr>
          <p:cNvPr id="17" name="Rounded Rectangle 16"/>
          <p:cNvSpPr/>
          <p:nvPr/>
        </p:nvSpPr>
        <p:spPr>
          <a:xfrm>
            <a:off x="6035040" y="1234440"/>
            <a:ext cx="2606040" cy="17373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217920" y="1417320"/>
            <a:ext cx="502920" cy="5029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traffic_w.png"/>
          <p:cNvPicPr>
            <a:picLocks noChangeAspect="1"/>
          </p:cNvPicPr>
          <p:nvPr/>
        </p:nvPicPr>
        <p:blipFill>
          <a:blip r:embed="rId6"/>
          <a:stretch>
            <a:fillRect/>
          </a:stretch>
        </p:blipFill>
        <p:spPr>
          <a:xfrm>
            <a:off x="6328562" y="1527962"/>
            <a:ext cx="281635" cy="281635"/>
          </a:xfrm>
          <a:prstGeom prst="rect">
            <a:avLst/>
          </a:prstGeom>
        </p:spPr>
      </p:pic>
      <p:sp>
        <p:nvSpPr>
          <p:cNvPr id="20" name="TextBox 19"/>
          <p:cNvSpPr txBox="1"/>
          <p:nvPr/>
        </p:nvSpPr>
        <p:spPr>
          <a:xfrm>
            <a:off x="6766559" y="1417320"/>
            <a:ext cx="1737360" cy="50292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Tránsito</a:t>
            </a:r>
          </a:p>
        </p:txBody>
      </p:sp>
      <p:sp>
        <p:nvSpPr>
          <p:cNvPr id="21" name="TextBox 20"/>
          <p:cNvSpPr txBox="1"/>
          <p:nvPr/>
        </p:nvSpPr>
        <p:spPr>
          <a:xfrm>
            <a:off x="6217920" y="2011680"/>
            <a:ext cx="2240280" cy="868679"/>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Contar vehículos y medir congestión en cruces.</a:t>
            </a:r>
          </a:p>
        </p:txBody>
      </p:sp>
      <p:sp>
        <p:nvSpPr>
          <p:cNvPr id="22" name="Rounded Rectangle 21"/>
          <p:cNvSpPr/>
          <p:nvPr/>
        </p:nvSpPr>
        <p:spPr>
          <a:xfrm>
            <a:off x="457200" y="3200400"/>
            <a:ext cx="2606040" cy="17373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640080" y="3383280"/>
            <a:ext cx="502920" cy="5029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factory_w.png"/>
          <p:cNvPicPr>
            <a:picLocks noChangeAspect="1"/>
          </p:cNvPicPr>
          <p:nvPr/>
        </p:nvPicPr>
        <p:blipFill>
          <a:blip r:embed="rId7"/>
          <a:stretch>
            <a:fillRect/>
          </a:stretch>
        </p:blipFill>
        <p:spPr>
          <a:xfrm>
            <a:off x="750722" y="3493922"/>
            <a:ext cx="281635" cy="281635"/>
          </a:xfrm>
          <a:prstGeom prst="rect">
            <a:avLst/>
          </a:prstGeom>
        </p:spPr>
      </p:pic>
      <p:sp>
        <p:nvSpPr>
          <p:cNvPr id="25" name="TextBox 24"/>
          <p:cNvSpPr txBox="1"/>
          <p:nvPr/>
        </p:nvSpPr>
        <p:spPr>
          <a:xfrm>
            <a:off x="1188720" y="3383280"/>
            <a:ext cx="1737360" cy="50292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Industria</a:t>
            </a:r>
          </a:p>
        </p:txBody>
      </p:sp>
      <p:sp>
        <p:nvSpPr>
          <p:cNvPr id="26" name="TextBox 25"/>
          <p:cNvSpPr txBox="1"/>
          <p:nvPr/>
        </p:nvSpPr>
        <p:spPr>
          <a:xfrm>
            <a:off x="640080" y="3977639"/>
            <a:ext cx="2240280" cy="868679"/>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Control de calidad: piezas con defectos en la línea.</a:t>
            </a:r>
          </a:p>
        </p:txBody>
      </p:sp>
      <p:sp>
        <p:nvSpPr>
          <p:cNvPr id="27" name="Rounded Rectangle 26"/>
          <p:cNvSpPr/>
          <p:nvPr/>
        </p:nvSpPr>
        <p:spPr>
          <a:xfrm>
            <a:off x="3246120" y="3200400"/>
            <a:ext cx="2606040" cy="17373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3429000" y="3383280"/>
            <a:ext cx="502920" cy="5029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engineer_w.png"/>
          <p:cNvPicPr>
            <a:picLocks noChangeAspect="1"/>
          </p:cNvPicPr>
          <p:nvPr/>
        </p:nvPicPr>
        <p:blipFill>
          <a:blip r:embed="rId8"/>
          <a:stretch>
            <a:fillRect/>
          </a:stretch>
        </p:blipFill>
        <p:spPr>
          <a:xfrm>
            <a:off x="3539642" y="3493922"/>
            <a:ext cx="281635" cy="281635"/>
          </a:xfrm>
          <a:prstGeom prst="rect">
            <a:avLst/>
          </a:prstGeom>
        </p:spPr>
      </p:pic>
      <p:sp>
        <p:nvSpPr>
          <p:cNvPr id="30" name="TextBox 29"/>
          <p:cNvSpPr txBox="1"/>
          <p:nvPr/>
        </p:nvSpPr>
        <p:spPr>
          <a:xfrm>
            <a:off x="3977639" y="3383280"/>
            <a:ext cx="1737360" cy="50292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Seguridad laboral</a:t>
            </a:r>
          </a:p>
        </p:txBody>
      </p:sp>
      <p:sp>
        <p:nvSpPr>
          <p:cNvPr id="31" name="TextBox 30"/>
          <p:cNvSpPr txBox="1"/>
          <p:nvPr/>
        </p:nvSpPr>
        <p:spPr>
          <a:xfrm>
            <a:off x="3429000" y="3977639"/>
            <a:ext cx="2240280" cy="868679"/>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Verificar casco y chaleco en obras y faenas.</a:t>
            </a:r>
          </a:p>
        </p:txBody>
      </p:sp>
      <p:sp>
        <p:nvSpPr>
          <p:cNvPr id="32" name="Rounded Rectangle 31"/>
          <p:cNvSpPr/>
          <p:nvPr/>
        </p:nvSpPr>
        <p:spPr>
          <a:xfrm>
            <a:off x="6035040" y="3200400"/>
            <a:ext cx="2606040" cy="17373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6217920" y="3383280"/>
            <a:ext cx="502920" cy="5029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robot_w.png"/>
          <p:cNvPicPr>
            <a:picLocks noChangeAspect="1"/>
          </p:cNvPicPr>
          <p:nvPr/>
        </p:nvPicPr>
        <p:blipFill>
          <a:blip r:embed="rId9"/>
          <a:stretch>
            <a:fillRect/>
          </a:stretch>
        </p:blipFill>
        <p:spPr>
          <a:xfrm>
            <a:off x="6328562" y="3493922"/>
            <a:ext cx="281635" cy="281635"/>
          </a:xfrm>
          <a:prstGeom prst="rect">
            <a:avLst/>
          </a:prstGeom>
        </p:spPr>
      </p:pic>
      <p:sp>
        <p:nvSpPr>
          <p:cNvPr id="35" name="TextBox 34"/>
          <p:cNvSpPr txBox="1"/>
          <p:nvPr/>
        </p:nvSpPr>
        <p:spPr>
          <a:xfrm>
            <a:off x="6766559" y="3383280"/>
            <a:ext cx="1737360" cy="50292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Robótica</a:t>
            </a:r>
          </a:p>
        </p:txBody>
      </p:sp>
      <p:sp>
        <p:nvSpPr>
          <p:cNvPr id="36" name="TextBox 35"/>
          <p:cNvSpPr txBox="1"/>
          <p:nvPr/>
        </p:nvSpPr>
        <p:spPr>
          <a:xfrm>
            <a:off x="6217920" y="3977639"/>
            <a:ext cx="2240280" cy="868679"/>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Que un robot encuentre y tome objetos.</a:t>
            </a:r>
          </a:p>
        </p:txBody>
      </p:sp>
      <p:sp>
        <p:nvSpPr>
          <p:cNvPr id="37" name="Rounded Rectangle 36"/>
          <p:cNvSpPr/>
          <p:nvPr/>
        </p:nvSpPr>
        <p:spPr>
          <a:xfrm>
            <a:off x="457200" y="5349240"/>
            <a:ext cx="8229600" cy="59436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85800" y="5349240"/>
            <a:ext cx="7772400" cy="594360"/>
          </a:xfrm>
          <a:prstGeom prst="rect">
            <a:avLst/>
          </a:prstGeom>
          <a:noFill/>
        </p:spPr>
        <p:txBody>
          <a:bodyPr wrap="square" anchor="ctr">
            <a:spAutoFit/>
          </a:bodyPr>
          <a:lstStyle/>
          <a:p>
            <a:pPr algn="l">
              <a:spcAft>
                <a:spcPts val="600"/>
              </a:spcAft>
            </a:pPr>
            <a:r>
              <a:rPr sz="1500" b="0" i="0">
                <a:solidFill>
                  <a:srgbClr val="262626"/>
                </a:solidFill>
                <a:latin typeface="Calibri"/>
              </a:rPr>
              <a:t>¿Cuál de estos podrían prototipar con una cámara y un ESP32 este semestre?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¿Dónde procesamos: en el borde o en la nube?</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38</a:t>
            </a:r>
          </a:p>
        </p:txBody>
      </p:sp>
      <p:sp>
        <p:nvSpPr>
          <p:cNvPr id="7" name="TextBox 6"/>
          <p:cNvSpPr txBox="1"/>
          <p:nvPr/>
        </p:nvSpPr>
        <p:spPr>
          <a:xfrm>
            <a:off x="457200" y="1097280"/>
            <a:ext cx="8229600" cy="548640"/>
          </a:xfrm>
          <a:prstGeom prst="rect">
            <a:avLst/>
          </a:prstGeom>
          <a:noFill/>
        </p:spPr>
        <p:txBody>
          <a:bodyPr wrap="square" anchor="t">
            <a:spAutoFit/>
          </a:bodyPr>
          <a:lstStyle/>
          <a:p>
            <a:pPr algn="l">
              <a:spcAft>
                <a:spcPts val="600"/>
              </a:spcAft>
            </a:pPr>
            <a:r>
              <a:rPr sz="1600" b="0" i="0">
                <a:solidFill>
                  <a:srgbClr val="262626"/>
                </a:solidFill>
                <a:latin typeface="Calibri"/>
              </a:rPr>
              <a:t>La misma detección puede correr cerca de la cámara o en un servidor remoto. Cada opción tiene costos.</a:t>
            </a:r>
          </a:p>
        </p:txBody>
      </p:sp>
      <p:sp>
        <p:nvSpPr>
          <p:cNvPr id="8" name="Rounded Rectangle 7"/>
          <p:cNvSpPr/>
          <p:nvPr/>
        </p:nvSpPr>
        <p:spPr>
          <a:xfrm>
            <a:off x="457200" y="1783080"/>
            <a:ext cx="3931920" cy="274320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85800" y="196596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pu_w.png"/>
          <p:cNvPicPr>
            <a:picLocks noChangeAspect="1"/>
          </p:cNvPicPr>
          <p:nvPr/>
        </p:nvPicPr>
        <p:blipFill>
          <a:blip r:embed="rId5"/>
          <a:stretch>
            <a:fillRect/>
          </a:stretch>
        </p:blipFill>
        <p:spPr>
          <a:xfrm>
            <a:off x="816559" y="2096719"/>
            <a:ext cx="332841" cy="332841"/>
          </a:xfrm>
          <a:prstGeom prst="rect">
            <a:avLst/>
          </a:prstGeom>
        </p:spPr>
      </p:pic>
      <p:sp>
        <p:nvSpPr>
          <p:cNvPr id="11" name="TextBox 10"/>
          <p:cNvSpPr txBox="1"/>
          <p:nvPr/>
        </p:nvSpPr>
        <p:spPr>
          <a:xfrm>
            <a:off x="1417320" y="1965960"/>
            <a:ext cx="2834640" cy="594360"/>
          </a:xfrm>
          <a:prstGeom prst="rect">
            <a:avLst/>
          </a:prstGeom>
          <a:noFill/>
        </p:spPr>
        <p:txBody>
          <a:bodyPr wrap="square" anchor="ctr">
            <a:spAutoFit/>
          </a:bodyPr>
          <a:lstStyle/>
          <a:p>
            <a:pPr algn="l">
              <a:spcAft>
                <a:spcPts val="600"/>
              </a:spcAft>
            </a:pPr>
            <a:r>
              <a:rPr sz="1700" b="1" i="0">
                <a:solidFill>
                  <a:srgbClr val="8E1B1B"/>
                </a:solidFill>
                <a:latin typeface="Calibri"/>
              </a:rPr>
              <a:t>En el borde (notebook, Pi)</a:t>
            </a:r>
          </a:p>
        </p:txBody>
      </p:sp>
      <p:sp>
        <p:nvSpPr>
          <p:cNvPr id="12" name="TextBox 11"/>
          <p:cNvSpPr txBox="1"/>
          <p:nvPr/>
        </p:nvSpPr>
        <p:spPr>
          <a:xfrm>
            <a:off x="685800" y="2743200"/>
            <a:ext cx="3520440" cy="2286000"/>
          </a:xfrm>
          <a:prstGeom prst="rect">
            <a:avLst/>
          </a:prstGeom>
          <a:noFill/>
        </p:spPr>
        <p:txBody>
          <a:bodyPr wrap="square" anchor="t">
            <a:spAutoFit/>
          </a:bodyPr>
          <a:lstStyle/>
          <a:p>
            <a:pPr marL="228600" indent="-201168" algn="l">
              <a:spcAft>
                <a:spcPts val="600"/>
              </a:spcAft>
              <a:buClr>
                <a:srgbClr val="8E1B1B"/>
              </a:buClr>
              <a:buFont typeface="Arial"/>
              <a:buChar char="•"/>
            </a:pPr>
            <a:r>
              <a:rPr sz="1400" b="0" i="0">
                <a:solidFill>
                  <a:srgbClr val="262626"/>
                </a:solidFill>
                <a:latin typeface="Calibri"/>
              </a:rPr>
              <a:t>Respuesta inmediata, sin internet.</a:t>
            </a:r>
          </a:p>
          <a:p>
            <a:pPr marL="228600" indent="-201168" algn="l">
              <a:spcAft>
                <a:spcPts val="600"/>
              </a:spcAft>
              <a:buClr>
                <a:srgbClr val="8E1B1B"/>
              </a:buClr>
              <a:buFont typeface="Arial"/>
              <a:buChar char="•"/>
            </a:pPr>
            <a:r>
              <a:rPr sz="1400" b="0" i="0">
                <a:solidFill>
                  <a:srgbClr val="262626"/>
                </a:solidFill>
                <a:latin typeface="Calibri"/>
              </a:rPr>
              <a:t>La imagen no sale del dispositivo: más privacidad.</a:t>
            </a:r>
          </a:p>
          <a:p>
            <a:pPr marL="228600" indent="-201168" algn="l">
              <a:spcAft>
                <a:spcPts val="600"/>
              </a:spcAft>
              <a:buClr>
                <a:srgbClr val="8E1B1B"/>
              </a:buClr>
              <a:buFont typeface="Arial"/>
              <a:buChar char="•"/>
            </a:pPr>
            <a:r>
              <a:rPr sz="1400" b="0" i="0">
                <a:solidFill>
                  <a:srgbClr val="262626"/>
                </a:solidFill>
                <a:latin typeface="Calibri"/>
              </a:rPr>
              <a:t>Potencia limitada: modelos pequeños.</a:t>
            </a:r>
          </a:p>
        </p:txBody>
      </p:sp>
      <p:sp>
        <p:nvSpPr>
          <p:cNvPr id="13" name="Rounded Rectangle 12"/>
          <p:cNvSpPr/>
          <p:nvPr/>
        </p:nvSpPr>
        <p:spPr>
          <a:xfrm>
            <a:off x="4754880" y="1783080"/>
            <a:ext cx="3931920" cy="274320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983480" y="196596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loud_w.png"/>
          <p:cNvPicPr>
            <a:picLocks noChangeAspect="1"/>
          </p:cNvPicPr>
          <p:nvPr/>
        </p:nvPicPr>
        <p:blipFill>
          <a:blip r:embed="rId6"/>
          <a:stretch>
            <a:fillRect/>
          </a:stretch>
        </p:blipFill>
        <p:spPr>
          <a:xfrm>
            <a:off x="5114239" y="2096719"/>
            <a:ext cx="332841" cy="332841"/>
          </a:xfrm>
          <a:prstGeom prst="rect">
            <a:avLst/>
          </a:prstGeom>
        </p:spPr>
      </p:pic>
      <p:sp>
        <p:nvSpPr>
          <p:cNvPr id="16" name="TextBox 15"/>
          <p:cNvSpPr txBox="1"/>
          <p:nvPr/>
        </p:nvSpPr>
        <p:spPr>
          <a:xfrm>
            <a:off x="5715000" y="1965960"/>
            <a:ext cx="2834640" cy="594360"/>
          </a:xfrm>
          <a:prstGeom prst="rect">
            <a:avLst/>
          </a:prstGeom>
          <a:noFill/>
        </p:spPr>
        <p:txBody>
          <a:bodyPr wrap="square" anchor="ctr">
            <a:spAutoFit/>
          </a:bodyPr>
          <a:lstStyle/>
          <a:p>
            <a:pPr algn="l">
              <a:spcAft>
                <a:spcPts val="600"/>
              </a:spcAft>
            </a:pPr>
            <a:r>
              <a:rPr sz="1700" b="1" i="0">
                <a:solidFill>
                  <a:srgbClr val="8E1B1B"/>
                </a:solidFill>
                <a:latin typeface="Calibri"/>
              </a:rPr>
              <a:t>En la nube (API)</a:t>
            </a:r>
          </a:p>
        </p:txBody>
      </p:sp>
      <p:sp>
        <p:nvSpPr>
          <p:cNvPr id="17" name="TextBox 16"/>
          <p:cNvSpPr txBox="1"/>
          <p:nvPr/>
        </p:nvSpPr>
        <p:spPr>
          <a:xfrm>
            <a:off x="4983480" y="2743200"/>
            <a:ext cx="3520440" cy="2286000"/>
          </a:xfrm>
          <a:prstGeom prst="rect">
            <a:avLst/>
          </a:prstGeom>
          <a:noFill/>
        </p:spPr>
        <p:txBody>
          <a:bodyPr wrap="square" anchor="t">
            <a:spAutoFit/>
          </a:bodyPr>
          <a:lstStyle/>
          <a:p>
            <a:pPr marL="228600" indent="-201168" algn="l">
              <a:spcAft>
                <a:spcPts val="600"/>
              </a:spcAft>
              <a:buClr>
                <a:srgbClr val="8E1B1B"/>
              </a:buClr>
              <a:buFont typeface="Arial"/>
              <a:buChar char="•"/>
            </a:pPr>
            <a:r>
              <a:rPr sz="1400" b="0" i="0">
                <a:solidFill>
                  <a:srgbClr val="262626"/>
                </a:solidFill>
                <a:latin typeface="Calibri"/>
              </a:rPr>
              <a:t>Modelos grandes y más precisos.</a:t>
            </a:r>
          </a:p>
          <a:p>
            <a:pPr marL="228600" indent="-201168" algn="l">
              <a:spcAft>
                <a:spcPts val="600"/>
              </a:spcAft>
              <a:buClr>
                <a:srgbClr val="8E1B1B"/>
              </a:buClr>
              <a:buFont typeface="Arial"/>
              <a:buChar char="•"/>
            </a:pPr>
            <a:r>
              <a:rPr sz="1400" b="0" i="0">
                <a:solidFill>
                  <a:srgbClr val="262626"/>
                </a:solidFill>
                <a:latin typeface="Calibri"/>
              </a:rPr>
              <a:t>Depende de la red: latencia y costo.</a:t>
            </a:r>
          </a:p>
          <a:p>
            <a:pPr marL="228600" indent="-201168" algn="l">
              <a:spcAft>
                <a:spcPts val="600"/>
              </a:spcAft>
              <a:buClr>
                <a:srgbClr val="8E1B1B"/>
              </a:buClr>
              <a:buFont typeface="Arial"/>
              <a:buChar char="•"/>
            </a:pPr>
            <a:r>
              <a:rPr sz="1400" b="0" i="0">
                <a:solidFill>
                  <a:srgbClr val="262626"/>
                </a:solidFill>
                <a:latin typeface="Calibri"/>
              </a:rPr>
              <a:t>Las imágenes viajan a un tercero.</a:t>
            </a:r>
          </a:p>
        </p:txBody>
      </p:sp>
      <p:sp>
        <p:nvSpPr>
          <p:cNvPr id="18" name="Rounded Rectangle 17"/>
          <p:cNvSpPr/>
          <p:nvPr/>
        </p:nvSpPr>
        <p:spPr>
          <a:xfrm>
            <a:off x="457200" y="4846320"/>
            <a:ext cx="8229600" cy="86868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85800" y="4846320"/>
            <a:ext cx="7772400" cy="868680"/>
          </a:xfrm>
          <a:prstGeom prst="rect">
            <a:avLst/>
          </a:prstGeom>
          <a:noFill/>
        </p:spPr>
        <p:txBody>
          <a:bodyPr wrap="square" anchor="ctr">
            <a:spAutoFit/>
          </a:bodyPr>
          <a:lstStyle/>
          <a:p>
            <a:pPr algn="l">
              <a:spcAft>
                <a:spcPts val="600"/>
              </a:spcAft>
            </a:pPr>
            <a:r>
              <a:rPr sz="1500" b="0" i="0">
                <a:solidFill>
                  <a:srgbClr val="262626"/>
                </a:solidFill>
                <a:latin typeface="Calibri"/>
              </a:rPr>
              <a:t>También se puede poner el modelo detrás de una </a:t>
            </a:r>
            <a:r>
              <a:rPr sz="1500" b="1" i="0">
                <a:solidFill>
                  <a:srgbClr val="262626"/>
                </a:solidFill>
                <a:latin typeface="Calibri"/>
              </a:rPr>
              <a:t>API con FastAPI</a:t>
            </a:r>
            <a:r>
              <a:rPr sz="1500" b="0" i="0">
                <a:solidFill>
                  <a:srgbClr val="262626"/>
                </a:solidFill>
                <a:latin typeface="Calibri"/>
              </a:rPr>
              <a:t>, igual que en el taller de Docker + TensorFlow. Lo veremos en la Clase 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Ética y privacidad</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39</a:t>
            </a:r>
          </a:p>
        </p:txBody>
      </p:sp>
      <p:sp>
        <p:nvSpPr>
          <p:cNvPr id="7" name="TextBox 6"/>
          <p:cNvSpPr txBox="1"/>
          <p:nvPr/>
        </p:nvSpPr>
        <p:spPr>
          <a:xfrm>
            <a:off x="457200" y="1097280"/>
            <a:ext cx="8229600" cy="548640"/>
          </a:xfrm>
          <a:prstGeom prst="rect">
            <a:avLst/>
          </a:prstGeom>
          <a:noFill/>
        </p:spPr>
        <p:txBody>
          <a:bodyPr wrap="square" anchor="t">
            <a:spAutoFit/>
          </a:bodyPr>
          <a:lstStyle/>
          <a:p>
            <a:pPr algn="l">
              <a:spcAft>
                <a:spcPts val="600"/>
              </a:spcAft>
            </a:pPr>
            <a:r>
              <a:rPr sz="1600" b="0" i="0">
                <a:solidFill>
                  <a:srgbClr val="262626"/>
                </a:solidFill>
                <a:latin typeface="Calibri"/>
              </a:rPr>
              <a:t>Una cámara con IA puede identificar personas. Como ingenieros, diseñamos con responsabilidad.</a:t>
            </a:r>
          </a:p>
        </p:txBody>
      </p:sp>
      <p:sp>
        <p:nvSpPr>
          <p:cNvPr id="8" name="Rounded Rectangle 7"/>
          <p:cNvSpPr/>
          <p:nvPr/>
        </p:nvSpPr>
        <p:spPr>
          <a:xfrm>
            <a:off x="457200" y="1783080"/>
            <a:ext cx="4023360" cy="14173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0080" y="1965960"/>
            <a:ext cx="457200" cy="4572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rivacy_w.png"/>
          <p:cNvPicPr>
            <a:picLocks noChangeAspect="1"/>
          </p:cNvPicPr>
          <p:nvPr/>
        </p:nvPicPr>
        <p:blipFill>
          <a:blip r:embed="rId5"/>
          <a:stretch>
            <a:fillRect/>
          </a:stretch>
        </p:blipFill>
        <p:spPr>
          <a:xfrm>
            <a:off x="740664" y="2066543"/>
            <a:ext cx="256032" cy="256032"/>
          </a:xfrm>
          <a:prstGeom prst="rect">
            <a:avLst/>
          </a:prstGeom>
        </p:spPr>
      </p:pic>
      <p:sp>
        <p:nvSpPr>
          <p:cNvPr id="11" name="TextBox 10"/>
          <p:cNvSpPr txBox="1"/>
          <p:nvPr/>
        </p:nvSpPr>
        <p:spPr>
          <a:xfrm>
            <a:off x="1143000" y="1965960"/>
            <a:ext cx="3200400" cy="45720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Consentimiento</a:t>
            </a:r>
          </a:p>
        </p:txBody>
      </p:sp>
      <p:sp>
        <p:nvSpPr>
          <p:cNvPr id="12" name="TextBox 11"/>
          <p:cNvSpPr txBox="1"/>
          <p:nvPr/>
        </p:nvSpPr>
        <p:spPr>
          <a:xfrm>
            <a:off x="640080" y="2514600"/>
            <a:ext cx="3657600" cy="594360"/>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¿Las personas saben que se las está grabando y para qué?</a:t>
            </a:r>
          </a:p>
        </p:txBody>
      </p:sp>
      <p:sp>
        <p:nvSpPr>
          <p:cNvPr id="13" name="Rounded Rectangle 12"/>
          <p:cNvSpPr/>
          <p:nvPr/>
        </p:nvSpPr>
        <p:spPr>
          <a:xfrm>
            <a:off x="4663440" y="1783080"/>
            <a:ext cx="4023360" cy="14173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846320" y="1965960"/>
            <a:ext cx="457200" cy="4572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cale_w.png"/>
          <p:cNvPicPr>
            <a:picLocks noChangeAspect="1"/>
          </p:cNvPicPr>
          <p:nvPr/>
        </p:nvPicPr>
        <p:blipFill>
          <a:blip r:embed="rId6"/>
          <a:stretch>
            <a:fillRect/>
          </a:stretch>
        </p:blipFill>
        <p:spPr>
          <a:xfrm>
            <a:off x="4946904" y="2066543"/>
            <a:ext cx="256032" cy="256032"/>
          </a:xfrm>
          <a:prstGeom prst="rect">
            <a:avLst/>
          </a:prstGeom>
        </p:spPr>
      </p:pic>
      <p:sp>
        <p:nvSpPr>
          <p:cNvPr id="16" name="TextBox 15"/>
          <p:cNvSpPr txBox="1"/>
          <p:nvPr/>
        </p:nvSpPr>
        <p:spPr>
          <a:xfrm>
            <a:off x="5349240" y="1965960"/>
            <a:ext cx="3200400" cy="45720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Sesgos</a:t>
            </a:r>
          </a:p>
        </p:txBody>
      </p:sp>
      <p:sp>
        <p:nvSpPr>
          <p:cNvPr id="17" name="TextBox 16"/>
          <p:cNvSpPr txBox="1"/>
          <p:nvPr/>
        </p:nvSpPr>
        <p:spPr>
          <a:xfrm>
            <a:off x="4846320" y="2514600"/>
            <a:ext cx="3657600" cy="594360"/>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Un modelo entrenado con pocos ejemplos de un grupo falla más con ese grupo.</a:t>
            </a:r>
          </a:p>
        </p:txBody>
      </p:sp>
      <p:sp>
        <p:nvSpPr>
          <p:cNvPr id="18" name="Rounded Rectangle 17"/>
          <p:cNvSpPr/>
          <p:nvPr/>
        </p:nvSpPr>
        <p:spPr>
          <a:xfrm>
            <a:off x="457200" y="3383280"/>
            <a:ext cx="4023360" cy="14173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0080" y="3566160"/>
            <a:ext cx="457200" cy="4572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ace_w.png"/>
          <p:cNvPicPr>
            <a:picLocks noChangeAspect="1"/>
          </p:cNvPicPr>
          <p:nvPr/>
        </p:nvPicPr>
        <p:blipFill>
          <a:blip r:embed="rId7"/>
          <a:stretch>
            <a:fillRect/>
          </a:stretch>
        </p:blipFill>
        <p:spPr>
          <a:xfrm>
            <a:off x="740664" y="3666744"/>
            <a:ext cx="256032" cy="256032"/>
          </a:xfrm>
          <a:prstGeom prst="rect">
            <a:avLst/>
          </a:prstGeom>
        </p:spPr>
      </p:pic>
      <p:sp>
        <p:nvSpPr>
          <p:cNvPr id="21" name="TextBox 20"/>
          <p:cNvSpPr txBox="1"/>
          <p:nvPr/>
        </p:nvSpPr>
        <p:spPr>
          <a:xfrm>
            <a:off x="1143000" y="3566160"/>
            <a:ext cx="3200400" cy="45720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Biometría</a:t>
            </a:r>
          </a:p>
        </p:txBody>
      </p:sp>
      <p:sp>
        <p:nvSpPr>
          <p:cNvPr id="22" name="TextBox 21"/>
          <p:cNvSpPr txBox="1"/>
          <p:nvPr/>
        </p:nvSpPr>
        <p:spPr>
          <a:xfrm>
            <a:off x="640080" y="4114800"/>
            <a:ext cx="3657600" cy="594360"/>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El rostro es un dato sensible: identificar no es lo mismo que contar.</a:t>
            </a:r>
          </a:p>
        </p:txBody>
      </p:sp>
      <p:sp>
        <p:nvSpPr>
          <p:cNvPr id="23" name="Rounded Rectangle 22"/>
          <p:cNvSpPr/>
          <p:nvPr/>
        </p:nvSpPr>
        <p:spPr>
          <a:xfrm>
            <a:off x="4663440" y="3383280"/>
            <a:ext cx="4023360" cy="14173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4846320" y="3566160"/>
            <a:ext cx="457200" cy="4572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storage_w.png"/>
          <p:cNvPicPr>
            <a:picLocks noChangeAspect="1"/>
          </p:cNvPicPr>
          <p:nvPr/>
        </p:nvPicPr>
        <p:blipFill>
          <a:blip r:embed="rId8"/>
          <a:stretch>
            <a:fillRect/>
          </a:stretch>
        </p:blipFill>
        <p:spPr>
          <a:xfrm>
            <a:off x="4946904" y="3666744"/>
            <a:ext cx="256032" cy="256032"/>
          </a:xfrm>
          <a:prstGeom prst="rect">
            <a:avLst/>
          </a:prstGeom>
        </p:spPr>
      </p:pic>
      <p:sp>
        <p:nvSpPr>
          <p:cNvPr id="26" name="TextBox 25"/>
          <p:cNvSpPr txBox="1"/>
          <p:nvPr/>
        </p:nvSpPr>
        <p:spPr>
          <a:xfrm>
            <a:off x="5349240" y="3566160"/>
            <a:ext cx="3200400" cy="457200"/>
          </a:xfrm>
          <a:prstGeom prst="rect">
            <a:avLst/>
          </a:prstGeom>
          <a:noFill/>
        </p:spPr>
        <p:txBody>
          <a:bodyPr wrap="square" lIns="18288" tIns="18288" rIns="18288" bIns="18288" anchor="ctr">
            <a:spAutoFit/>
          </a:bodyPr>
          <a:lstStyle/>
          <a:p>
            <a:pPr algn="l">
              <a:spcAft>
                <a:spcPts val="600"/>
              </a:spcAft>
            </a:pPr>
            <a:r>
              <a:rPr sz="1500" b="1" i="0">
                <a:solidFill>
                  <a:srgbClr val="8E1B1B"/>
                </a:solidFill>
                <a:latin typeface="Calibri"/>
              </a:rPr>
              <a:t>Almacenamiento</a:t>
            </a:r>
          </a:p>
        </p:txBody>
      </p:sp>
      <p:sp>
        <p:nvSpPr>
          <p:cNvPr id="27" name="TextBox 26"/>
          <p:cNvSpPr txBox="1"/>
          <p:nvPr/>
        </p:nvSpPr>
        <p:spPr>
          <a:xfrm>
            <a:off x="4846320" y="4114800"/>
            <a:ext cx="3657600" cy="594360"/>
          </a:xfrm>
          <a:prstGeom prst="rect">
            <a:avLst/>
          </a:prstGeom>
          <a:noFill/>
        </p:spPr>
        <p:txBody>
          <a:bodyPr wrap="square" lIns="18288" tIns="18288" rIns="18288" bIns="18288" anchor="t">
            <a:spAutoFit/>
          </a:bodyPr>
          <a:lstStyle/>
          <a:p>
            <a:pPr algn="l">
              <a:spcAft>
                <a:spcPts val="600"/>
              </a:spcAft>
            </a:pPr>
            <a:r>
              <a:rPr sz="1300" b="0" i="0">
                <a:solidFill>
                  <a:srgbClr val="262626"/>
                </a:solidFill>
                <a:latin typeface="Calibri"/>
              </a:rPr>
              <a:t>Guardar solo lo necesario: muchas veces basta el número, no la imagen.</a:t>
            </a:r>
          </a:p>
        </p:txBody>
      </p:sp>
      <p:sp>
        <p:nvSpPr>
          <p:cNvPr id="28" name="Rounded Rectangle 27"/>
          <p:cNvSpPr/>
          <p:nvPr/>
        </p:nvSpPr>
        <p:spPr>
          <a:xfrm>
            <a:off x="457200" y="5120640"/>
            <a:ext cx="8229600" cy="114300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640080" y="534924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flag_w.png"/>
          <p:cNvPicPr>
            <a:picLocks noChangeAspect="1"/>
          </p:cNvPicPr>
          <p:nvPr/>
        </p:nvPicPr>
        <p:blipFill>
          <a:blip r:embed="rId9"/>
          <a:stretch>
            <a:fillRect/>
          </a:stretch>
        </p:blipFill>
        <p:spPr>
          <a:xfrm>
            <a:off x="780897" y="5490057"/>
            <a:ext cx="358444" cy="358444"/>
          </a:xfrm>
          <a:prstGeom prst="rect">
            <a:avLst/>
          </a:prstGeom>
        </p:spPr>
      </p:pic>
      <p:sp>
        <p:nvSpPr>
          <p:cNvPr id="31" name="TextBox 30"/>
          <p:cNvSpPr txBox="1"/>
          <p:nvPr/>
        </p:nvSpPr>
        <p:spPr>
          <a:xfrm>
            <a:off x="1463040" y="5120640"/>
            <a:ext cx="7132320" cy="1143000"/>
          </a:xfrm>
          <a:prstGeom prst="rect">
            <a:avLst/>
          </a:prstGeom>
          <a:noFill/>
        </p:spPr>
        <p:txBody>
          <a:bodyPr wrap="square" anchor="ctr">
            <a:spAutoFit/>
          </a:bodyPr>
          <a:lstStyle/>
          <a:p>
            <a:pPr algn="l">
              <a:spcAft>
                <a:spcPts val="600"/>
              </a:spcAft>
            </a:pPr>
            <a:r>
              <a:rPr sz="1400" b="0" i="0">
                <a:solidFill>
                  <a:srgbClr val="262626"/>
                </a:solidFill>
                <a:latin typeface="Calibri"/>
              </a:rPr>
              <a:t>En Chile, la </a:t>
            </a:r>
            <a:r>
              <a:rPr sz="1400" b="1" i="0">
                <a:solidFill>
                  <a:srgbClr val="262626"/>
                </a:solidFill>
                <a:latin typeface="Calibri"/>
              </a:rPr>
              <a:t>Ley 21.719</a:t>
            </a:r>
            <a:r>
              <a:rPr sz="1400" b="0" i="0">
                <a:solidFill>
                  <a:srgbClr val="262626"/>
                </a:solidFill>
                <a:latin typeface="Calibri"/>
              </a:rPr>
              <a:t> de protección de datos personales entra en vigencia el </a:t>
            </a:r>
            <a:r>
              <a:rPr sz="1400" b="1" i="0">
                <a:solidFill>
                  <a:srgbClr val="262626"/>
                </a:solidFill>
                <a:latin typeface="Calibri"/>
              </a:rPr>
              <a:t>1 de diciembre de 2026</a:t>
            </a:r>
            <a:r>
              <a:rPr sz="1400" b="0" i="0">
                <a:solidFill>
                  <a:srgbClr val="262626"/>
                </a:solidFill>
                <a:latin typeface="Calibri"/>
              </a:rPr>
              <a:t>. En la práctica: </a:t>
            </a:r>
            <a:r>
              <a:rPr sz="1400" b="1" i="0">
                <a:solidFill>
                  <a:srgbClr val="262626"/>
                </a:solidFill>
                <a:latin typeface="Calibri"/>
              </a:rPr>
              <a:t>contamos</a:t>
            </a:r>
            <a:r>
              <a:rPr sz="1400" b="0" i="0">
                <a:solidFill>
                  <a:srgbClr val="262626"/>
                </a:solidFill>
                <a:latin typeface="Calibri"/>
              </a:rPr>
              <a:t> personas, no las identificamos.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Cierre de la Clase 2</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40</a:t>
            </a:r>
          </a:p>
        </p:txBody>
      </p:sp>
      <p:sp>
        <p:nvSpPr>
          <p:cNvPr id="7" name="Oval 6"/>
          <p:cNvSpPr/>
          <p:nvPr/>
        </p:nvSpPr>
        <p:spPr>
          <a:xfrm>
            <a:off x="548640" y="118872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ye_w.png"/>
          <p:cNvPicPr>
            <a:picLocks noChangeAspect="1"/>
          </p:cNvPicPr>
          <p:nvPr/>
        </p:nvPicPr>
        <p:blipFill>
          <a:blip r:embed="rId4"/>
          <a:stretch>
            <a:fillRect/>
          </a:stretch>
        </p:blipFill>
        <p:spPr>
          <a:xfrm>
            <a:off x="679399" y="1319479"/>
            <a:ext cx="332841" cy="332841"/>
          </a:xfrm>
          <a:prstGeom prst="rect">
            <a:avLst/>
          </a:prstGeom>
        </p:spPr>
      </p:pic>
      <p:sp>
        <p:nvSpPr>
          <p:cNvPr id="9" name="TextBox 8"/>
          <p:cNvSpPr txBox="1"/>
          <p:nvPr/>
        </p:nvSpPr>
        <p:spPr>
          <a:xfrm>
            <a:off x="1371600" y="1143000"/>
            <a:ext cx="7315200" cy="685800"/>
          </a:xfrm>
          <a:prstGeom prst="rect">
            <a:avLst/>
          </a:prstGeom>
          <a:noFill/>
        </p:spPr>
        <p:txBody>
          <a:bodyPr wrap="square" anchor="ctr">
            <a:spAutoFit/>
          </a:bodyPr>
          <a:lstStyle/>
          <a:p>
            <a:pPr algn="l">
              <a:spcAft>
                <a:spcPts val="600"/>
              </a:spcAft>
            </a:pPr>
            <a:r>
              <a:rPr sz="1600" b="0" i="0">
                <a:solidFill>
                  <a:srgbClr val="262626"/>
                </a:solidFill>
                <a:latin typeface="Calibri"/>
              </a:rPr>
              <a:t>YOLO detecta qué hay y dónde en una sola pasada: clase, confianza y caja.</a:t>
            </a:r>
          </a:p>
        </p:txBody>
      </p:sp>
      <p:sp>
        <p:nvSpPr>
          <p:cNvPr id="10" name="Oval 9"/>
          <p:cNvSpPr/>
          <p:nvPr/>
        </p:nvSpPr>
        <p:spPr>
          <a:xfrm>
            <a:off x="548640" y="210312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peed_w.png"/>
          <p:cNvPicPr>
            <a:picLocks noChangeAspect="1"/>
          </p:cNvPicPr>
          <p:nvPr/>
        </p:nvPicPr>
        <p:blipFill>
          <a:blip r:embed="rId5"/>
          <a:stretch>
            <a:fillRect/>
          </a:stretch>
        </p:blipFill>
        <p:spPr>
          <a:xfrm>
            <a:off x="679399" y="2233879"/>
            <a:ext cx="332841" cy="332841"/>
          </a:xfrm>
          <a:prstGeom prst="rect">
            <a:avLst/>
          </a:prstGeom>
        </p:spPr>
      </p:pic>
      <p:sp>
        <p:nvSpPr>
          <p:cNvPr id="12" name="TextBox 11"/>
          <p:cNvSpPr txBox="1"/>
          <p:nvPr/>
        </p:nvSpPr>
        <p:spPr>
          <a:xfrm>
            <a:off x="1371600" y="2057400"/>
            <a:ext cx="7315200" cy="685800"/>
          </a:xfrm>
          <a:prstGeom prst="rect">
            <a:avLst/>
          </a:prstGeom>
          <a:noFill/>
        </p:spPr>
        <p:txBody>
          <a:bodyPr wrap="square" anchor="ctr">
            <a:spAutoFit/>
          </a:bodyPr>
          <a:lstStyle/>
          <a:p>
            <a:pPr algn="l">
              <a:spcAft>
                <a:spcPts val="600"/>
              </a:spcAft>
            </a:pPr>
            <a:r>
              <a:rPr sz="1600" b="0" i="0">
                <a:solidFill>
                  <a:srgbClr val="262626"/>
                </a:solidFill>
                <a:latin typeface="Calibri"/>
              </a:rPr>
              <a:t>Velocidad vs precisión: en el borde se elige el modelo más pequeño que cumpla.</a:t>
            </a:r>
          </a:p>
        </p:txBody>
      </p:sp>
      <p:sp>
        <p:nvSpPr>
          <p:cNvPr id="13" name="Oval 12"/>
          <p:cNvSpPr/>
          <p:nvPr/>
        </p:nvSpPr>
        <p:spPr>
          <a:xfrm>
            <a:off x="548640" y="3017520"/>
            <a:ext cx="594360" cy="59436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privacy_w.png"/>
          <p:cNvPicPr>
            <a:picLocks noChangeAspect="1"/>
          </p:cNvPicPr>
          <p:nvPr/>
        </p:nvPicPr>
        <p:blipFill>
          <a:blip r:embed="rId6"/>
          <a:stretch>
            <a:fillRect/>
          </a:stretch>
        </p:blipFill>
        <p:spPr>
          <a:xfrm>
            <a:off x="679399" y="3148279"/>
            <a:ext cx="332841" cy="332841"/>
          </a:xfrm>
          <a:prstGeom prst="rect">
            <a:avLst/>
          </a:prstGeom>
        </p:spPr>
      </p:pic>
      <p:sp>
        <p:nvSpPr>
          <p:cNvPr id="15" name="TextBox 14"/>
          <p:cNvSpPr txBox="1"/>
          <p:nvPr/>
        </p:nvSpPr>
        <p:spPr>
          <a:xfrm>
            <a:off x="1371600" y="2971800"/>
            <a:ext cx="7315200" cy="685800"/>
          </a:xfrm>
          <a:prstGeom prst="rect">
            <a:avLst/>
          </a:prstGeom>
          <a:noFill/>
        </p:spPr>
        <p:txBody>
          <a:bodyPr wrap="square" anchor="ctr">
            <a:spAutoFit/>
          </a:bodyPr>
          <a:lstStyle/>
          <a:p>
            <a:pPr algn="l">
              <a:spcAft>
                <a:spcPts val="600"/>
              </a:spcAft>
            </a:pPr>
            <a:r>
              <a:rPr sz="1600" b="0" i="0">
                <a:solidFill>
                  <a:srgbClr val="262626"/>
                </a:solidFill>
                <a:latin typeface="Calibri"/>
              </a:rPr>
              <a:t>Diseñar con responsabilidad: contar personas, no identificarlas.</a:t>
            </a:r>
          </a:p>
        </p:txBody>
      </p:sp>
      <p:sp>
        <p:nvSpPr>
          <p:cNvPr id="16" name="Rounded Rectangle 15"/>
          <p:cNvSpPr/>
          <p:nvPr/>
        </p:nvSpPr>
        <p:spPr>
          <a:xfrm>
            <a:off x="457200" y="4114800"/>
            <a:ext cx="8229600" cy="210312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685800" y="434340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event_w.png"/>
          <p:cNvPicPr>
            <a:picLocks noChangeAspect="1"/>
          </p:cNvPicPr>
          <p:nvPr/>
        </p:nvPicPr>
        <p:blipFill>
          <a:blip r:embed="rId7"/>
          <a:stretch>
            <a:fillRect/>
          </a:stretch>
        </p:blipFill>
        <p:spPr>
          <a:xfrm>
            <a:off x="826617" y="4484217"/>
            <a:ext cx="358444" cy="358444"/>
          </a:xfrm>
          <a:prstGeom prst="rect">
            <a:avLst/>
          </a:prstGeom>
        </p:spPr>
      </p:pic>
      <p:sp>
        <p:nvSpPr>
          <p:cNvPr id="19" name="TextBox 18"/>
          <p:cNvSpPr txBox="1"/>
          <p:nvPr/>
        </p:nvSpPr>
        <p:spPr>
          <a:xfrm>
            <a:off x="1554480" y="4251960"/>
            <a:ext cx="6949440" cy="411480"/>
          </a:xfrm>
          <a:prstGeom prst="rect">
            <a:avLst/>
          </a:prstGeom>
          <a:noFill/>
        </p:spPr>
        <p:txBody>
          <a:bodyPr wrap="square" anchor="t">
            <a:spAutoFit/>
          </a:bodyPr>
          <a:lstStyle/>
          <a:p>
            <a:pPr algn="l">
              <a:spcAft>
                <a:spcPts val="600"/>
              </a:spcAft>
            </a:pPr>
            <a:r>
              <a:rPr sz="1800" b="1" i="0">
                <a:solidFill>
                  <a:srgbClr val="8E1B1B"/>
                </a:solidFill>
                <a:latin typeface="Calibri"/>
              </a:rPr>
              <a:t>Para la próxima clase</a:t>
            </a:r>
          </a:p>
        </p:txBody>
      </p:sp>
      <p:sp>
        <p:nvSpPr>
          <p:cNvPr id="20" name="TextBox 19"/>
          <p:cNvSpPr txBox="1"/>
          <p:nvPr/>
        </p:nvSpPr>
        <p:spPr>
          <a:xfrm>
            <a:off x="1554480" y="4709160"/>
            <a:ext cx="6949440" cy="1463040"/>
          </a:xfrm>
          <a:prstGeom prst="rect">
            <a:avLst/>
          </a:prstGeom>
          <a:noFill/>
        </p:spPr>
        <p:txBody>
          <a:bodyPr wrap="square" anchor="t">
            <a:spAutoFit/>
          </a:bodyPr>
          <a:lstStyle/>
          <a:p>
            <a:pPr marL="228600" indent="-201168" algn="l">
              <a:spcAft>
                <a:spcPts val="500"/>
              </a:spcAft>
              <a:buClr>
                <a:srgbClr val="8E1B1B"/>
              </a:buClr>
              <a:buFont typeface="Arial"/>
              <a:buChar char="•"/>
            </a:pPr>
            <a:r>
              <a:rPr sz="1400" b="0" i="0">
                <a:solidFill>
                  <a:srgbClr val="262626"/>
                </a:solidFill>
                <a:latin typeface="Calibri"/>
              </a:rPr>
              <a:t>Traer el </a:t>
            </a:r>
            <a:r>
              <a:rPr sz="1400" b="1" i="0">
                <a:solidFill>
                  <a:srgbClr val="262626"/>
                </a:solidFill>
                <a:latin typeface="Calibri"/>
              </a:rPr>
              <a:t>ESP32 del proyecto</a:t>
            </a:r>
            <a:r>
              <a:rPr sz="1400" b="0" i="0">
                <a:solidFill>
                  <a:srgbClr val="262626"/>
                </a:solidFill>
                <a:latin typeface="Calibri"/>
              </a:rPr>
              <a:t> con su cable USB, un LED (o buzzer / servo).</a:t>
            </a:r>
          </a:p>
          <a:p>
            <a:pPr marL="228600" indent="-201168" algn="l">
              <a:spcAft>
                <a:spcPts val="500"/>
              </a:spcAft>
              <a:buClr>
                <a:srgbClr val="8E1B1B"/>
              </a:buClr>
              <a:buFont typeface="Arial"/>
              <a:buChar char="•"/>
            </a:pPr>
            <a:r>
              <a:rPr sz="1400" b="0" i="0">
                <a:solidFill>
                  <a:srgbClr val="262626"/>
                </a:solidFill>
                <a:latin typeface="Calibri"/>
              </a:rPr>
              <a:t>Arduino IDE con soporte para ESP32 instalado.</a:t>
            </a:r>
          </a:p>
          <a:p>
            <a:pPr marL="228600" indent="-201168" algn="l">
              <a:spcAft>
                <a:spcPts val="500"/>
              </a:spcAft>
              <a:buClr>
                <a:srgbClr val="8E1B1B"/>
              </a:buClr>
              <a:buFont typeface="Arial"/>
              <a:buChar char="•"/>
            </a:pPr>
            <a:r>
              <a:rPr sz="1400" b="0" i="0">
                <a:solidFill>
                  <a:srgbClr val="262626"/>
                </a:solidFill>
                <a:latin typeface="Calibri"/>
              </a:rPr>
              <a:t>Pensar: ¿qué objeto debería detectar su proyecto y qué debería pasar?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8E1B1B"/>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548640" y="2743200"/>
            <a:ext cx="822960" cy="768096"/>
          </a:xfrm>
          <a:prstGeom prst="rect">
            <a:avLst/>
          </a:prstGeom>
        </p:spPr>
      </p:pic>
      <p:sp>
        <p:nvSpPr>
          <p:cNvPr id="4" name="TextBox 3"/>
          <p:cNvSpPr txBox="1"/>
          <p:nvPr/>
        </p:nvSpPr>
        <p:spPr>
          <a:xfrm>
            <a:off x="548640" y="3611880"/>
            <a:ext cx="8046720" cy="411480"/>
          </a:xfrm>
          <a:prstGeom prst="rect">
            <a:avLst/>
          </a:prstGeom>
          <a:noFill/>
        </p:spPr>
        <p:txBody>
          <a:bodyPr wrap="square" lIns="0" tIns="0" rIns="0" bIns="0" anchor="t">
            <a:spAutoFit/>
          </a:bodyPr>
          <a:lstStyle/>
          <a:p>
            <a:pPr algn="l">
              <a:spcAft>
                <a:spcPts val="600"/>
              </a:spcAft>
            </a:pPr>
            <a:r>
              <a:rPr sz="1400" b="1" i="0">
                <a:solidFill>
                  <a:srgbClr val="F2D6D6"/>
                </a:solidFill>
                <a:latin typeface="Calibri"/>
              </a:rPr>
              <a:t>CLASE 3</a:t>
            </a:r>
          </a:p>
        </p:txBody>
      </p:sp>
      <p:sp>
        <p:nvSpPr>
          <p:cNvPr id="5" name="TextBox 4"/>
          <p:cNvSpPr txBox="1"/>
          <p:nvPr/>
        </p:nvSpPr>
        <p:spPr>
          <a:xfrm>
            <a:off x="548640" y="3977639"/>
            <a:ext cx="8046720" cy="914400"/>
          </a:xfrm>
          <a:prstGeom prst="rect">
            <a:avLst/>
          </a:prstGeom>
          <a:noFill/>
        </p:spPr>
        <p:txBody>
          <a:bodyPr wrap="square" lIns="0" tIns="0" rIns="0" bIns="0" anchor="t">
            <a:spAutoFit/>
          </a:bodyPr>
          <a:lstStyle/>
          <a:p>
            <a:pPr algn="l">
              <a:spcAft>
                <a:spcPts val="600"/>
              </a:spcAft>
            </a:pPr>
            <a:r>
              <a:rPr sz="3400" b="1" i="0">
                <a:solidFill>
                  <a:srgbClr val="FFFFFF"/>
                </a:solidFill>
                <a:latin typeface="Calibri"/>
              </a:rPr>
              <a:t>Integración: del modelo al mundo físico</a:t>
            </a:r>
          </a:p>
        </p:txBody>
      </p:sp>
      <p:sp>
        <p:nvSpPr>
          <p:cNvPr id="6" name="TextBox 5"/>
          <p:cNvSpPr txBox="1"/>
          <p:nvPr/>
        </p:nvSpPr>
        <p:spPr>
          <a:xfrm>
            <a:off x="548640" y="4892040"/>
            <a:ext cx="8046720" cy="731520"/>
          </a:xfrm>
          <a:prstGeom prst="rect">
            <a:avLst/>
          </a:prstGeom>
          <a:noFill/>
        </p:spPr>
        <p:txBody>
          <a:bodyPr wrap="square" lIns="0" tIns="0" rIns="0" bIns="0" anchor="t">
            <a:spAutoFit/>
          </a:bodyPr>
          <a:lstStyle/>
          <a:p>
            <a:pPr algn="l">
              <a:spcAft>
                <a:spcPts val="600"/>
              </a:spcAft>
            </a:pPr>
            <a:r>
              <a:rPr sz="1600" b="0" i="1">
                <a:solidFill>
                  <a:srgbClr val="F2D6D6"/>
                </a:solidFill>
                <a:latin typeface="Calibri"/>
              </a:rPr>
              <a:t>El computador ve, el ESP32 actúa · ESP32-CAM como cámara</a:t>
            </a:r>
          </a:p>
        </p:txBody>
      </p:sp>
      <p:sp>
        <p:nvSpPr>
          <p:cNvPr id="7" name="TextBox 6"/>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E8C9C9"/>
                </a:solidFill>
                <a:latin typeface="Calibri"/>
              </a:rPr>
              <a:t>Tecnologías Disruptivas  ·  Escuela de Informática  ·  Universidad Andrés Bello</a:t>
            </a:r>
          </a:p>
        </p:txBody>
      </p:sp>
      <p:sp>
        <p:nvSpPr>
          <p:cNvPr id="8" name="TextBox 7"/>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E8C9C9"/>
                </a:solidFill>
                <a:latin typeface="Calibri"/>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El computador ve, el ESP32 actúa</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42</a:t>
            </a:r>
          </a:p>
        </p:txBody>
      </p:sp>
      <p:sp>
        <p:nvSpPr>
          <p:cNvPr id="7" name="Rounded Rectangle 6"/>
          <p:cNvSpPr/>
          <p:nvPr/>
        </p:nvSpPr>
        <p:spPr>
          <a:xfrm>
            <a:off x="457200" y="1325880"/>
            <a:ext cx="1783080" cy="21945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982980" y="1463040"/>
            <a:ext cx="731520" cy="7315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amera_w.png"/>
          <p:cNvPicPr>
            <a:picLocks noChangeAspect="1"/>
          </p:cNvPicPr>
          <p:nvPr/>
        </p:nvPicPr>
        <p:blipFill>
          <a:blip r:embed="rId5"/>
          <a:stretch>
            <a:fillRect/>
          </a:stretch>
        </p:blipFill>
        <p:spPr>
          <a:xfrm>
            <a:off x="1143914" y="1623974"/>
            <a:ext cx="409651" cy="409651"/>
          </a:xfrm>
          <a:prstGeom prst="rect">
            <a:avLst/>
          </a:prstGeom>
        </p:spPr>
      </p:pic>
      <p:sp>
        <p:nvSpPr>
          <p:cNvPr id="10" name="TextBox 9"/>
          <p:cNvSpPr txBox="1"/>
          <p:nvPr/>
        </p:nvSpPr>
        <p:spPr>
          <a:xfrm>
            <a:off x="502920" y="2240280"/>
            <a:ext cx="1691639" cy="411480"/>
          </a:xfrm>
          <a:prstGeom prst="rect">
            <a:avLst/>
          </a:prstGeom>
          <a:noFill/>
        </p:spPr>
        <p:txBody>
          <a:bodyPr wrap="square" anchor="t">
            <a:spAutoFit/>
          </a:bodyPr>
          <a:lstStyle/>
          <a:p>
            <a:pPr algn="ctr">
              <a:spcAft>
                <a:spcPts val="600"/>
              </a:spcAft>
            </a:pPr>
            <a:r>
              <a:rPr sz="1500" b="1" i="0">
                <a:solidFill>
                  <a:srgbClr val="8E1B1B"/>
                </a:solidFill>
                <a:latin typeface="Calibri"/>
              </a:rPr>
              <a:t>Cámara</a:t>
            </a:r>
          </a:p>
        </p:txBody>
      </p:sp>
      <p:sp>
        <p:nvSpPr>
          <p:cNvPr id="11" name="TextBox 10"/>
          <p:cNvSpPr txBox="1"/>
          <p:nvPr/>
        </p:nvSpPr>
        <p:spPr>
          <a:xfrm>
            <a:off x="548640" y="2651760"/>
            <a:ext cx="1600200" cy="822960"/>
          </a:xfrm>
          <a:prstGeom prst="rect">
            <a:avLst/>
          </a:prstGeom>
          <a:noFill/>
        </p:spPr>
        <p:txBody>
          <a:bodyPr wrap="square" anchor="t">
            <a:spAutoFit/>
          </a:bodyPr>
          <a:lstStyle/>
          <a:p>
            <a:pPr algn="ctr">
              <a:spcAft>
                <a:spcPts val="600"/>
              </a:spcAft>
            </a:pPr>
            <a:r>
              <a:rPr sz="1200" b="0" i="0">
                <a:solidFill>
                  <a:srgbClr val="262626"/>
                </a:solidFill>
                <a:latin typeface="Calibri"/>
              </a:rPr>
              <a:t>Webcam, celular o ESP32-CAM</a:t>
            </a:r>
          </a:p>
        </p:txBody>
      </p:sp>
      <p:sp>
        <p:nvSpPr>
          <p:cNvPr id="12" name="Right Arrow 11"/>
          <p:cNvSpPr/>
          <p:nvPr/>
        </p:nvSpPr>
        <p:spPr>
          <a:xfrm>
            <a:off x="2295144" y="2286000"/>
            <a:ext cx="256032" cy="274320"/>
          </a:xfrm>
          <a:prstGeom prst="rightArrow">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606040" y="1325880"/>
            <a:ext cx="1783080" cy="219456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3131820" y="1463040"/>
            <a:ext cx="731520" cy="7315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aptop_w.png"/>
          <p:cNvPicPr>
            <a:picLocks noChangeAspect="1"/>
          </p:cNvPicPr>
          <p:nvPr/>
        </p:nvPicPr>
        <p:blipFill>
          <a:blip r:embed="rId6"/>
          <a:stretch>
            <a:fillRect/>
          </a:stretch>
        </p:blipFill>
        <p:spPr>
          <a:xfrm>
            <a:off x="3292754" y="1623974"/>
            <a:ext cx="409651" cy="409651"/>
          </a:xfrm>
          <a:prstGeom prst="rect">
            <a:avLst/>
          </a:prstGeom>
        </p:spPr>
      </p:pic>
      <p:sp>
        <p:nvSpPr>
          <p:cNvPr id="16" name="TextBox 15"/>
          <p:cNvSpPr txBox="1"/>
          <p:nvPr/>
        </p:nvSpPr>
        <p:spPr>
          <a:xfrm>
            <a:off x="2651760" y="2240280"/>
            <a:ext cx="1691639" cy="411480"/>
          </a:xfrm>
          <a:prstGeom prst="rect">
            <a:avLst/>
          </a:prstGeom>
          <a:noFill/>
        </p:spPr>
        <p:txBody>
          <a:bodyPr wrap="square" anchor="t">
            <a:spAutoFit/>
          </a:bodyPr>
          <a:lstStyle/>
          <a:p>
            <a:pPr algn="ctr">
              <a:spcAft>
                <a:spcPts val="600"/>
              </a:spcAft>
            </a:pPr>
            <a:r>
              <a:rPr sz="1500" b="1" i="0">
                <a:solidFill>
                  <a:srgbClr val="8E1B1B"/>
                </a:solidFill>
                <a:latin typeface="Calibri"/>
              </a:rPr>
              <a:t>Computador</a:t>
            </a:r>
          </a:p>
        </p:txBody>
      </p:sp>
      <p:sp>
        <p:nvSpPr>
          <p:cNvPr id="17" name="TextBox 16"/>
          <p:cNvSpPr txBox="1"/>
          <p:nvPr/>
        </p:nvSpPr>
        <p:spPr>
          <a:xfrm>
            <a:off x="2697480" y="2651760"/>
            <a:ext cx="1600200" cy="822960"/>
          </a:xfrm>
          <a:prstGeom prst="rect">
            <a:avLst/>
          </a:prstGeom>
          <a:noFill/>
        </p:spPr>
        <p:txBody>
          <a:bodyPr wrap="square" anchor="t">
            <a:spAutoFit/>
          </a:bodyPr>
          <a:lstStyle/>
          <a:p>
            <a:pPr algn="ctr">
              <a:spcAft>
                <a:spcPts val="600"/>
              </a:spcAft>
            </a:pPr>
            <a:r>
              <a:rPr sz="1200" b="0" i="0">
                <a:solidFill>
                  <a:srgbClr val="262626"/>
                </a:solidFill>
                <a:latin typeface="Calibri"/>
              </a:rPr>
              <a:t>Notebook o Raspberry Pi con Python 3 y YOLO26n</a:t>
            </a:r>
          </a:p>
        </p:txBody>
      </p:sp>
      <p:sp>
        <p:nvSpPr>
          <p:cNvPr id="18" name="Right Arrow 17"/>
          <p:cNvSpPr/>
          <p:nvPr/>
        </p:nvSpPr>
        <p:spPr>
          <a:xfrm>
            <a:off x="4443983" y="2286000"/>
            <a:ext cx="256032" cy="274320"/>
          </a:xfrm>
          <a:prstGeom prst="rightArrow">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54880" y="1325880"/>
            <a:ext cx="1783080" cy="21945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5280659" y="1463040"/>
            <a:ext cx="731520" cy="7315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wifi_w.png"/>
          <p:cNvPicPr>
            <a:picLocks noChangeAspect="1"/>
          </p:cNvPicPr>
          <p:nvPr/>
        </p:nvPicPr>
        <p:blipFill>
          <a:blip r:embed="rId7"/>
          <a:stretch>
            <a:fillRect/>
          </a:stretch>
        </p:blipFill>
        <p:spPr>
          <a:xfrm>
            <a:off x="5441594" y="1623974"/>
            <a:ext cx="409651" cy="409651"/>
          </a:xfrm>
          <a:prstGeom prst="rect">
            <a:avLst/>
          </a:prstGeom>
        </p:spPr>
      </p:pic>
      <p:sp>
        <p:nvSpPr>
          <p:cNvPr id="22" name="TextBox 21"/>
          <p:cNvSpPr txBox="1"/>
          <p:nvPr/>
        </p:nvSpPr>
        <p:spPr>
          <a:xfrm>
            <a:off x="4800600" y="2240280"/>
            <a:ext cx="1691639" cy="411480"/>
          </a:xfrm>
          <a:prstGeom prst="rect">
            <a:avLst/>
          </a:prstGeom>
          <a:noFill/>
        </p:spPr>
        <p:txBody>
          <a:bodyPr wrap="square" anchor="t">
            <a:spAutoFit/>
          </a:bodyPr>
          <a:lstStyle/>
          <a:p>
            <a:pPr algn="ctr">
              <a:spcAft>
                <a:spcPts val="600"/>
              </a:spcAft>
            </a:pPr>
            <a:r>
              <a:rPr sz="1500" b="1" i="0">
                <a:solidFill>
                  <a:srgbClr val="8E1B1B"/>
                </a:solidFill>
                <a:latin typeface="Calibri"/>
              </a:rPr>
              <a:t>WiFi · HTTP</a:t>
            </a:r>
          </a:p>
        </p:txBody>
      </p:sp>
      <p:sp>
        <p:nvSpPr>
          <p:cNvPr id="23" name="TextBox 22"/>
          <p:cNvSpPr txBox="1"/>
          <p:nvPr/>
        </p:nvSpPr>
        <p:spPr>
          <a:xfrm>
            <a:off x="4846320" y="2651760"/>
            <a:ext cx="1600200" cy="822960"/>
          </a:xfrm>
          <a:prstGeom prst="rect">
            <a:avLst/>
          </a:prstGeom>
          <a:noFill/>
        </p:spPr>
        <p:txBody>
          <a:bodyPr wrap="square" anchor="t">
            <a:spAutoFit/>
          </a:bodyPr>
          <a:lstStyle/>
          <a:p>
            <a:pPr algn="ctr">
              <a:spcAft>
                <a:spcPts val="600"/>
              </a:spcAft>
            </a:pPr>
            <a:r>
              <a:rPr sz="1200" b="0" i="0">
                <a:solidFill>
                  <a:srgbClr val="262626"/>
                </a:solidFill>
                <a:latin typeface="Calibri"/>
              </a:rPr>
              <a:t>GET /led?estado=on</a:t>
            </a:r>
          </a:p>
        </p:txBody>
      </p:sp>
      <p:sp>
        <p:nvSpPr>
          <p:cNvPr id="24" name="Right Arrow 23"/>
          <p:cNvSpPr/>
          <p:nvPr/>
        </p:nvSpPr>
        <p:spPr>
          <a:xfrm>
            <a:off x="6592824" y="2286000"/>
            <a:ext cx="256032" cy="274320"/>
          </a:xfrm>
          <a:prstGeom prst="rightArrow">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903720" y="1325880"/>
            <a:ext cx="1783080" cy="219456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7429500" y="1463040"/>
            <a:ext cx="731520" cy="73152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bulb_w.png"/>
          <p:cNvPicPr>
            <a:picLocks noChangeAspect="1"/>
          </p:cNvPicPr>
          <p:nvPr/>
        </p:nvPicPr>
        <p:blipFill>
          <a:blip r:embed="rId8"/>
          <a:stretch>
            <a:fillRect/>
          </a:stretch>
        </p:blipFill>
        <p:spPr>
          <a:xfrm>
            <a:off x="7590434" y="1623974"/>
            <a:ext cx="409651" cy="409651"/>
          </a:xfrm>
          <a:prstGeom prst="rect">
            <a:avLst/>
          </a:prstGeom>
        </p:spPr>
      </p:pic>
      <p:sp>
        <p:nvSpPr>
          <p:cNvPr id="28" name="TextBox 27"/>
          <p:cNvSpPr txBox="1"/>
          <p:nvPr/>
        </p:nvSpPr>
        <p:spPr>
          <a:xfrm>
            <a:off x="6949440" y="2240280"/>
            <a:ext cx="1691639" cy="411480"/>
          </a:xfrm>
          <a:prstGeom prst="rect">
            <a:avLst/>
          </a:prstGeom>
          <a:noFill/>
        </p:spPr>
        <p:txBody>
          <a:bodyPr wrap="square" anchor="t">
            <a:spAutoFit/>
          </a:bodyPr>
          <a:lstStyle/>
          <a:p>
            <a:pPr algn="ctr">
              <a:spcAft>
                <a:spcPts val="600"/>
              </a:spcAft>
            </a:pPr>
            <a:r>
              <a:rPr sz="1500" b="1" i="0">
                <a:solidFill>
                  <a:srgbClr val="8E1B1B"/>
                </a:solidFill>
                <a:latin typeface="Calibri"/>
              </a:rPr>
              <a:t>ESP32</a:t>
            </a:r>
          </a:p>
        </p:txBody>
      </p:sp>
      <p:sp>
        <p:nvSpPr>
          <p:cNvPr id="29" name="TextBox 28"/>
          <p:cNvSpPr txBox="1"/>
          <p:nvPr/>
        </p:nvSpPr>
        <p:spPr>
          <a:xfrm>
            <a:off x="6995160" y="2651760"/>
            <a:ext cx="1600200" cy="822960"/>
          </a:xfrm>
          <a:prstGeom prst="rect">
            <a:avLst/>
          </a:prstGeom>
          <a:noFill/>
        </p:spPr>
        <p:txBody>
          <a:bodyPr wrap="square" anchor="t">
            <a:spAutoFit/>
          </a:bodyPr>
          <a:lstStyle/>
          <a:p>
            <a:pPr algn="ctr">
              <a:spcAft>
                <a:spcPts val="600"/>
              </a:spcAft>
            </a:pPr>
            <a:r>
              <a:rPr sz="1200" b="0" i="0">
                <a:solidFill>
                  <a:srgbClr val="262626"/>
                </a:solidFill>
                <a:latin typeface="Calibri"/>
              </a:rPr>
              <a:t>LED, relé, servo o buzzer</a:t>
            </a:r>
          </a:p>
        </p:txBody>
      </p:sp>
      <p:sp>
        <p:nvSpPr>
          <p:cNvPr id="30" name="TextBox 29"/>
          <p:cNvSpPr txBox="1"/>
          <p:nvPr/>
        </p:nvSpPr>
        <p:spPr>
          <a:xfrm>
            <a:off x="457200" y="3794760"/>
            <a:ext cx="8229600" cy="411480"/>
          </a:xfrm>
          <a:prstGeom prst="rect">
            <a:avLst/>
          </a:prstGeom>
          <a:noFill/>
        </p:spPr>
        <p:txBody>
          <a:bodyPr wrap="square" anchor="t">
            <a:spAutoFit/>
          </a:bodyPr>
          <a:lstStyle/>
          <a:p>
            <a:pPr algn="l">
              <a:spcAft>
                <a:spcPts val="600"/>
              </a:spcAft>
            </a:pPr>
            <a:r>
              <a:rPr sz="1500" b="1" i="0">
                <a:solidFill>
                  <a:srgbClr val="8E1B1B"/>
                </a:solidFill>
                <a:latin typeface="Calibri"/>
              </a:rPr>
              <a:t>Lo que hace el programa en cada cuadro de video:</a:t>
            </a:r>
          </a:p>
        </p:txBody>
      </p:sp>
      <p:sp>
        <p:nvSpPr>
          <p:cNvPr id="31" name="Rounded Rectangle 30"/>
          <p:cNvSpPr/>
          <p:nvPr/>
        </p:nvSpPr>
        <p:spPr>
          <a:xfrm>
            <a:off x="457200" y="4297680"/>
            <a:ext cx="1828800" cy="868680"/>
          </a:xfrm>
          <a:prstGeom prst="roundRect">
            <a:avLst>
              <a:gd name="adj" fmla="val 6000"/>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57200" y="4297680"/>
            <a:ext cx="1828800" cy="868680"/>
          </a:xfrm>
          <a:prstGeom prst="rect">
            <a:avLst/>
          </a:prstGeom>
          <a:noFill/>
        </p:spPr>
        <p:txBody>
          <a:bodyPr wrap="square" anchor="ctr">
            <a:spAutoFit/>
          </a:bodyPr>
          <a:lstStyle/>
          <a:p>
            <a:pPr algn="ctr">
              <a:spcAft>
                <a:spcPts val="600"/>
              </a:spcAft>
            </a:pPr>
            <a:r>
              <a:rPr sz="1300" b="1" i="0">
                <a:solidFill>
                  <a:srgbClr val="FFFFFF"/>
                </a:solidFill>
                <a:latin typeface="Calibri"/>
              </a:rPr>
              <a:t>Capturar imagen</a:t>
            </a:r>
          </a:p>
        </p:txBody>
      </p:sp>
      <p:sp>
        <p:nvSpPr>
          <p:cNvPr id="33" name="Right Arrow 32"/>
          <p:cNvSpPr/>
          <p:nvPr/>
        </p:nvSpPr>
        <p:spPr>
          <a:xfrm>
            <a:off x="2304288" y="4599432"/>
            <a:ext cx="237744" cy="256032"/>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2560320" y="4297680"/>
            <a:ext cx="1828800" cy="868680"/>
          </a:xfrm>
          <a:prstGeom prst="roundRect">
            <a:avLst>
              <a:gd name="adj" fmla="val 6000"/>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2560320" y="4297680"/>
            <a:ext cx="1828800" cy="868680"/>
          </a:xfrm>
          <a:prstGeom prst="rect">
            <a:avLst/>
          </a:prstGeom>
          <a:noFill/>
        </p:spPr>
        <p:txBody>
          <a:bodyPr wrap="square" anchor="ctr">
            <a:spAutoFit/>
          </a:bodyPr>
          <a:lstStyle/>
          <a:p>
            <a:pPr algn="ctr">
              <a:spcAft>
                <a:spcPts val="600"/>
              </a:spcAft>
            </a:pPr>
            <a:r>
              <a:rPr sz="1300" b="1" i="0">
                <a:solidFill>
                  <a:srgbClr val="FFFFFF"/>
                </a:solidFill>
                <a:latin typeface="Calibri"/>
              </a:rPr>
              <a:t>Detectar con YOLO</a:t>
            </a:r>
          </a:p>
        </p:txBody>
      </p:sp>
      <p:sp>
        <p:nvSpPr>
          <p:cNvPr id="36" name="Right Arrow 35"/>
          <p:cNvSpPr/>
          <p:nvPr/>
        </p:nvSpPr>
        <p:spPr>
          <a:xfrm>
            <a:off x="4407408" y="4599432"/>
            <a:ext cx="237744" cy="256032"/>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663440" y="4297680"/>
            <a:ext cx="1828800" cy="8686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4663440" y="4297680"/>
            <a:ext cx="1828800" cy="868680"/>
          </a:xfrm>
          <a:prstGeom prst="rect">
            <a:avLst/>
          </a:prstGeom>
          <a:noFill/>
        </p:spPr>
        <p:txBody>
          <a:bodyPr wrap="square" anchor="ctr">
            <a:spAutoFit/>
          </a:bodyPr>
          <a:lstStyle/>
          <a:p>
            <a:pPr algn="ctr">
              <a:spcAft>
                <a:spcPts val="600"/>
              </a:spcAft>
            </a:pPr>
            <a:r>
              <a:rPr sz="1300" b="1" i="0">
                <a:solidFill>
                  <a:srgbClr val="FFFFFF"/>
                </a:solidFill>
                <a:latin typeface="Calibri"/>
              </a:rPr>
              <a:t>¿Hay una persona?</a:t>
            </a:r>
          </a:p>
        </p:txBody>
      </p:sp>
      <p:sp>
        <p:nvSpPr>
          <p:cNvPr id="39" name="Right Arrow 38"/>
          <p:cNvSpPr/>
          <p:nvPr/>
        </p:nvSpPr>
        <p:spPr>
          <a:xfrm>
            <a:off x="6510527" y="4599432"/>
            <a:ext cx="237744" cy="256032"/>
          </a:xfrm>
          <a:prstGeom prst="rightArrow">
            <a:avLst/>
          </a:prstGeom>
          <a:solidFill>
            <a:srgbClr val="C9A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766559" y="4297680"/>
            <a:ext cx="1828800" cy="868680"/>
          </a:xfrm>
          <a:prstGeom prst="roundRect">
            <a:avLst>
              <a:gd name="adj" fmla="val 6000"/>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766559" y="4297680"/>
            <a:ext cx="1828800" cy="868680"/>
          </a:xfrm>
          <a:prstGeom prst="rect">
            <a:avLst/>
          </a:prstGeom>
          <a:noFill/>
        </p:spPr>
        <p:txBody>
          <a:bodyPr wrap="square" anchor="ctr">
            <a:spAutoFit/>
          </a:bodyPr>
          <a:lstStyle/>
          <a:p>
            <a:pPr algn="ctr">
              <a:spcAft>
                <a:spcPts val="600"/>
              </a:spcAft>
            </a:pPr>
            <a:r>
              <a:rPr sz="1300" b="1" i="0">
                <a:solidFill>
                  <a:srgbClr val="FFFFFF"/>
                </a:solidFill>
                <a:latin typeface="Calibri"/>
              </a:rPr>
              <a:t>Avisar al ESP32 solo si cambió</a:t>
            </a:r>
          </a:p>
        </p:txBody>
      </p:sp>
      <p:sp>
        <p:nvSpPr>
          <p:cNvPr id="42" name="Rounded Rectangle 41"/>
          <p:cNvSpPr/>
          <p:nvPr/>
        </p:nvSpPr>
        <p:spPr>
          <a:xfrm>
            <a:off x="457200" y="5440680"/>
            <a:ext cx="8229600" cy="7772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85800" y="5440680"/>
            <a:ext cx="7772400" cy="777240"/>
          </a:xfrm>
          <a:prstGeom prst="rect">
            <a:avLst/>
          </a:prstGeom>
          <a:noFill/>
        </p:spPr>
        <p:txBody>
          <a:bodyPr wrap="square" anchor="ctr">
            <a:spAutoFit/>
          </a:bodyPr>
          <a:lstStyle/>
          <a:p>
            <a:pPr algn="l">
              <a:spcAft>
                <a:spcPts val="600"/>
              </a:spcAft>
            </a:pPr>
            <a:r>
              <a:rPr sz="1500" b="0" i="0">
                <a:solidFill>
                  <a:srgbClr val="262626"/>
                </a:solidFill>
                <a:latin typeface="Calibri"/>
              </a:rPr>
              <a:t>El LED es solo el comienzo: puede ser una barrera (servo), una alarma (buzzer) o un registro en una base de datos.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Código · Detectar y avisar al ESP32</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43</a:t>
            </a:r>
          </a:p>
        </p:txBody>
      </p:sp>
      <p:sp>
        <p:nvSpPr>
          <p:cNvPr id="7" name="Rounded Rectangle 6"/>
          <p:cNvSpPr/>
          <p:nvPr/>
        </p:nvSpPr>
        <p:spPr>
          <a:xfrm>
            <a:off x="457200" y="1097280"/>
            <a:ext cx="8229600" cy="393192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4360" y="1152144"/>
            <a:ext cx="7955279"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07_yolo_esp32.py (extracto)</a:t>
            </a:r>
          </a:p>
        </p:txBody>
      </p:sp>
      <p:sp>
        <p:nvSpPr>
          <p:cNvPr id="9" name="Codigo"/>
          <p:cNvSpPr txBox="1"/>
          <p:nvPr/>
        </p:nvSpPr>
        <p:spPr>
          <a:xfrm>
            <a:off x="594360" y="1444752"/>
            <a:ext cx="7955279" cy="3547872"/>
          </a:xfrm>
          <a:prstGeom prst="rect">
            <a:avLst/>
          </a:prstGeom>
          <a:noFill/>
        </p:spPr>
        <p:txBody>
          <a:bodyPr wrap="square" lIns="0" tIns="0" rIns="0" bIns="0">
            <a:spAutoFit/>
          </a:bodyPr>
          <a:lstStyle/>
          <a:p>
            <a:pPr>
              <a:spcAft>
                <a:spcPts val="0"/>
              </a:spcAft>
            </a:pPr>
            <a:r>
              <a:rPr sz="1100">
                <a:solidFill>
                  <a:srgbClr val="E6E6E6"/>
                </a:solidFill>
                <a:latin typeface="Courier New"/>
              </a:rPr>
              <a:t>IP_ESP32 = "192.168.1.50"</a:t>
            </a:r>
            <a:r>
              <a:rPr sz="1100">
                <a:solidFill>
                  <a:srgbClr val="8FBF8F"/>
                </a:solidFill>
                <a:latin typeface="Courier New"/>
              </a:rPr>
              <a:t>         # &lt;-- la IP que muestra el ESP32 en el Monitor Serie</a:t>
            </a:r>
          </a:p>
          <a:p>
            <a:pPr>
              <a:spcAft>
                <a:spcPts val="0"/>
              </a:spcAft>
            </a:pPr>
            <a:r>
              <a:rPr sz="1100">
                <a:solidFill>
                  <a:srgbClr val="E6E6E6"/>
                </a:solidFill>
                <a:latin typeface="Courier New"/>
              </a:rPr>
              <a:t>CLASE_OBJETIVO = "person"</a:t>
            </a:r>
          </a:p>
          <a:p>
            <a:pPr>
              <a:spcAft>
                <a:spcPts val="0"/>
              </a:spcAft>
            </a:pPr>
            <a:r>
              <a:rPr sz="1100">
                <a:solidFill>
                  <a:srgbClr val="E6E6E6"/>
                </a:solidFill>
                <a:latin typeface="Courier New"/>
              </a:rPr>
              <a:t>estado_anterior = None</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while True:</a:t>
            </a:r>
          </a:p>
          <a:p>
            <a:pPr>
              <a:spcAft>
                <a:spcPts val="0"/>
              </a:spcAft>
            </a:pPr>
            <a:r>
              <a:rPr sz="1100">
                <a:solidFill>
                  <a:srgbClr val="E6E6E6"/>
                </a:solidFill>
                <a:latin typeface="Courier New"/>
              </a:rPr>
              <a:t>    frame = leer()</a:t>
            </a:r>
          </a:p>
          <a:p>
            <a:pPr>
              <a:spcAft>
                <a:spcPts val="0"/>
              </a:spcAft>
            </a:pPr>
            <a:r>
              <a:rPr sz="1100">
                <a:solidFill>
                  <a:srgbClr val="E6E6E6"/>
                </a:solidFill>
                <a:latin typeface="Courier New"/>
              </a:rPr>
              <a:t>    r = modelo(frame, imgsz=320, conf=0.5, verbose=False)[0]</a:t>
            </a:r>
          </a:p>
          <a:p>
            <a:pPr>
              <a:spcAft>
                <a:spcPts val="0"/>
              </a:spcAft>
            </a:pPr>
            <a:r>
              <a:rPr sz="1100">
                <a:solidFill>
                  <a:srgbClr val="E6E6E6"/>
                </a:solidFill>
                <a:latin typeface="Courier New"/>
              </a:rPr>
              <a:t>    detectado = any(modelo.names[int(c.cls)] == CLASE_OBJETIVO for c in r.boxes)</a:t>
            </a:r>
          </a:p>
          <a:p>
            <a:pPr>
              <a:spcAft>
                <a:spcPts val="0"/>
              </a:spcAft>
            </a:pPr>
            <a:r>
              <a:rPr sz="1100">
                <a:solidFill>
                  <a:srgbClr val="E6E6E6"/>
                </a:solidFill>
                <a:latin typeface="Courier New"/>
              </a:rPr>
              <a:t> </a:t>
            </a:r>
          </a:p>
          <a:p>
            <a:pPr>
              <a:spcAft>
                <a:spcPts val="0"/>
              </a:spcAft>
            </a:pPr>
            <a:r>
              <a:rPr sz="1100">
                <a:solidFill>
                  <a:srgbClr val="E6E6E6"/>
                </a:solidFill>
                <a:latin typeface="Courier New"/>
              </a:rPr>
              <a:t>    if detectado != estado_anterior:</a:t>
            </a:r>
            <a:r>
              <a:rPr sz="1100">
                <a:solidFill>
                  <a:srgbClr val="8FBF8F"/>
                </a:solidFill>
                <a:latin typeface="Courier New"/>
              </a:rPr>
              <a:t>                     # avisar solo si cambia</a:t>
            </a:r>
          </a:p>
          <a:p>
            <a:pPr>
              <a:spcAft>
                <a:spcPts val="0"/>
              </a:spcAft>
            </a:pPr>
            <a:r>
              <a:rPr sz="1100">
                <a:solidFill>
                  <a:srgbClr val="E6E6E6"/>
                </a:solidFill>
                <a:latin typeface="Courier New"/>
              </a:rPr>
              <a:t>        estado = "on" if detectado else "off"</a:t>
            </a:r>
          </a:p>
          <a:p>
            <a:pPr>
              <a:spcAft>
                <a:spcPts val="0"/>
              </a:spcAft>
            </a:pPr>
            <a:r>
              <a:rPr sz="1100">
                <a:solidFill>
                  <a:srgbClr val="E6E6E6"/>
                </a:solidFill>
                <a:latin typeface="Courier New"/>
              </a:rPr>
              <a:t>        try:</a:t>
            </a:r>
          </a:p>
          <a:p>
            <a:pPr>
              <a:spcAft>
                <a:spcPts val="0"/>
              </a:spcAft>
            </a:pPr>
            <a:r>
              <a:rPr sz="1100">
                <a:solidFill>
                  <a:srgbClr val="E6E6E6"/>
                </a:solidFill>
                <a:latin typeface="Courier New"/>
              </a:rPr>
              <a:t>            requests.get(f"http://{IP_ESP32}/led", params={"estado": estado}, timeout=1)</a:t>
            </a:r>
          </a:p>
          <a:p>
            <a:pPr>
              <a:spcAft>
                <a:spcPts val="0"/>
              </a:spcAft>
            </a:pPr>
            <a:r>
              <a:rPr sz="1100">
                <a:solidFill>
                  <a:srgbClr val="E6E6E6"/>
                </a:solidFill>
                <a:latin typeface="Courier New"/>
              </a:rPr>
              <a:t>            print(CLASE_OBJETIVO, "-&gt;", estado)</a:t>
            </a:r>
          </a:p>
          <a:p>
            <a:pPr>
              <a:spcAft>
                <a:spcPts val="0"/>
              </a:spcAft>
            </a:pPr>
            <a:r>
              <a:rPr sz="1100">
                <a:solidFill>
                  <a:srgbClr val="E6E6E6"/>
                </a:solidFill>
                <a:latin typeface="Courier New"/>
              </a:rPr>
              <a:t>        except requests.RequestException as e:</a:t>
            </a:r>
          </a:p>
          <a:p>
            <a:pPr>
              <a:spcAft>
                <a:spcPts val="0"/>
              </a:spcAft>
            </a:pPr>
            <a:r>
              <a:rPr sz="1100">
                <a:solidFill>
                  <a:srgbClr val="E6E6E6"/>
                </a:solidFill>
                <a:latin typeface="Courier New"/>
              </a:rPr>
              <a:t>            print("No se pudo contactar al ESP32:", e)</a:t>
            </a:r>
          </a:p>
          <a:p>
            <a:pPr>
              <a:spcAft>
                <a:spcPts val="0"/>
              </a:spcAft>
            </a:pPr>
            <a:r>
              <a:rPr sz="1100">
                <a:solidFill>
                  <a:srgbClr val="E6E6E6"/>
                </a:solidFill>
                <a:latin typeface="Courier New"/>
              </a:rPr>
              <a:t>        estado_anterior = detectado</a:t>
            </a:r>
          </a:p>
        </p:txBody>
      </p:sp>
      <p:sp>
        <p:nvSpPr>
          <p:cNvPr id="10" name="Rounded Rectangle 9"/>
          <p:cNvSpPr/>
          <p:nvPr/>
        </p:nvSpPr>
        <p:spPr>
          <a:xfrm>
            <a:off x="457200" y="5257800"/>
            <a:ext cx="8229600" cy="96012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85800" y="5257800"/>
            <a:ext cx="7772400" cy="960120"/>
          </a:xfrm>
          <a:prstGeom prst="rect">
            <a:avLst/>
          </a:prstGeom>
          <a:noFill/>
        </p:spPr>
        <p:txBody>
          <a:bodyPr wrap="square" anchor="ctr">
            <a:spAutoFit/>
          </a:bodyPr>
          <a:lstStyle/>
          <a:p>
            <a:pPr algn="l">
              <a:spcAft>
                <a:spcPts val="600"/>
              </a:spcAft>
            </a:pPr>
            <a:r>
              <a:rPr sz="1500" b="1" i="0">
                <a:solidFill>
                  <a:srgbClr val="262626"/>
                </a:solidFill>
                <a:latin typeface="Calibri"/>
              </a:rPr>
              <a:t>¿Por qué «solo si cambia»?</a:t>
            </a:r>
            <a:r>
              <a:rPr sz="1500" b="0" i="0">
                <a:solidFill>
                  <a:srgbClr val="262626"/>
                </a:solidFill>
                <a:latin typeface="Calibri"/>
              </a:rPr>
              <a:t> Para no enviar 10 peticiones por segundo al ESP32. Es el mismo criterio de eficiencia que usamos con sensores.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Código · El ESP32 recibe la orden</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44</a:t>
            </a:r>
          </a:p>
        </p:txBody>
      </p:sp>
      <p:sp>
        <p:nvSpPr>
          <p:cNvPr id="7" name="Rounded Rectangle 6"/>
          <p:cNvSpPr/>
          <p:nvPr/>
        </p:nvSpPr>
        <p:spPr>
          <a:xfrm>
            <a:off x="457200" y="1097280"/>
            <a:ext cx="5120640" cy="521208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4360" y="1152144"/>
            <a:ext cx="4846320"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esp32_actuador.ino (Arduino IDE)</a:t>
            </a:r>
          </a:p>
        </p:txBody>
      </p:sp>
      <p:sp>
        <p:nvSpPr>
          <p:cNvPr id="9" name="Codigo"/>
          <p:cNvSpPr txBox="1"/>
          <p:nvPr/>
        </p:nvSpPr>
        <p:spPr>
          <a:xfrm>
            <a:off x="594360" y="1444752"/>
            <a:ext cx="4846320" cy="4828032"/>
          </a:xfrm>
          <a:prstGeom prst="rect">
            <a:avLst/>
          </a:prstGeom>
          <a:noFill/>
        </p:spPr>
        <p:txBody>
          <a:bodyPr wrap="square" lIns="0" tIns="0" rIns="0" bIns="0">
            <a:spAutoFit/>
          </a:bodyPr>
          <a:lstStyle/>
          <a:p>
            <a:pPr>
              <a:spcAft>
                <a:spcPts val="0"/>
              </a:spcAft>
            </a:pPr>
            <a:r>
              <a:rPr sz="1000">
                <a:solidFill>
                  <a:srgbClr val="8FBF8F"/>
                </a:solidFill>
                <a:latin typeface="Courier New"/>
              </a:rPr>
              <a:t>#include &lt;WiFi.h&gt;</a:t>
            </a:r>
          </a:p>
          <a:p>
            <a:pPr>
              <a:spcAft>
                <a:spcPts val="0"/>
              </a:spcAft>
            </a:pPr>
            <a:r>
              <a:rPr sz="1000">
                <a:solidFill>
                  <a:srgbClr val="8FBF8F"/>
                </a:solidFill>
                <a:latin typeface="Courier New"/>
              </a:rPr>
              <a:t>#include &lt;WebServer.h&gt;</a:t>
            </a:r>
          </a:p>
          <a:p>
            <a:pPr>
              <a:spcAft>
                <a:spcPts val="0"/>
              </a:spcAft>
            </a:pPr>
            <a:r>
              <a:rPr sz="1000">
                <a:solidFill>
                  <a:srgbClr val="E6E6E6"/>
                </a:solidFill>
                <a:latin typeface="Courier New"/>
              </a:rPr>
              <a:t> </a:t>
            </a:r>
          </a:p>
          <a:p>
            <a:pPr>
              <a:spcAft>
                <a:spcPts val="0"/>
              </a:spcAft>
            </a:pPr>
            <a:r>
              <a:rPr sz="1000">
                <a:solidFill>
                  <a:srgbClr val="E6E6E6"/>
                </a:solidFill>
                <a:latin typeface="Courier New"/>
              </a:rPr>
              <a:t>const char* SSID = "NOMBRE_RED";</a:t>
            </a:r>
          </a:p>
          <a:p>
            <a:pPr>
              <a:spcAft>
                <a:spcPts val="0"/>
              </a:spcAft>
            </a:pPr>
            <a:r>
              <a:rPr sz="1000">
                <a:solidFill>
                  <a:srgbClr val="E6E6E6"/>
                </a:solidFill>
                <a:latin typeface="Courier New"/>
              </a:rPr>
              <a:t>const char* PASS = "CLAVE_RED";</a:t>
            </a:r>
          </a:p>
          <a:p>
            <a:pPr>
              <a:spcAft>
                <a:spcPts val="0"/>
              </a:spcAft>
            </a:pPr>
            <a:r>
              <a:rPr sz="1000">
                <a:solidFill>
                  <a:srgbClr val="E6E6E6"/>
                </a:solidFill>
                <a:latin typeface="Courier New"/>
              </a:rPr>
              <a:t>const int PIN_LED = 2;</a:t>
            </a:r>
          </a:p>
          <a:p>
            <a:pPr>
              <a:spcAft>
                <a:spcPts val="0"/>
              </a:spcAft>
            </a:pPr>
            <a:r>
              <a:rPr sz="1000">
                <a:solidFill>
                  <a:srgbClr val="E6E6E6"/>
                </a:solidFill>
                <a:latin typeface="Courier New"/>
              </a:rPr>
              <a:t>WebServer servidor(80);</a:t>
            </a:r>
          </a:p>
          <a:p>
            <a:pPr>
              <a:spcAft>
                <a:spcPts val="0"/>
              </a:spcAft>
            </a:pPr>
            <a:r>
              <a:rPr sz="1000">
                <a:solidFill>
                  <a:srgbClr val="E6E6E6"/>
                </a:solidFill>
                <a:latin typeface="Courier New"/>
              </a:rPr>
              <a:t> </a:t>
            </a:r>
          </a:p>
          <a:p>
            <a:pPr>
              <a:spcAft>
                <a:spcPts val="0"/>
              </a:spcAft>
            </a:pPr>
            <a:r>
              <a:rPr sz="1000">
                <a:solidFill>
                  <a:srgbClr val="E6E6E6"/>
                </a:solidFill>
                <a:latin typeface="Courier New"/>
              </a:rPr>
              <a:t>void manejarLed() {</a:t>
            </a:r>
          </a:p>
          <a:p>
            <a:pPr>
              <a:spcAft>
                <a:spcPts val="0"/>
              </a:spcAft>
            </a:pPr>
            <a:r>
              <a:rPr sz="1000">
                <a:solidFill>
                  <a:srgbClr val="E6E6E6"/>
                </a:solidFill>
                <a:latin typeface="Courier New"/>
              </a:rPr>
              <a:t>  String estado = servidor.arg("estado");</a:t>
            </a:r>
          </a:p>
          <a:p>
            <a:pPr>
              <a:spcAft>
                <a:spcPts val="0"/>
              </a:spcAft>
            </a:pPr>
            <a:r>
              <a:rPr sz="1000">
                <a:solidFill>
                  <a:srgbClr val="E6E6E6"/>
                </a:solidFill>
                <a:latin typeface="Courier New"/>
              </a:rPr>
              <a:t>  digitalWrite(PIN_LED, estado == "on" ? HIGH : LOW);</a:t>
            </a:r>
          </a:p>
          <a:p>
            <a:pPr>
              <a:spcAft>
                <a:spcPts val="0"/>
              </a:spcAft>
            </a:pPr>
            <a:r>
              <a:rPr sz="1000">
                <a:solidFill>
                  <a:srgbClr val="E6E6E6"/>
                </a:solidFill>
                <a:latin typeface="Courier New"/>
              </a:rPr>
              <a:t>  servidor.send(200, "text/plain", "LED " + estado);</a:t>
            </a:r>
          </a:p>
          <a:p>
            <a:pPr>
              <a:spcAft>
                <a:spcPts val="0"/>
              </a:spcAft>
            </a:pPr>
            <a:r>
              <a:rPr sz="1000">
                <a:solidFill>
                  <a:srgbClr val="E6E6E6"/>
                </a:solidFill>
                <a:latin typeface="Courier New"/>
              </a:rPr>
              <a:t>}</a:t>
            </a:r>
          </a:p>
          <a:p>
            <a:pPr>
              <a:spcAft>
                <a:spcPts val="0"/>
              </a:spcAft>
            </a:pPr>
            <a:r>
              <a:rPr sz="1000">
                <a:solidFill>
                  <a:srgbClr val="E6E6E6"/>
                </a:solidFill>
                <a:latin typeface="Courier New"/>
              </a:rPr>
              <a:t> </a:t>
            </a:r>
          </a:p>
          <a:p>
            <a:pPr>
              <a:spcAft>
                <a:spcPts val="0"/>
              </a:spcAft>
            </a:pPr>
            <a:r>
              <a:rPr sz="1000">
                <a:solidFill>
                  <a:srgbClr val="E6E6E6"/>
                </a:solidFill>
                <a:latin typeface="Courier New"/>
              </a:rPr>
              <a:t>void setup() {</a:t>
            </a:r>
          </a:p>
          <a:p>
            <a:pPr>
              <a:spcAft>
                <a:spcPts val="0"/>
              </a:spcAft>
            </a:pPr>
            <a:r>
              <a:rPr sz="1000">
                <a:solidFill>
                  <a:srgbClr val="E6E6E6"/>
                </a:solidFill>
                <a:latin typeface="Courier New"/>
              </a:rPr>
              <a:t>  Serial.begin(115200);</a:t>
            </a:r>
          </a:p>
          <a:p>
            <a:pPr>
              <a:spcAft>
                <a:spcPts val="0"/>
              </a:spcAft>
            </a:pPr>
            <a:r>
              <a:rPr sz="1000">
                <a:solidFill>
                  <a:srgbClr val="E6E6E6"/>
                </a:solidFill>
                <a:latin typeface="Courier New"/>
              </a:rPr>
              <a:t>  pinMode(PIN_LED, OUTPUT);</a:t>
            </a:r>
          </a:p>
          <a:p>
            <a:pPr>
              <a:spcAft>
                <a:spcPts val="0"/>
              </a:spcAft>
            </a:pPr>
            <a:r>
              <a:rPr sz="1000">
                <a:solidFill>
                  <a:srgbClr val="E6E6E6"/>
                </a:solidFill>
                <a:latin typeface="Courier New"/>
              </a:rPr>
              <a:t>  WiFi.begin(SSID, PASS);</a:t>
            </a:r>
          </a:p>
          <a:p>
            <a:pPr>
              <a:spcAft>
                <a:spcPts val="0"/>
              </a:spcAft>
            </a:pPr>
            <a:r>
              <a:rPr sz="1000">
                <a:solidFill>
                  <a:srgbClr val="E6E6E6"/>
                </a:solidFill>
                <a:latin typeface="Courier New"/>
              </a:rPr>
              <a:t>  while (WiFi.status() != WL_CONNECTED) delay(500);</a:t>
            </a:r>
          </a:p>
          <a:p>
            <a:pPr>
              <a:spcAft>
                <a:spcPts val="0"/>
              </a:spcAft>
            </a:pPr>
            <a:r>
              <a:rPr sz="1000">
                <a:solidFill>
                  <a:srgbClr val="E6E6E6"/>
                </a:solidFill>
                <a:latin typeface="Courier New"/>
              </a:rPr>
              <a:t>  Serial.println(WiFi.localIP());   // copiar en Python</a:t>
            </a:r>
          </a:p>
          <a:p>
            <a:pPr>
              <a:spcAft>
                <a:spcPts val="0"/>
              </a:spcAft>
            </a:pPr>
            <a:r>
              <a:rPr sz="1000">
                <a:solidFill>
                  <a:srgbClr val="E6E6E6"/>
                </a:solidFill>
                <a:latin typeface="Courier New"/>
              </a:rPr>
              <a:t>  servidor.on("/led", manejarLed);</a:t>
            </a:r>
          </a:p>
          <a:p>
            <a:pPr>
              <a:spcAft>
                <a:spcPts val="0"/>
              </a:spcAft>
            </a:pPr>
            <a:r>
              <a:rPr sz="1000">
                <a:solidFill>
                  <a:srgbClr val="E6E6E6"/>
                </a:solidFill>
                <a:latin typeface="Courier New"/>
              </a:rPr>
              <a:t>  servidor.begin();</a:t>
            </a:r>
          </a:p>
          <a:p>
            <a:pPr>
              <a:spcAft>
                <a:spcPts val="0"/>
              </a:spcAft>
            </a:pPr>
            <a:r>
              <a:rPr sz="1000">
                <a:solidFill>
                  <a:srgbClr val="E6E6E6"/>
                </a:solidFill>
                <a:latin typeface="Courier New"/>
              </a:rPr>
              <a:t>}</a:t>
            </a:r>
          </a:p>
          <a:p>
            <a:pPr>
              <a:spcAft>
                <a:spcPts val="0"/>
              </a:spcAft>
            </a:pPr>
            <a:r>
              <a:rPr sz="1000">
                <a:solidFill>
                  <a:srgbClr val="E6E6E6"/>
                </a:solidFill>
                <a:latin typeface="Courier New"/>
              </a:rPr>
              <a:t> </a:t>
            </a:r>
          </a:p>
          <a:p>
            <a:pPr>
              <a:spcAft>
                <a:spcPts val="0"/>
              </a:spcAft>
            </a:pPr>
            <a:r>
              <a:rPr sz="1000">
                <a:solidFill>
                  <a:srgbClr val="E6E6E6"/>
                </a:solidFill>
                <a:latin typeface="Courier New"/>
              </a:rPr>
              <a:t>void loop() { servidor.handleClient(); }</a:t>
            </a:r>
          </a:p>
        </p:txBody>
      </p:sp>
      <p:sp>
        <p:nvSpPr>
          <p:cNvPr id="10" name="Oval 9"/>
          <p:cNvSpPr/>
          <p:nvPr/>
        </p:nvSpPr>
        <p:spPr>
          <a:xfrm>
            <a:off x="5806440" y="1143000"/>
            <a:ext cx="384048" cy="384048"/>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806440" y="1143000"/>
            <a:ext cx="384048" cy="384048"/>
          </a:xfrm>
          <a:prstGeom prst="rect">
            <a:avLst/>
          </a:prstGeom>
          <a:noFill/>
        </p:spPr>
        <p:txBody>
          <a:bodyPr wrap="square" lIns="0" tIns="0" rIns="0" bIns="0" anchor="ctr">
            <a:spAutoFit/>
          </a:bodyPr>
          <a:lstStyle/>
          <a:p>
            <a:pPr algn="ctr">
              <a:spcAft>
                <a:spcPts val="600"/>
              </a:spcAft>
            </a:pPr>
            <a:r>
              <a:rPr sz="1300" b="1" i="0">
                <a:solidFill>
                  <a:srgbClr val="FFFFFF"/>
                </a:solidFill>
                <a:latin typeface="Calibri"/>
              </a:rPr>
              <a:t>1</a:t>
            </a:r>
          </a:p>
        </p:txBody>
      </p:sp>
      <p:sp>
        <p:nvSpPr>
          <p:cNvPr id="12" name="TextBox 11"/>
          <p:cNvSpPr txBox="1"/>
          <p:nvPr/>
        </p:nvSpPr>
        <p:spPr>
          <a:xfrm>
            <a:off x="6309360" y="1078992"/>
            <a:ext cx="2377440" cy="868680"/>
          </a:xfrm>
          <a:prstGeom prst="rect">
            <a:avLst/>
          </a:prstGeom>
          <a:noFill/>
        </p:spPr>
        <p:txBody>
          <a:bodyPr wrap="square" anchor="t">
            <a:spAutoFit/>
          </a:bodyPr>
          <a:lstStyle/>
          <a:p>
            <a:pPr algn="l">
              <a:spcAft>
                <a:spcPts val="600"/>
              </a:spcAft>
            </a:pPr>
            <a:r>
              <a:rPr sz="1300" b="0" i="0">
                <a:solidFill>
                  <a:srgbClr val="262626"/>
                </a:solidFill>
                <a:latin typeface="Calibri"/>
              </a:rPr>
              <a:t>Cargar el sketch con tu red WiFi.</a:t>
            </a:r>
          </a:p>
        </p:txBody>
      </p:sp>
      <p:sp>
        <p:nvSpPr>
          <p:cNvPr id="13" name="Oval 12"/>
          <p:cNvSpPr/>
          <p:nvPr/>
        </p:nvSpPr>
        <p:spPr>
          <a:xfrm>
            <a:off x="5806440" y="2057400"/>
            <a:ext cx="384048" cy="384048"/>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806440" y="2057400"/>
            <a:ext cx="384048" cy="384048"/>
          </a:xfrm>
          <a:prstGeom prst="rect">
            <a:avLst/>
          </a:prstGeom>
          <a:noFill/>
        </p:spPr>
        <p:txBody>
          <a:bodyPr wrap="square" lIns="0" tIns="0" rIns="0" bIns="0" anchor="ctr">
            <a:spAutoFit/>
          </a:bodyPr>
          <a:lstStyle/>
          <a:p>
            <a:pPr algn="ctr">
              <a:spcAft>
                <a:spcPts val="600"/>
              </a:spcAft>
            </a:pPr>
            <a:r>
              <a:rPr sz="1300" b="1" i="0">
                <a:solidFill>
                  <a:srgbClr val="FFFFFF"/>
                </a:solidFill>
                <a:latin typeface="Calibri"/>
              </a:rPr>
              <a:t>2</a:t>
            </a:r>
          </a:p>
        </p:txBody>
      </p:sp>
      <p:sp>
        <p:nvSpPr>
          <p:cNvPr id="15" name="TextBox 14"/>
          <p:cNvSpPr txBox="1"/>
          <p:nvPr/>
        </p:nvSpPr>
        <p:spPr>
          <a:xfrm>
            <a:off x="6309360" y="1993392"/>
            <a:ext cx="2377440" cy="868680"/>
          </a:xfrm>
          <a:prstGeom prst="rect">
            <a:avLst/>
          </a:prstGeom>
          <a:noFill/>
        </p:spPr>
        <p:txBody>
          <a:bodyPr wrap="square" anchor="t">
            <a:spAutoFit/>
          </a:bodyPr>
          <a:lstStyle/>
          <a:p>
            <a:pPr algn="l">
              <a:spcAft>
                <a:spcPts val="600"/>
              </a:spcAft>
            </a:pPr>
            <a:r>
              <a:rPr sz="1300" b="0" i="0">
                <a:solidFill>
                  <a:srgbClr val="262626"/>
                </a:solidFill>
                <a:latin typeface="Calibri"/>
              </a:rPr>
              <a:t>Copiar la IP del Monitor Serie en </a:t>
            </a:r>
            <a:r>
              <a:rPr sz="1200" b="0" i="0">
                <a:solidFill>
                  <a:srgbClr val="8E1B1B"/>
                </a:solidFill>
                <a:latin typeface="Courier New"/>
              </a:rPr>
              <a:t>IP_ESP32</a:t>
            </a:r>
            <a:r>
              <a:rPr sz="1300" b="0" i="0">
                <a:solidFill>
                  <a:srgbClr val="262626"/>
                </a:solidFill>
                <a:latin typeface="Calibri"/>
              </a:rPr>
              <a:t>.</a:t>
            </a:r>
          </a:p>
        </p:txBody>
      </p:sp>
      <p:sp>
        <p:nvSpPr>
          <p:cNvPr id="16" name="Oval 15"/>
          <p:cNvSpPr/>
          <p:nvPr/>
        </p:nvSpPr>
        <p:spPr>
          <a:xfrm>
            <a:off x="5806440" y="2971800"/>
            <a:ext cx="384048" cy="384048"/>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806440" y="2971800"/>
            <a:ext cx="384048" cy="384048"/>
          </a:xfrm>
          <a:prstGeom prst="rect">
            <a:avLst/>
          </a:prstGeom>
          <a:noFill/>
        </p:spPr>
        <p:txBody>
          <a:bodyPr wrap="square" lIns="0" tIns="0" rIns="0" bIns="0" anchor="ctr">
            <a:spAutoFit/>
          </a:bodyPr>
          <a:lstStyle/>
          <a:p>
            <a:pPr algn="ctr">
              <a:spcAft>
                <a:spcPts val="600"/>
              </a:spcAft>
            </a:pPr>
            <a:r>
              <a:rPr sz="1300" b="1" i="0">
                <a:solidFill>
                  <a:srgbClr val="FFFFFF"/>
                </a:solidFill>
                <a:latin typeface="Calibri"/>
              </a:rPr>
              <a:t>3</a:t>
            </a:r>
          </a:p>
        </p:txBody>
      </p:sp>
      <p:sp>
        <p:nvSpPr>
          <p:cNvPr id="18" name="TextBox 17"/>
          <p:cNvSpPr txBox="1"/>
          <p:nvPr/>
        </p:nvSpPr>
        <p:spPr>
          <a:xfrm>
            <a:off x="6309360" y="2907792"/>
            <a:ext cx="2377440" cy="868680"/>
          </a:xfrm>
          <a:prstGeom prst="rect">
            <a:avLst/>
          </a:prstGeom>
          <a:noFill/>
        </p:spPr>
        <p:txBody>
          <a:bodyPr wrap="square" anchor="t">
            <a:spAutoFit/>
          </a:bodyPr>
          <a:lstStyle/>
          <a:p>
            <a:pPr algn="l">
              <a:spcAft>
                <a:spcPts val="600"/>
              </a:spcAft>
            </a:pPr>
            <a:r>
              <a:rPr sz="1300" b="0" i="0">
                <a:solidFill>
                  <a:srgbClr val="262626"/>
                </a:solidFill>
                <a:latin typeface="Calibri"/>
              </a:rPr>
              <a:t>Probar desde el navegador: </a:t>
            </a:r>
            <a:r>
              <a:rPr sz="1200" b="0" i="0">
                <a:solidFill>
                  <a:srgbClr val="8E1B1B"/>
                </a:solidFill>
                <a:latin typeface="Courier New"/>
              </a:rPr>
              <a:t>http://IP/led?estado=on</a:t>
            </a:r>
          </a:p>
        </p:txBody>
      </p:sp>
      <p:sp>
        <p:nvSpPr>
          <p:cNvPr id="19" name="Oval 18"/>
          <p:cNvSpPr/>
          <p:nvPr/>
        </p:nvSpPr>
        <p:spPr>
          <a:xfrm>
            <a:off x="5806440" y="3886200"/>
            <a:ext cx="384048" cy="384048"/>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806440" y="3886200"/>
            <a:ext cx="384048" cy="384048"/>
          </a:xfrm>
          <a:prstGeom prst="rect">
            <a:avLst/>
          </a:prstGeom>
          <a:noFill/>
        </p:spPr>
        <p:txBody>
          <a:bodyPr wrap="square" lIns="0" tIns="0" rIns="0" bIns="0" anchor="ctr">
            <a:spAutoFit/>
          </a:bodyPr>
          <a:lstStyle/>
          <a:p>
            <a:pPr algn="ctr">
              <a:spcAft>
                <a:spcPts val="600"/>
              </a:spcAft>
            </a:pPr>
            <a:r>
              <a:rPr sz="1300" b="1" i="0">
                <a:solidFill>
                  <a:srgbClr val="FFFFFF"/>
                </a:solidFill>
                <a:latin typeface="Calibri"/>
              </a:rPr>
              <a:t>4</a:t>
            </a:r>
          </a:p>
        </p:txBody>
      </p:sp>
      <p:sp>
        <p:nvSpPr>
          <p:cNvPr id="21" name="TextBox 20"/>
          <p:cNvSpPr txBox="1"/>
          <p:nvPr/>
        </p:nvSpPr>
        <p:spPr>
          <a:xfrm>
            <a:off x="6309360" y="3822191"/>
            <a:ext cx="2377440" cy="868680"/>
          </a:xfrm>
          <a:prstGeom prst="rect">
            <a:avLst/>
          </a:prstGeom>
          <a:noFill/>
        </p:spPr>
        <p:txBody>
          <a:bodyPr wrap="square" anchor="t">
            <a:spAutoFit/>
          </a:bodyPr>
          <a:lstStyle/>
          <a:p>
            <a:pPr algn="l">
              <a:spcAft>
                <a:spcPts val="600"/>
              </a:spcAft>
            </a:pPr>
            <a:r>
              <a:rPr sz="1300" b="0" i="0">
                <a:solidFill>
                  <a:srgbClr val="262626"/>
                </a:solidFill>
                <a:latin typeface="Calibri"/>
              </a:rPr>
              <a:t>Ejecutar </a:t>
            </a:r>
            <a:r>
              <a:rPr sz="1200" b="0" i="0">
                <a:solidFill>
                  <a:srgbClr val="8E1B1B"/>
                </a:solidFill>
                <a:latin typeface="Courier New"/>
              </a:rPr>
              <a:t>python 07_yolo_esp32.py</a:t>
            </a:r>
            <a:r>
              <a:rPr sz="1300" b="0" i="0">
                <a:solidFill>
                  <a:srgbClr val="262626"/>
                </a:solidFill>
                <a:latin typeface="Calibri"/>
              </a:rPr>
              <a:t>.</a:t>
            </a:r>
          </a:p>
        </p:txBody>
      </p:sp>
      <p:sp>
        <p:nvSpPr>
          <p:cNvPr id="22" name="Rounded Rectangle 21"/>
          <p:cNvSpPr/>
          <p:nvPr/>
        </p:nvSpPr>
        <p:spPr>
          <a:xfrm>
            <a:off x="5806440" y="4846320"/>
            <a:ext cx="2880360" cy="14630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5943600" y="4846320"/>
            <a:ext cx="2651760" cy="1463040"/>
          </a:xfrm>
          <a:prstGeom prst="rect">
            <a:avLst/>
          </a:prstGeom>
          <a:noFill/>
        </p:spPr>
        <p:txBody>
          <a:bodyPr wrap="square" anchor="ctr">
            <a:spAutoFit/>
          </a:bodyPr>
          <a:lstStyle/>
          <a:p>
            <a:pPr algn="l">
              <a:spcAft>
                <a:spcPts val="600"/>
              </a:spcAft>
            </a:pPr>
            <a:r>
              <a:rPr sz="1300" b="0" i="0">
                <a:solidFill>
                  <a:srgbClr val="262626"/>
                </a:solidFill>
                <a:latin typeface="Calibri"/>
              </a:rPr>
              <a:t>Cambia el LED por un </a:t>
            </a:r>
            <a:r>
              <a:rPr sz="1300" b="1" i="0">
                <a:solidFill>
                  <a:srgbClr val="262626"/>
                </a:solidFill>
                <a:latin typeface="Calibri"/>
              </a:rPr>
              <a:t>servo</a:t>
            </a:r>
            <a:r>
              <a:rPr sz="1300" b="0" i="0">
                <a:solidFill>
                  <a:srgbClr val="262626"/>
                </a:solidFill>
                <a:latin typeface="Calibri"/>
              </a:rPr>
              <a:t> (barrera), un </a:t>
            </a:r>
            <a:r>
              <a:rPr sz="1300" b="1" i="0">
                <a:solidFill>
                  <a:srgbClr val="262626"/>
                </a:solidFill>
                <a:latin typeface="Calibri"/>
              </a:rPr>
              <a:t>buzzer</a:t>
            </a:r>
            <a:r>
              <a:rPr sz="1300" b="0" i="0">
                <a:solidFill>
                  <a:srgbClr val="262626"/>
                </a:solidFill>
                <a:latin typeface="Calibri"/>
              </a:rPr>
              <a:t> (alarma) o un </a:t>
            </a:r>
            <a:r>
              <a:rPr sz="1300" b="1" i="0">
                <a:solidFill>
                  <a:srgbClr val="262626"/>
                </a:solidFill>
                <a:latin typeface="Calibri"/>
              </a:rPr>
              <a:t>relé</a:t>
            </a:r>
            <a:r>
              <a:rPr sz="1300" b="0" i="0">
                <a:solidFill>
                  <a:srgbClr val="262626"/>
                </a:solidFill>
                <a:latin typeface="Calibri"/>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23272E"/>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Momento de código 5</a:t>
            </a:r>
          </a:p>
        </p:txBody>
      </p:sp>
      <p:sp>
        <p:nvSpPr>
          <p:cNvPr id="5" name="Oval 4"/>
          <p:cNvSpPr/>
          <p:nvPr/>
        </p:nvSpPr>
        <p:spPr>
          <a:xfrm>
            <a:off x="457200" y="105156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aptop_w.png"/>
          <p:cNvPicPr>
            <a:picLocks noChangeAspect="1"/>
          </p:cNvPicPr>
          <p:nvPr/>
        </p:nvPicPr>
        <p:blipFill>
          <a:blip r:embed="rId5"/>
          <a:stretch>
            <a:fillRect/>
          </a:stretch>
        </p:blipFill>
        <p:spPr>
          <a:xfrm>
            <a:off x="598017" y="1192377"/>
            <a:ext cx="358444" cy="358444"/>
          </a:xfrm>
          <a:prstGeom prst="rect">
            <a:avLst/>
          </a:prstGeom>
        </p:spPr>
      </p:pic>
      <p:sp>
        <p:nvSpPr>
          <p:cNvPr id="7" name="TextBox 6"/>
          <p:cNvSpPr txBox="1"/>
          <p:nvPr/>
        </p:nvSpPr>
        <p:spPr>
          <a:xfrm>
            <a:off x="1234440" y="1024128"/>
            <a:ext cx="5120640" cy="365760"/>
          </a:xfrm>
          <a:prstGeom prst="rect">
            <a:avLst/>
          </a:prstGeom>
          <a:noFill/>
        </p:spPr>
        <p:txBody>
          <a:bodyPr wrap="square" lIns="0" tIns="0" rIns="0" bIns="0" anchor="t">
            <a:spAutoFit/>
          </a:bodyPr>
          <a:lstStyle/>
          <a:p>
            <a:pPr algn="l">
              <a:spcAft>
                <a:spcPts val="600"/>
              </a:spcAft>
            </a:pPr>
            <a:r>
              <a:rPr sz="1300" b="1" i="0">
                <a:solidFill>
                  <a:srgbClr val="F2C14E"/>
                </a:solidFill>
                <a:latin typeface="Calibri"/>
              </a:rPr>
              <a:t>AHORA EN TU COMPUTADOR</a:t>
            </a:r>
          </a:p>
        </p:txBody>
      </p:sp>
      <p:sp>
        <p:nvSpPr>
          <p:cNvPr id="8" name="TextBox 7"/>
          <p:cNvSpPr txBox="1"/>
          <p:nvPr/>
        </p:nvSpPr>
        <p:spPr>
          <a:xfrm>
            <a:off x="1234440" y="1344168"/>
            <a:ext cx="5394960" cy="411480"/>
          </a:xfrm>
          <a:prstGeom prst="rect">
            <a:avLst/>
          </a:prstGeom>
          <a:noFill/>
        </p:spPr>
        <p:txBody>
          <a:bodyPr wrap="square" lIns="0" tIns="0" rIns="0" bIns="0" anchor="t">
            <a:spAutoFit/>
          </a:bodyPr>
          <a:lstStyle/>
          <a:p>
            <a:pPr algn="l">
              <a:spcAft>
                <a:spcPts val="600"/>
              </a:spcAft>
            </a:pPr>
            <a:r>
              <a:rPr sz="2200" b="1" i="0">
                <a:solidFill>
                  <a:srgbClr val="FFFFFF"/>
                </a:solidFill>
                <a:latin typeface="Courier New"/>
              </a:rPr>
              <a:t>07_yolo_esp32 + ESP32</a:t>
            </a:r>
          </a:p>
        </p:txBody>
      </p:sp>
      <p:sp>
        <p:nvSpPr>
          <p:cNvPr id="9" name="Rounded Rectangle 8"/>
          <p:cNvSpPr/>
          <p:nvPr/>
        </p:nvSpPr>
        <p:spPr>
          <a:xfrm>
            <a:off x="6720840" y="1051560"/>
            <a:ext cx="1965960" cy="6400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imer_w.png"/>
          <p:cNvPicPr>
            <a:picLocks noChangeAspect="1"/>
          </p:cNvPicPr>
          <p:nvPr/>
        </p:nvPicPr>
        <p:blipFill>
          <a:blip r:embed="rId6"/>
          <a:stretch>
            <a:fillRect/>
          </a:stretch>
        </p:blipFill>
        <p:spPr>
          <a:xfrm>
            <a:off x="6858000" y="1143000"/>
            <a:ext cx="457200" cy="457200"/>
          </a:xfrm>
          <a:prstGeom prst="rect">
            <a:avLst/>
          </a:prstGeom>
        </p:spPr>
      </p:pic>
      <p:sp>
        <p:nvSpPr>
          <p:cNvPr id="11" name="TextBox 10"/>
          <p:cNvSpPr txBox="1"/>
          <p:nvPr/>
        </p:nvSpPr>
        <p:spPr>
          <a:xfrm>
            <a:off x="7360920" y="1051560"/>
            <a:ext cx="1280160" cy="640080"/>
          </a:xfrm>
          <a:prstGeom prst="rect">
            <a:avLst/>
          </a:prstGeom>
          <a:noFill/>
        </p:spPr>
        <p:txBody>
          <a:bodyPr wrap="square" lIns="0" tIns="0" rIns="0" bIns="0" anchor="ctr">
            <a:spAutoFit/>
          </a:bodyPr>
          <a:lstStyle/>
          <a:p>
            <a:pPr algn="l">
              <a:spcAft>
                <a:spcPts val="600"/>
              </a:spcAft>
            </a:pPr>
            <a:r>
              <a:rPr sz="1700" b="1" i="0">
                <a:solidFill>
                  <a:srgbClr val="FFFFFF"/>
                </a:solidFill>
                <a:latin typeface="Calibri"/>
              </a:rPr>
              <a:t>≈ 15 min</a:t>
            </a:r>
          </a:p>
        </p:txBody>
      </p:sp>
      <p:sp>
        <p:nvSpPr>
          <p:cNvPr id="12" name="TextBox 11"/>
          <p:cNvSpPr txBox="1"/>
          <p:nvPr/>
        </p:nvSpPr>
        <p:spPr>
          <a:xfrm>
            <a:off x="457200" y="1874519"/>
            <a:ext cx="8229600" cy="457200"/>
          </a:xfrm>
          <a:prstGeom prst="rect">
            <a:avLst/>
          </a:prstGeom>
          <a:noFill/>
        </p:spPr>
        <p:txBody>
          <a:bodyPr wrap="square" lIns="0" tIns="0" rIns="0" bIns="0" anchor="t">
            <a:spAutoFit/>
          </a:bodyPr>
          <a:lstStyle/>
          <a:p>
            <a:pPr algn="l">
              <a:spcAft>
                <a:spcPts val="600"/>
              </a:spcAft>
            </a:pPr>
            <a:r>
              <a:rPr sz="1500" b="0" i="0">
                <a:solidFill>
                  <a:srgbClr val="D9DDE3"/>
                </a:solidFill>
                <a:latin typeface="Calibri"/>
              </a:rPr>
              <a:t>Que una detección de YOLO encienda algo en tu ESP32.</a:t>
            </a:r>
          </a:p>
        </p:txBody>
      </p:sp>
      <p:sp>
        <p:nvSpPr>
          <p:cNvPr id="13" name="Rounded Rectangle 12"/>
          <p:cNvSpPr/>
          <p:nvPr/>
        </p:nvSpPr>
        <p:spPr>
          <a:xfrm>
            <a:off x="457200" y="2377440"/>
            <a:ext cx="8229600" cy="576072"/>
          </a:xfrm>
          <a:prstGeom prst="roundRect">
            <a:avLst>
              <a:gd name="adj" fmla="val 8000"/>
            </a:avLst>
          </a:prstGeom>
          <a:solidFill>
            <a:srgbClr val="141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2395728"/>
            <a:ext cx="7863840" cy="548640"/>
          </a:xfrm>
          <a:prstGeom prst="rect">
            <a:avLst/>
          </a:prstGeom>
          <a:noFill/>
        </p:spPr>
        <p:txBody>
          <a:bodyPr wrap="square" lIns="18288" tIns="18288" rIns="18288" bIns="18288" anchor="ctr">
            <a:spAutoFit/>
          </a:bodyPr>
          <a:lstStyle/>
          <a:p>
            <a:pPr algn="l">
              <a:spcAft>
                <a:spcPts val="0"/>
              </a:spcAft>
            </a:pPr>
            <a:r>
              <a:rPr sz="1400" b="0" i="0">
                <a:solidFill>
                  <a:srgbClr val="9FE29F"/>
                </a:solidFill>
                <a:latin typeface="Courier New"/>
              </a:rPr>
              <a:t>$ python 07_yolo_esp32.py</a:t>
            </a:r>
          </a:p>
        </p:txBody>
      </p:sp>
      <p:sp>
        <p:nvSpPr>
          <p:cNvPr id="15" name="TextBox 14"/>
          <p:cNvSpPr txBox="1"/>
          <p:nvPr/>
        </p:nvSpPr>
        <p:spPr>
          <a:xfrm>
            <a:off x="457200" y="3108960"/>
            <a:ext cx="8229600" cy="365760"/>
          </a:xfrm>
          <a:prstGeom prst="rect">
            <a:avLst/>
          </a:prstGeom>
          <a:noFill/>
        </p:spPr>
        <p:txBody>
          <a:bodyPr wrap="square" lIns="0" tIns="0" rIns="0" bIns="0" anchor="t">
            <a:spAutoFit/>
          </a:bodyPr>
          <a:lstStyle/>
          <a:p>
            <a:pPr algn="l">
              <a:spcAft>
                <a:spcPts val="600"/>
              </a:spcAft>
            </a:pPr>
            <a:r>
              <a:rPr sz="1500" b="1" i="0">
                <a:solidFill>
                  <a:srgbClr val="F2C14E"/>
                </a:solidFill>
                <a:latin typeface="Calibri"/>
              </a:rPr>
              <a:t>Prueba esto:</a:t>
            </a:r>
          </a:p>
        </p:txBody>
      </p:sp>
      <p:sp>
        <p:nvSpPr>
          <p:cNvPr id="16" name="Rounded Rectangle 15"/>
          <p:cNvSpPr/>
          <p:nvPr/>
        </p:nvSpPr>
        <p:spPr>
          <a:xfrm>
            <a:off x="457200" y="3520440"/>
            <a:ext cx="8229600" cy="658368"/>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94360" y="367588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367588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1</a:t>
            </a:r>
          </a:p>
        </p:txBody>
      </p:sp>
      <p:sp>
        <p:nvSpPr>
          <p:cNvPr id="19" name="TextBox 18"/>
          <p:cNvSpPr txBox="1"/>
          <p:nvPr/>
        </p:nvSpPr>
        <p:spPr>
          <a:xfrm>
            <a:off x="1097280" y="3520440"/>
            <a:ext cx="7452360" cy="658368"/>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Carga el sketch en el ESP32 con tu red WiFi y prueba en el navegador: </a:t>
            </a:r>
            <a:r>
              <a:rPr sz="1300" b="0" i="0">
                <a:solidFill>
                  <a:srgbClr val="FFFFFF"/>
                </a:solidFill>
                <a:latin typeface="Courier New"/>
              </a:rPr>
              <a:t>http://IP/led?estado=on</a:t>
            </a:r>
          </a:p>
        </p:txBody>
      </p:sp>
      <p:sp>
        <p:nvSpPr>
          <p:cNvPr id="20" name="Rounded Rectangle 19"/>
          <p:cNvSpPr/>
          <p:nvPr/>
        </p:nvSpPr>
        <p:spPr>
          <a:xfrm>
            <a:off x="457200" y="4251960"/>
            <a:ext cx="8229600" cy="658368"/>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594360" y="440740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94360" y="440740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2</a:t>
            </a:r>
          </a:p>
        </p:txBody>
      </p:sp>
      <p:sp>
        <p:nvSpPr>
          <p:cNvPr id="23" name="TextBox 22"/>
          <p:cNvSpPr txBox="1"/>
          <p:nvPr/>
        </p:nvSpPr>
        <p:spPr>
          <a:xfrm>
            <a:off x="1097280" y="4251960"/>
            <a:ext cx="7452360" cy="658368"/>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Copia la IP en </a:t>
            </a:r>
            <a:r>
              <a:rPr sz="1300" b="0" i="0">
                <a:solidFill>
                  <a:srgbClr val="FFFFFF"/>
                </a:solidFill>
                <a:latin typeface="Courier New"/>
              </a:rPr>
              <a:t>IP_ESP32</a:t>
            </a:r>
            <a:r>
              <a:rPr sz="1400" b="0" i="0">
                <a:solidFill>
                  <a:srgbClr val="FFFFFF"/>
                </a:solidFill>
                <a:latin typeface="Calibri"/>
              </a:rPr>
              <a:t>, ejecuta y ponte frente a la cámara: ¿se enciende el LED?</a:t>
            </a:r>
          </a:p>
        </p:txBody>
      </p:sp>
      <p:sp>
        <p:nvSpPr>
          <p:cNvPr id="24" name="Rounded Rectangle 23"/>
          <p:cNvSpPr/>
          <p:nvPr/>
        </p:nvSpPr>
        <p:spPr>
          <a:xfrm>
            <a:off x="457200" y="4983480"/>
            <a:ext cx="8229600" cy="658368"/>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594360" y="513892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4360" y="513892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3</a:t>
            </a:r>
          </a:p>
        </p:txBody>
      </p:sp>
      <p:sp>
        <p:nvSpPr>
          <p:cNvPr id="27" name="TextBox 26"/>
          <p:cNvSpPr txBox="1"/>
          <p:nvPr/>
        </p:nvSpPr>
        <p:spPr>
          <a:xfrm>
            <a:off x="1097280" y="4983480"/>
            <a:ext cx="7452360" cy="658368"/>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Cambia </a:t>
            </a:r>
            <a:r>
              <a:rPr sz="1300" b="0" i="0">
                <a:solidFill>
                  <a:srgbClr val="FFFFFF"/>
                </a:solidFill>
                <a:latin typeface="Courier New"/>
              </a:rPr>
              <a:t>CLASE_OBJETIVO</a:t>
            </a:r>
            <a:r>
              <a:rPr sz="1400" b="0" i="0">
                <a:solidFill>
                  <a:srgbClr val="FFFFFF"/>
                </a:solidFill>
                <a:latin typeface="Calibri"/>
              </a:rPr>
              <a:t> y reemplaza el LED por un buzzer, un relé o un servo de su proyecto.</a:t>
            </a:r>
          </a:p>
        </p:txBody>
      </p:sp>
      <p:sp>
        <p:nvSpPr>
          <p:cNvPr id="28" name="TextBox 27"/>
          <p:cNvSpPr txBox="1"/>
          <p:nvPr/>
        </p:nvSpPr>
        <p:spPr>
          <a:xfrm>
            <a:off x="457200" y="6053328"/>
            <a:ext cx="8229600" cy="411480"/>
          </a:xfrm>
          <a:prstGeom prst="rect">
            <a:avLst/>
          </a:prstGeom>
          <a:noFill/>
        </p:spPr>
        <p:txBody>
          <a:bodyPr wrap="square" lIns="0" tIns="0" rIns="0" bIns="0" anchor="t">
            <a:spAutoFit/>
          </a:bodyPr>
          <a:lstStyle/>
          <a:p>
            <a:pPr algn="l">
              <a:spcAft>
                <a:spcPts val="600"/>
              </a:spcAft>
            </a:pPr>
            <a:r>
              <a:rPr sz="1200" b="0" i="1">
                <a:solidFill>
                  <a:srgbClr val="AEB4BD"/>
                </a:solidFill>
                <a:latin typeface="Calibri"/>
              </a:rPr>
              <a:t>El computador y el ESP32 deben estar en la misma red WiFi (la red de la universidad puede bloquearlo: usen el celular como hotspot).</a:t>
            </a:r>
          </a:p>
        </p:txBody>
      </p:sp>
      <p:sp>
        <p:nvSpPr>
          <p:cNvPr id="29" name="TextBox 28"/>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8A9099"/>
                </a:solidFill>
                <a:latin typeface="Calibri"/>
              </a:rPr>
              <a:t>Tecnologías Disruptivas  ·  Escuela de Informática  ·  Universidad Andrés Bello</a:t>
            </a:r>
          </a:p>
        </p:txBody>
      </p:sp>
      <p:sp>
        <p:nvSpPr>
          <p:cNvPr id="30" name="TextBox 29"/>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8A9099"/>
                </a:solidFill>
                <a:latin typeface="Calibri"/>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Cuando llegue la ESP32-CAM</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46</a:t>
            </a:r>
          </a:p>
        </p:txBody>
      </p:sp>
      <p:sp>
        <p:nvSpPr>
          <p:cNvPr id="7" name="Oval 6"/>
          <p:cNvSpPr/>
          <p:nvPr/>
        </p:nvSpPr>
        <p:spPr>
          <a:xfrm>
            <a:off x="457200" y="1188720"/>
            <a:ext cx="411480" cy="4114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7200" y="1188720"/>
            <a:ext cx="411480" cy="411480"/>
          </a:xfrm>
          <a:prstGeom prst="rect">
            <a:avLst/>
          </a:prstGeom>
          <a:noFill/>
        </p:spPr>
        <p:txBody>
          <a:bodyPr wrap="square" lIns="0" tIns="0" rIns="0" bIns="0" anchor="ctr">
            <a:spAutoFit/>
          </a:bodyPr>
          <a:lstStyle/>
          <a:p>
            <a:pPr algn="ctr">
              <a:spcAft>
                <a:spcPts val="600"/>
              </a:spcAft>
            </a:pPr>
            <a:r>
              <a:rPr sz="1400" b="1" i="0">
                <a:solidFill>
                  <a:srgbClr val="FFFFFF"/>
                </a:solidFill>
                <a:latin typeface="Calibri"/>
              </a:rPr>
              <a:t>1</a:t>
            </a:r>
          </a:p>
        </p:txBody>
      </p:sp>
      <p:sp>
        <p:nvSpPr>
          <p:cNvPr id="9" name="TextBox 8"/>
          <p:cNvSpPr txBox="1"/>
          <p:nvPr/>
        </p:nvSpPr>
        <p:spPr>
          <a:xfrm>
            <a:off x="1005840" y="1097280"/>
            <a:ext cx="4023360" cy="777240"/>
          </a:xfrm>
          <a:prstGeom prst="rect">
            <a:avLst/>
          </a:prstGeom>
          <a:noFill/>
        </p:spPr>
        <p:txBody>
          <a:bodyPr wrap="square" anchor="t">
            <a:spAutoFit/>
          </a:bodyPr>
          <a:lstStyle/>
          <a:p>
            <a:pPr algn="l">
              <a:spcAft>
                <a:spcPts val="600"/>
              </a:spcAft>
            </a:pPr>
            <a:r>
              <a:rPr sz="1400" b="0" i="0">
                <a:solidFill>
                  <a:srgbClr val="262626"/>
                </a:solidFill>
                <a:latin typeface="Calibri"/>
              </a:rPr>
              <a:t>En Arduino IDE: </a:t>
            </a:r>
            <a:r>
              <a:rPr sz="1400" b="1" i="0">
                <a:solidFill>
                  <a:srgbClr val="262626"/>
                </a:solidFill>
                <a:latin typeface="Calibri"/>
              </a:rPr>
              <a:t>Archivo → Ejemplos → ESP32 → Camera → CameraWebServer</a:t>
            </a:r>
            <a:r>
              <a:rPr sz="1400" b="0" i="0">
                <a:solidFill>
                  <a:srgbClr val="262626"/>
                </a:solidFill>
                <a:latin typeface="Calibri"/>
              </a:rPr>
              <a:t>.</a:t>
            </a:r>
          </a:p>
        </p:txBody>
      </p:sp>
      <p:sp>
        <p:nvSpPr>
          <p:cNvPr id="10" name="Oval 9"/>
          <p:cNvSpPr/>
          <p:nvPr/>
        </p:nvSpPr>
        <p:spPr>
          <a:xfrm>
            <a:off x="457200" y="1965960"/>
            <a:ext cx="411480" cy="4114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57200" y="1965960"/>
            <a:ext cx="411480" cy="411480"/>
          </a:xfrm>
          <a:prstGeom prst="rect">
            <a:avLst/>
          </a:prstGeom>
          <a:noFill/>
        </p:spPr>
        <p:txBody>
          <a:bodyPr wrap="square" lIns="0" tIns="0" rIns="0" bIns="0" anchor="ctr">
            <a:spAutoFit/>
          </a:bodyPr>
          <a:lstStyle/>
          <a:p>
            <a:pPr algn="ctr">
              <a:spcAft>
                <a:spcPts val="600"/>
              </a:spcAft>
            </a:pPr>
            <a:r>
              <a:rPr sz="1400" b="1" i="0">
                <a:solidFill>
                  <a:srgbClr val="FFFFFF"/>
                </a:solidFill>
                <a:latin typeface="Calibri"/>
              </a:rPr>
              <a:t>2</a:t>
            </a:r>
          </a:p>
        </p:txBody>
      </p:sp>
      <p:sp>
        <p:nvSpPr>
          <p:cNvPr id="12" name="TextBox 11"/>
          <p:cNvSpPr txBox="1"/>
          <p:nvPr/>
        </p:nvSpPr>
        <p:spPr>
          <a:xfrm>
            <a:off x="1005840" y="1874519"/>
            <a:ext cx="4023360" cy="777240"/>
          </a:xfrm>
          <a:prstGeom prst="rect">
            <a:avLst/>
          </a:prstGeom>
          <a:noFill/>
        </p:spPr>
        <p:txBody>
          <a:bodyPr wrap="square" anchor="t">
            <a:spAutoFit/>
          </a:bodyPr>
          <a:lstStyle/>
          <a:p>
            <a:pPr algn="l">
              <a:spcAft>
                <a:spcPts val="600"/>
              </a:spcAft>
            </a:pPr>
            <a:r>
              <a:rPr sz="1400" b="0" i="0">
                <a:solidFill>
                  <a:srgbClr val="262626"/>
                </a:solidFill>
                <a:latin typeface="Calibri"/>
              </a:rPr>
              <a:t>Descomenta el modelo de tu placa (normalmente </a:t>
            </a:r>
            <a:r>
              <a:rPr sz="1300" b="0" i="0">
                <a:solidFill>
                  <a:srgbClr val="8E1B1B"/>
                </a:solidFill>
                <a:latin typeface="Courier New"/>
              </a:rPr>
              <a:t>CAMERA_MODEL_AI_THINKER</a:t>
            </a:r>
            <a:r>
              <a:rPr sz="1400" b="0" i="0">
                <a:solidFill>
                  <a:srgbClr val="262626"/>
                </a:solidFill>
                <a:latin typeface="Calibri"/>
              </a:rPr>
              <a:t>) y escribe tu WiFi.</a:t>
            </a:r>
          </a:p>
        </p:txBody>
      </p:sp>
      <p:sp>
        <p:nvSpPr>
          <p:cNvPr id="13" name="Oval 12"/>
          <p:cNvSpPr/>
          <p:nvPr/>
        </p:nvSpPr>
        <p:spPr>
          <a:xfrm>
            <a:off x="457200" y="2743200"/>
            <a:ext cx="411480" cy="4114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57200" y="2743200"/>
            <a:ext cx="411480" cy="411480"/>
          </a:xfrm>
          <a:prstGeom prst="rect">
            <a:avLst/>
          </a:prstGeom>
          <a:noFill/>
        </p:spPr>
        <p:txBody>
          <a:bodyPr wrap="square" lIns="0" tIns="0" rIns="0" bIns="0" anchor="ctr">
            <a:spAutoFit/>
          </a:bodyPr>
          <a:lstStyle/>
          <a:p>
            <a:pPr algn="ctr">
              <a:spcAft>
                <a:spcPts val="600"/>
              </a:spcAft>
            </a:pPr>
            <a:r>
              <a:rPr sz="1400" b="1" i="0">
                <a:solidFill>
                  <a:srgbClr val="FFFFFF"/>
                </a:solidFill>
                <a:latin typeface="Calibri"/>
              </a:rPr>
              <a:t>3</a:t>
            </a:r>
          </a:p>
        </p:txBody>
      </p:sp>
      <p:sp>
        <p:nvSpPr>
          <p:cNvPr id="15" name="TextBox 14"/>
          <p:cNvSpPr txBox="1"/>
          <p:nvPr/>
        </p:nvSpPr>
        <p:spPr>
          <a:xfrm>
            <a:off x="1005840" y="2651760"/>
            <a:ext cx="4023360" cy="777240"/>
          </a:xfrm>
          <a:prstGeom prst="rect">
            <a:avLst/>
          </a:prstGeom>
          <a:noFill/>
        </p:spPr>
        <p:txBody>
          <a:bodyPr wrap="square" anchor="t">
            <a:spAutoFit/>
          </a:bodyPr>
          <a:lstStyle/>
          <a:p>
            <a:pPr algn="l">
              <a:spcAft>
                <a:spcPts val="600"/>
              </a:spcAft>
            </a:pPr>
            <a:r>
              <a:rPr sz="1400" b="0" i="0">
                <a:solidFill>
                  <a:srgbClr val="262626"/>
                </a:solidFill>
                <a:latin typeface="Calibri"/>
              </a:rPr>
              <a:t>Carga el programa y copia la </a:t>
            </a:r>
            <a:r>
              <a:rPr sz="1400" b="1" i="0">
                <a:solidFill>
                  <a:srgbClr val="262626"/>
                </a:solidFill>
                <a:latin typeface="Calibri"/>
              </a:rPr>
              <a:t>IP</a:t>
            </a:r>
            <a:r>
              <a:rPr sz="1400" b="0" i="0">
                <a:solidFill>
                  <a:srgbClr val="262626"/>
                </a:solidFill>
                <a:latin typeface="Calibri"/>
              </a:rPr>
              <a:t> del Monitor Serie (115200 baudios).</a:t>
            </a:r>
          </a:p>
        </p:txBody>
      </p:sp>
      <p:sp>
        <p:nvSpPr>
          <p:cNvPr id="16" name="Oval 15"/>
          <p:cNvSpPr/>
          <p:nvPr/>
        </p:nvSpPr>
        <p:spPr>
          <a:xfrm>
            <a:off x="457200" y="3520439"/>
            <a:ext cx="411480" cy="4114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57200" y="3520439"/>
            <a:ext cx="411480" cy="411480"/>
          </a:xfrm>
          <a:prstGeom prst="rect">
            <a:avLst/>
          </a:prstGeom>
          <a:noFill/>
        </p:spPr>
        <p:txBody>
          <a:bodyPr wrap="square" lIns="0" tIns="0" rIns="0" bIns="0" anchor="ctr">
            <a:spAutoFit/>
          </a:bodyPr>
          <a:lstStyle/>
          <a:p>
            <a:pPr algn="ctr">
              <a:spcAft>
                <a:spcPts val="600"/>
              </a:spcAft>
            </a:pPr>
            <a:r>
              <a:rPr sz="1400" b="1" i="0">
                <a:solidFill>
                  <a:srgbClr val="FFFFFF"/>
                </a:solidFill>
                <a:latin typeface="Calibri"/>
              </a:rPr>
              <a:t>4</a:t>
            </a:r>
          </a:p>
        </p:txBody>
      </p:sp>
      <p:sp>
        <p:nvSpPr>
          <p:cNvPr id="18" name="TextBox 17"/>
          <p:cNvSpPr txBox="1"/>
          <p:nvPr/>
        </p:nvSpPr>
        <p:spPr>
          <a:xfrm>
            <a:off x="1005840" y="3428999"/>
            <a:ext cx="4023360" cy="777240"/>
          </a:xfrm>
          <a:prstGeom prst="rect">
            <a:avLst/>
          </a:prstGeom>
          <a:noFill/>
        </p:spPr>
        <p:txBody>
          <a:bodyPr wrap="square" anchor="t">
            <a:spAutoFit/>
          </a:bodyPr>
          <a:lstStyle/>
          <a:p>
            <a:pPr algn="l">
              <a:spcAft>
                <a:spcPts val="600"/>
              </a:spcAft>
            </a:pPr>
            <a:r>
              <a:rPr sz="1400" b="0" i="0">
                <a:solidFill>
                  <a:srgbClr val="262626"/>
                </a:solidFill>
                <a:latin typeface="Calibri"/>
              </a:rPr>
              <a:t>Abre </a:t>
            </a:r>
            <a:r>
              <a:rPr sz="1300" b="0" i="0">
                <a:solidFill>
                  <a:srgbClr val="8E1B1B"/>
                </a:solidFill>
                <a:latin typeface="Courier New"/>
              </a:rPr>
              <a:t>http://IP</a:t>
            </a:r>
            <a:r>
              <a:rPr sz="1400" b="0" i="0">
                <a:solidFill>
                  <a:srgbClr val="262626"/>
                </a:solidFill>
                <a:latin typeface="Calibri"/>
              </a:rPr>
              <a:t> en el navegador: debería verse el video.</a:t>
            </a:r>
          </a:p>
        </p:txBody>
      </p:sp>
      <p:sp>
        <p:nvSpPr>
          <p:cNvPr id="19" name="Rounded Rectangle 18"/>
          <p:cNvSpPr/>
          <p:nvPr/>
        </p:nvSpPr>
        <p:spPr>
          <a:xfrm>
            <a:off x="5303520" y="1143000"/>
            <a:ext cx="3383280" cy="301752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5486400" y="1325880"/>
            <a:ext cx="548640" cy="54864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linkcam_w.png"/>
          <p:cNvPicPr>
            <a:picLocks noChangeAspect="1"/>
          </p:cNvPicPr>
          <p:nvPr/>
        </p:nvPicPr>
        <p:blipFill>
          <a:blip r:embed="rId5"/>
          <a:stretch>
            <a:fillRect/>
          </a:stretch>
        </p:blipFill>
        <p:spPr>
          <a:xfrm>
            <a:off x="5607100" y="1446580"/>
            <a:ext cx="307238" cy="307238"/>
          </a:xfrm>
          <a:prstGeom prst="rect">
            <a:avLst/>
          </a:prstGeom>
        </p:spPr>
      </p:pic>
      <p:sp>
        <p:nvSpPr>
          <p:cNvPr id="22" name="TextBox 21"/>
          <p:cNvSpPr txBox="1"/>
          <p:nvPr/>
        </p:nvSpPr>
        <p:spPr>
          <a:xfrm>
            <a:off x="6172200" y="1325880"/>
            <a:ext cx="2377440" cy="548640"/>
          </a:xfrm>
          <a:prstGeom prst="rect">
            <a:avLst/>
          </a:prstGeom>
          <a:noFill/>
        </p:spPr>
        <p:txBody>
          <a:bodyPr wrap="square" lIns="18288" tIns="18288" rIns="18288" bIns="18288" anchor="ctr">
            <a:spAutoFit/>
          </a:bodyPr>
          <a:lstStyle/>
          <a:p>
            <a:pPr algn="l">
              <a:spcAft>
                <a:spcPts val="600"/>
              </a:spcAft>
            </a:pPr>
            <a:r>
              <a:rPr sz="1400" b="1" i="0">
                <a:solidFill>
                  <a:srgbClr val="8E1B1B"/>
                </a:solidFill>
                <a:latin typeface="Calibri"/>
              </a:rPr>
              <a:t>El mismo código, otra cámara</a:t>
            </a:r>
          </a:p>
        </p:txBody>
      </p:sp>
      <p:sp>
        <p:nvSpPr>
          <p:cNvPr id="23" name="Rounded Rectangle 22"/>
          <p:cNvSpPr/>
          <p:nvPr/>
        </p:nvSpPr>
        <p:spPr>
          <a:xfrm>
            <a:off x="5486400" y="2057400"/>
            <a:ext cx="3017520" cy="192024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Codigo"/>
          <p:cNvSpPr txBox="1"/>
          <p:nvPr/>
        </p:nvSpPr>
        <p:spPr>
          <a:xfrm>
            <a:off x="5623560" y="2130552"/>
            <a:ext cx="2743200" cy="1810512"/>
          </a:xfrm>
          <a:prstGeom prst="rect">
            <a:avLst/>
          </a:prstGeom>
          <a:noFill/>
        </p:spPr>
        <p:txBody>
          <a:bodyPr wrap="square" lIns="0" tIns="0" rIns="0" bIns="0">
            <a:spAutoFit/>
          </a:bodyPr>
          <a:lstStyle/>
          <a:p>
            <a:pPr>
              <a:spcAft>
                <a:spcPts val="0"/>
              </a:spcAft>
            </a:pPr>
            <a:r>
              <a:rPr sz="1000">
                <a:solidFill>
                  <a:srgbClr val="E6E6E6"/>
                </a:solidFill>
                <a:latin typeface="Courier New"/>
              </a:rPr>
              <a:t>python 01_ver_camara.py</a:t>
            </a:r>
          </a:p>
          <a:p>
            <a:pPr>
              <a:spcAft>
                <a:spcPts val="0"/>
              </a:spcAft>
            </a:pPr>
            <a:r>
              <a:rPr sz="1000">
                <a:solidFill>
                  <a:srgbClr val="E6E6E6"/>
                </a:solidFill>
                <a:latin typeface="Courier New"/>
              </a:rPr>
              <a:t>  http://IP:81/stream</a:t>
            </a:r>
          </a:p>
          <a:p>
            <a:pPr>
              <a:spcAft>
                <a:spcPts val="0"/>
              </a:spcAft>
            </a:pPr>
            <a:r>
              <a:rPr sz="1000">
                <a:solidFill>
                  <a:srgbClr val="E6E6E6"/>
                </a:solidFill>
                <a:latin typeface="Courier New"/>
              </a:rPr>
              <a:t> </a:t>
            </a:r>
          </a:p>
          <a:p>
            <a:pPr>
              <a:spcAft>
                <a:spcPts val="0"/>
              </a:spcAft>
            </a:pPr>
            <a:r>
              <a:rPr sz="1000">
                <a:solidFill>
                  <a:srgbClr val="E6E6E6"/>
                </a:solidFill>
                <a:latin typeface="Courier New"/>
              </a:rPr>
              <a:t>python 05_yolo_camara.py</a:t>
            </a:r>
          </a:p>
          <a:p>
            <a:pPr>
              <a:spcAft>
                <a:spcPts val="0"/>
              </a:spcAft>
            </a:pPr>
            <a:r>
              <a:rPr sz="1000">
                <a:solidFill>
                  <a:srgbClr val="E6E6E6"/>
                </a:solidFill>
                <a:latin typeface="Courier New"/>
              </a:rPr>
              <a:t>  http://IP:81/stream</a:t>
            </a:r>
          </a:p>
        </p:txBody>
      </p:sp>
      <p:sp>
        <p:nvSpPr>
          <p:cNvPr id="25" name="Rounded Rectangle 24"/>
          <p:cNvSpPr/>
          <p:nvPr/>
        </p:nvSpPr>
        <p:spPr>
          <a:xfrm>
            <a:off x="457200" y="4434840"/>
            <a:ext cx="8229600" cy="91440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85800" y="4434840"/>
            <a:ext cx="7772400" cy="914400"/>
          </a:xfrm>
          <a:prstGeom prst="rect">
            <a:avLst/>
          </a:prstGeom>
          <a:noFill/>
        </p:spPr>
        <p:txBody>
          <a:bodyPr wrap="square" anchor="ctr">
            <a:spAutoFit/>
          </a:bodyPr>
          <a:lstStyle/>
          <a:p>
            <a:pPr algn="l">
              <a:spcAft>
                <a:spcPts val="600"/>
              </a:spcAft>
            </a:pPr>
            <a:r>
              <a:rPr sz="1500" b="0" i="0">
                <a:solidFill>
                  <a:srgbClr val="262626"/>
                </a:solidFill>
                <a:latin typeface="Calibri"/>
              </a:rPr>
              <a:t>La ESP32-CAM </a:t>
            </a:r>
            <a:r>
              <a:rPr sz="1500" b="1" i="0">
                <a:solidFill>
                  <a:srgbClr val="262626"/>
                </a:solidFill>
                <a:latin typeface="Calibri"/>
              </a:rPr>
              <a:t>solo envía la imagen</a:t>
            </a:r>
            <a:r>
              <a:rPr sz="1500" b="0" i="0">
                <a:solidFill>
                  <a:srgbClr val="262626"/>
                </a:solidFill>
                <a:latin typeface="Calibri"/>
              </a:rPr>
              <a:t> por WiFi. YOLO se ejecuta en el notebook o en la Raspberry Pi: la cámara está donde se necesita y el cómputo, donde hay potencia.</a:t>
            </a:r>
          </a:p>
        </p:txBody>
      </p:sp>
      <p:sp>
        <p:nvSpPr>
          <p:cNvPr id="27" name="TextBox 26"/>
          <p:cNvSpPr txBox="1"/>
          <p:nvPr/>
        </p:nvSpPr>
        <p:spPr>
          <a:xfrm>
            <a:off x="457200" y="5532120"/>
            <a:ext cx="8229600" cy="731520"/>
          </a:xfrm>
          <a:prstGeom prst="rect">
            <a:avLst/>
          </a:prstGeom>
          <a:noFill/>
        </p:spPr>
        <p:txBody>
          <a:bodyPr wrap="square" anchor="t">
            <a:spAutoFit/>
          </a:bodyPr>
          <a:lstStyle/>
          <a:p>
            <a:pPr marL="228600" indent="-201168" algn="l">
              <a:spcAft>
                <a:spcPts val="300"/>
              </a:spcAft>
              <a:buClr>
                <a:srgbClr val="8E1B1B"/>
              </a:buClr>
              <a:buFont typeface="Arial"/>
              <a:buChar char="•"/>
            </a:pPr>
            <a:r>
              <a:rPr sz="1300" b="0" i="0">
                <a:solidFill>
                  <a:srgbClr val="262626"/>
                </a:solidFill>
                <a:latin typeface="Calibri"/>
              </a:rPr>
              <a:t>La AI Thinker no trae USB: se programa con un adaptador USB-serial o una base ESP32-CAM-MB.</a:t>
            </a:r>
          </a:p>
          <a:p>
            <a:pPr marL="228600" indent="-201168" algn="l">
              <a:spcAft>
                <a:spcPts val="300"/>
              </a:spcAft>
              <a:buClr>
                <a:srgbClr val="8E1B1B"/>
              </a:buClr>
              <a:buFont typeface="Arial"/>
              <a:buChar char="•"/>
            </a:pPr>
            <a:r>
              <a:rPr sz="1300" b="0" i="0">
                <a:solidFill>
                  <a:srgbClr val="262626"/>
                </a:solidFill>
                <a:latin typeface="Calibri"/>
              </a:rPr>
              <a:t>Si el video se corta, baja la resolución desde la página de la cámara.</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23272E"/>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Momento de código 6</a:t>
            </a:r>
          </a:p>
        </p:txBody>
      </p:sp>
      <p:sp>
        <p:nvSpPr>
          <p:cNvPr id="5" name="Oval 4"/>
          <p:cNvSpPr/>
          <p:nvPr/>
        </p:nvSpPr>
        <p:spPr>
          <a:xfrm>
            <a:off x="457200" y="105156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aptop_w.png"/>
          <p:cNvPicPr>
            <a:picLocks noChangeAspect="1"/>
          </p:cNvPicPr>
          <p:nvPr/>
        </p:nvPicPr>
        <p:blipFill>
          <a:blip r:embed="rId4"/>
          <a:stretch>
            <a:fillRect/>
          </a:stretch>
        </p:blipFill>
        <p:spPr>
          <a:xfrm>
            <a:off x="598017" y="1192377"/>
            <a:ext cx="358444" cy="358444"/>
          </a:xfrm>
          <a:prstGeom prst="rect">
            <a:avLst/>
          </a:prstGeom>
        </p:spPr>
      </p:pic>
      <p:sp>
        <p:nvSpPr>
          <p:cNvPr id="7" name="TextBox 6"/>
          <p:cNvSpPr txBox="1"/>
          <p:nvPr/>
        </p:nvSpPr>
        <p:spPr>
          <a:xfrm>
            <a:off x="1234440" y="1024128"/>
            <a:ext cx="5120640" cy="365760"/>
          </a:xfrm>
          <a:prstGeom prst="rect">
            <a:avLst/>
          </a:prstGeom>
          <a:noFill/>
        </p:spPr>
        <p:txBody>
          <a:bodyPr wrap="square" lIns="0" tIns="0" rIns="0" bIns="0" anchor="t">
            <a:spAutoFit/>
          </a:bodyPr>
          <a:lstStyle/>
          <a:p>
            <a:pPr algn="l">
              <a:spcAft>
                <a:spcPts val="600"/>
              </a:spcAft>
            </a:pPr>
            <a:r>
              <a:rPr sz="1300" b="1" i="0">
                <a:solidFill>
                  <a:srgbClr val="F2C14E"/>
                </a:solidFill>
                <a:latin typeface="Calibri"/>
              </a:rPr>
              <a:t>AHORA EN TU COMPUTADOR</a:t>
            </a:r>
          </a:p>
        </p:txBody>
      </p:sp>
      <p:sp>
        <p:nvSpPr>
          <p:cNvPr id="8" name="TextBox 7"/>
          <p:cNvSpPr txBox="1"/>
          <p:nvPr/>
        </p:nvSpPr>
        <p:spPr>
          <a:xfrm>
            <a:off x="1234440" y="1344168"/>
            <a:ext cx="5394960" cy="411480"/>
          </a:xfrm>
          <a:prstGeom prst="rect">
            <a:avLst/>
          </a:prstGeom>
          <a:noFill/>
        </p:spPr>
        <p:txBody>
          <a:bodyPr wrap="square" lIns="0" tIns="0" rIns="0" bIns="0" anchor="t">
            <a:spAutoFit/>
          </a:bodyPr>
          <a:lstStyle/>
          <a:p>
            <a:pPr algn="l">
              <a:spcAft>
                <a:spcPts val="600"/>
              </a:spcAft>
            </a:pPr>
            <a:r>
              <a:rPr sz="2200" b="1" i="0">
                <a:solidFill>
                  <a:srgbClr val="FFFFFF"/>
                </a:solidFill>
                <a:latin typeface="Courier New"/>
              </a:rPr>
              <a:t>ESP32-CAM como cámara</a:t>
            </a:r>
          </a:p>
        </p:txBody>
      </p:sp>
      <p:sp>
        <p:nvSpPr>
          <p:cNvPr id="9" name="Rounded Rectangle 8"/>
          <p:cNvSpPr/>
          <p:nvPr/>
        </p:nvSpPr>
        <p:spPr>
          <a:xfrm>
            <a:off x="6720840" y="1051560"/>
            <a:ext cx="1965960" cy="6400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imer_w.png"/>
          <p:cNvPicPr>
            <a:picLocks noChangeAspect="1"/>
          </p:cNvPicPr>
          <p:nvPr/>
        </p:nvPicPr>
        <p:blipFill>
          <a:blip r:embed="rId5"/>
          <a:stretch>
            <a:fillRect/>
          </a:stretch>
        </p:blipFill>
        <p:spPr>
          <a:xfrm>
            <a:off x="6858000" y="1143000"/>
            <a:ext cx="457200" cy="457200"/>
          </a:xfrm>
          <a:prstGeom prst="rect">
            <a:avLst/>
          </a:prstGeom>
        </p:spPr>
      </p:pic>
      <p:sp>
        <p:nvSpPr>
          <p:cNvPr id="11" name="TextBox 10"/>
          <p:cNvSpPr txBox="1"/>
          <p:nvPr/>
        </p:nvSpPr>
        <p:spPr>
          <a:xfrm>
            <a:off x="7360920" y="1051560"/>
            <a:ext cx="1280160" cy="640080"/>
          </a:xfrm>
          <a:prstGeom prst="rect">
            <a:avLst/>
          </a:prstGeom>
          <a:noFill/>
        </p:spPr>
        <p:txBody>
          <a:bodyPr wrap="square" lIns="0" tIns="0" rIns="0" bIns="0" anchor="ctr">
            <a:spAutoFit/>
          </a:bodyPr>
          <a:lstStyle/>
          <a:p>
            <a:pPr algn="l">
              <a:spcAft>
                <a:spcPts val="600"/>
              </a:spcAft>
            </a:pPr>
            <a:r>
              <a:rPr sz="1700" b="1" i="0">
                <a:solidFill>
                  <a:srgbClr val="FFFFFF"/>
                </a:solidFill>
                <a:latin typeface="Calibri"/>
              </a:rPr>
              <a:t>≈ 10 min</a:t>
            </a:r>
          </a:p>
        </p:txBody>
      </p:sp>
      <p:sp>
        <p:nvSpPr>
          <p:cNvPr id="12" name="TextBox 11"/>
          <p:cNvSpPr txBox="1"/>
          <p:nvPr/>
        </p:nvSpPr>
        <p:spPr>
          <a:xfrm>
            <a:off x="457200" y="1874519"/>
            <a:ext cx="8229600" cy="457200"/>
          </a:xfrm>
          <a:prstGeom prst="rect">
            <a:avLst/>
          </a:prstGeom>
          <a:noFill/>
        </p:spPr>
        <p:txBody>
          <a:bodyPr wrap="square" lIns="0" tIns="0" rIns="0" bIns="0" anchor="t">
            <a:spAutoFit/>
          </a:bodyPr>
          <a:lstStyle/>
          <a:p>
            <a:pPr algn="l">
              <a:spcAft>
                <a:spcPts val="600"/>
              </a:spcAft>
            </a:pPr>
            <a:r>
              <a:rPr sz="1500" b="0" i="0">
                <a:solidFill>
                  <a:srgbClr val="D9DDE3"/>
                </a:solidFill>
                <a:latin typeface="Calibri"/>
              </a:rPr>
              <a:t>Reemplazar la webcam por la ESP32-CAM sin cambiar el código.</a:t>
            </a:r>
          </a:p>
        </p:txBody>
      </p:sp>
      <p:sp>
        <p:nvSpPr>
          <p:cNvPr id="13" name="Rounded Rectangle 12"/>
          <p:cNvSpPr/>
          <p:nvPr/>
        </p:nvSpPr>
        <p:spPr>
          <a:xfrm>
            <a:off x="457200" y="2377440"/>
            <a:ext cx="8229600" cy="850392"/>
          </a:xfrm>
          <a:prstGeom prst="roundRect">
            <a:avLst>
              <a:gd name="adj" fmla="val 8000"/>
            </a:avLst>
          </a:prstGeom>
          <a:solidFill>
            <a:srgbClr val="141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2395728"/>
            <a:ext cx="7863840" cy="822959"/>
          </a:xfrm>
          <a:prstGeom prst="rect">
            <a:avLst/>
          </a:prstGeom>
          <a:noFill/>
        </p:spPr>
        <p:txBody>
          <a:bodyPr wrap="square" lIns="18288" tIns="18288" rIns="18288" bIns="18288" anchor="ctr">
            <a:spAutoFit/>
          </a:bodyPr>
          <a:lstStyle/>
          <a:p>
            <a:pPr algn="l">
              <a:spcAft>
                <a:spcPts val="0"/>
              </a:spcAft>
            </a:pPr>
            <a:r>
              <a:rPr sz="1400" b="0" i="0">
                <a:solidFill>
                  <a:srgbClr val="9FE29F"/>
                </a:solidFill>
                <a:latin typeface="Courier New"/>
              </a:rPr>
              <a:t>$ python 01_ver_camara.py http://IP:81/stream</a:t>
            </a:r>
          </a:p>
          <a:p>
            <a:pPr algn="l">
              <a:spcAft>
                <a:spcPts val="0"/>
              </a:spcAft>
            </a:pPr>
            <a:r>
              <a:rPr sz="1400" b="0" i="0">
                <a:solidFill>
                  <a:srgbClr val="9FE29F"/>
                </a:solidFill>
                <a:latin typeface="Courier New"/>
              </a:rPr>
              <a:t>$ python 05_yolo_camara.py http://IP:81/stream</a:t>
            </a:r>
          </a:p>
        </p:txBody>
      </p:sp>
      <p:sp>
        <p:nvSpPr>
          <p:cNvPr id="15" name="TextBox 14"/>
          <p:cNvSpPr txBox="1"/>
          <p:nvPr/>
        </p:nvSpPr>
        <p:spPr>
          <a:xfrm>
            <a:off x="457200" y="3383280"/>
            <a:ext cx="8229600" cy="365760"/>
          </a:xfrm>
          <a:prstGeom prst="rect">
            <a:avLst/>
          </a:prstGeom>
          <a:noFill/>
        </p:spPr>
        <p:txBody>
          <a:bodyPr wrap="square" lIns="0" tIns="0" rIns="0" bIns="0" anchor="t">
            <a:spAutoFit/>
          </a:bodyPr>
          <a:lstStyle/>
          <a:p>
            <a:pPr algn="l">
              <a:spcAft>
                <a:spcPts val="600"/>
              </a:spcAft>
            </a:pPr>
            <a:r>
              <a:rPr sz="1500" b="1" i="0">
                <a:solidFill>
                  <a:srgbClr val="F2C14E"/>
                </a:solidFill>
                <a:latin typeface="Calibri"/>
              </a:rPr>
              <a:t>Prueba esto:</a:t>
            </a:r>
          </a:p>
        </p:txBody>
      </p:sp>
      <p:sp>
        <p:nvSpPr>
          <p:cNvPr id="16" name="Rounded Rectangle 15"/>
          <p:cNvSpPr/>
          <p:nvPr/>
        </p:nvSpPr>
        <p:spPr>
          <a:xfrm>
            <a:off x="457200" y="379476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94360" y="395020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395020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1</a:t>
            </a:r>
          </a:p>
        </p:txBody>
      </p:sp>
      <p:sp>
        <p:nvSpPr>
          <p:cNvPr id="19" name="TextBox 18"/>
          <p:cNvSpPr txBox="1"/>
          <p:nvPr/>
        </p:nvSpPr>
        <p:spPr>
          <a:xfrm>
            <a:off x="1097280" y="379476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Cambia la resolución en la página </a:t>
            </a:r>
            <a:r>
              <a:rPr sz="1300" b="0" i="0">
                <a:solidFill>
                  <a:srgbClr val="FFFFFF"/>
                </a:solidFill>
                <a:latin typeface="Courier New"/>
              </a:rPr>
              <a:t>http://IP</a:t>
            </a:r>
            <a:r>
              <a:rPr sz="1400" b="0" i="0">
                <a:solidFill>
                  <a:srgbClr val="FFFFFF"/>
                </a:solidFill>
                <a:latin typeface="Calibri"/>
              </a:rPr>
              <a:t> y compara los FPS con los de la webcam.</a:t>
            </a:r>
          </a:p>
        </p:txBody>
      </p:sp>
      <p:sp>
        <p:nvSpPr>
          <p:cNvPr id="20" name="Rounded Rectangle 19"/>
          <p:cNvSpPr/>
          <p:nvPr/>
        </p:nvSpPr>
        <p:spPr>
          <a:xfrm>
            <a:off x="457200" y="452628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594360" y="468172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94360" y="468172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2</a:t>
            </a:r>
          </a:p>
        </p:txBody>
      </p:sp>
      <p:sp>
        <p:nvSpPr>
          <p:cNvPr id="23" name="TextBox 22"/>
          <p:cNvSpPr txBox="1"/>
          <p:nvPr/>
        </p:nvSpPr>
        <p:spPr>
          <a:xfrm>
            <a:off x="1097280" y="452628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Ubica la ESP32-CAM donde la pondrían en su proyecto: ¿detecta bien desde ahí?</a:t>
            </a:r>
          </a:p>
        </p:txBody>
      </p:sp>
      <p:sp>
        <p:nvSpPr>
          <p:cNvPr id="24" name="Rounded Rectangle 23"/>
          <p:cNvSpPr/>
          <p:nvPr/>
        </p:nvSpPr>
        <p:spPr>
          <a:xfrm>
            <a:off x="457200" y="525780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594360" y="541324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4360" y="541324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3</a:t>
            </a:r>
          </a:p>
        </p:txBody>
      </p:sp>
      <p:sp>
        <p:nvSpPr>
          <p:cNvPr id="27" name="TextBox 26"/>
          <p:cNvSpPr txBox="1"/>
          <p:nvPr/>
        </p:nvSpPr>
        <p:spPr>
          <a:xfrm>
            <a:off x="1097280" y="525780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Sistema completo: </a:t>
            </a:r>
            <a:r>
              <a:rPr sz="1300" b="0" i="0">
                <a:solidFill>
                  <a:srgbClr val="FFFFFF"/>
                </a:solidFill>
                <a:latin typeface="Courier New"/>
              </a:rPr>
              <a:t>python 07_yolo_esp32.py http://IP:81/stream</a:t>
            </a:r>
            <a:r>
              <a:rPr sz="1400" b="0" i="0">
                <a:solidFill>
                  <a:srgbClr val="FFFFFF"/>
                </a:solidFill>
                <a:latin typeface="Calibri"/>
              </a:rPr>
              <a:t> → la ESP32-CAM ve, el notebook decide, el ESP32 actúa.</a:t>
            </a:r>
          </a:p>
        </p:txBody>
      </p:sp>
      <p:sp>
        <p:nvSpPr>
          <p:cNvPr id="28" name="TextBox 27"/>
          <p:cNvSpPr txBox="1"/>
          <p:nvPr/>
        </p:nvSpPr>
        <p:spPr>
          <a:xfrm>
            <a:off x="457200" y="6053328"/>
            <a:ext cx="8229600" cy="411480"/>
          </a:xfrm>
          <a:prstGeom prst="rect">
            <a:avLst/>
          </a:prstGeom>
          <a:noFill/>
        </p:spPr>
        <p:txBody>
          <a:bodyPr wrap="square" lIns="0" tIns="0" rIns="0" bIns="0" anchor="t">
            <a:spAutoFit/>
          </a:bodyPr>
          <a:lstStyle/>
          <a:p>
            <a:pPr algn="l">
              <a:spcAft>
                <a:spcPts val="600"/>
              </a:spcAft>
            </a:pPr>
            <a:r>
              <a:rPr sz="1200" b="0" i="1">
                <a:solidFill>
                  <a:srgbClr val="AEB4BD"/>
                </a:solidFill>
                <a:latin typeface="Calibri"/>
              </a:rPr>
              <a:t>Si aún no llegan las ESP32-CAM, usen el celular como cámara por WiFi: es exactamente el mismo flujo.</a:t>
            </a:r>
          </a:p>
        </p:txBody>
      </p:sp>
      <p:sp>
        <p:nvSpPr>
          <p:cNvPr id="29" name="TextBox 28"/>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8A9099"/>
                </a:solidFill>
                <a:latin typeface="Calibri"/>
              </a:rPr>
              <a:t>Tecnologías Disruptivas  ·  Escuela de Informática  ·  Universidad Andrés Bello</a:t>
            </a:r>
          </a:p>
        </p:txBody>
      </p:sp>
      <p:sp>
        <p:nvSpPr>
          <p:cNvPr id="30" name="TextBox 29"/>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8A9099"/>
                </a:solidFill>
                <a:latin typeface="Calibri"/>
              </a:rP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Extensión · El detector como servicio web</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48</a:t>
            </a:r>
          </a:p>
        </p:txBody>
      </p:sp>
      <p:sp>
        <p:nvSpPr>
          <p:cNvPr id="7" name="Rounded Rectangle 6"/>
          <p:cNvSpPr/>
          <p:nvPr/>
        </p:nvSpPr>
        <p:spPr>
          <a:xfrm>
            <a:off x="457200" y="1097280"/>
            <a:ext cx="5120640" cy="365760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4360" y="1152144"/>
            <a:ext cx="4846320"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yolo_api.py</a:t>
            </a:r>
          </a:p>
        </p:txBody>
      </p:sp>
      <p:sp>
        <p:nvSpPr>
          <p:cNvPr id="9" name="Codigo"/>
          <p:cNvSpPr txBox="1"/>
          <p:nvPr/>
        </p:nvSpPr>
        <p:spPr>
          <a:xfrm>
            <a:off x="594360" y="1444752"/>
            <a:ext cx="4846320" cy="3273552"/>
          </a:xfrm>
          <a:prstGeom prst="rect">
            <a:avLst/>
          </a:prstGeom>
          <a:noFill/>
        </p:spPr>
        <p:txBody>
          <a:bodyPr wrap="square" lIns="0" tIns="0" rIns="0" bIns="0">
            <a:spAutoFit/>
          </a:bodyPr>
          <a:lstStyle/>
          <a:p>
            <a:pPr>
              <a:spcAft>
                <a:spcPts val="0"/>
              </a:spcAft>
            </a:pPr>
            <a:r>
              <a:rPr sz="1000">
                <a:solidFill>
                  <a:srgbClr val="E6E6E6"/>
                </a:solidFill>
                <a:latin typeface="Courier New"/>
              </a:rPr>
              <a:t>app = FastAPI(title="Detector de objetos YOLO")</a:t>
            </a:r>
          </a:p>
          <a:p>
            <a:pPr>
              <a:spcAft>
                <a:spcPts val="0"/>
              </a:spcAft>
            </a:pPr>
            <a:r>
              <a:rPr sz="1000">
                <a:solidFill>
                  <a:srgbClr val="E6E6E6"/>
                </a:solidFill>
                <a:latin typeface="Courier New"/>
              </a:rPr>
              <a:t>modelo = YOLO("yolo26n.pt")</a:t>
            </a:r>
          </a:p>
          <a:p>
            <a:pPr>
              <a:spcAft>
                <a:spcPts val="0"/>
              </a:spcAft>
            </a:pPr>
            <a:r>
              <a:rPr sz="1000">
                <a:solidFill>
                  <a:srgbClr val="E6E6E6"/>
                </a:solidFill>
                <a:latin typeface="Courier New"/>
              </a:rPr>
              <a:t> </a:t>
            </a:r>
          </a:p>
          <a:p>
            <a:pPr>
              <a:spcAft>
                <a:spcPts val="0"/>
              </a:spcAft>
            </a:pPr>
            <a:r>
              <a:rPr sz="1000">
                <a:solidFill>
                  <a:srgbClr val="E6E6E6"/>
                </a:solidFill>
                <a:latin typeface="Courier New"/>
              </a:rPr>
              <a:t>@app.post("/detectar/")</a:t>
            </a:r>
          </a:p>
          <a:p>
            <a:pPr>
              <a:spcAft>
                <a:spcPts val="0"/>
              </a:spcAft>
            </a:pPr>
            <a:r>
              <a:rPr sz="1000">
                <a:solidFill>
                  <a:srgbClr val="E6E6E6"/>
                </a:solidFill>
                <a:latin typeface="Courier New"/>
              </a:rPr>
              <a:t>async def detectar(file: UploadFile = File(...)):</a:t>
            </a:r>
          </a:p>
          <a:p>
            <a:pPr>
              <a:spcAft>
                <a:spcPts val="0"/>
              </a:spcAft>
            </a:pPr>
            <a:r>
              <a:rPr sz="1000">
                <a:solidFill>
                  <a:srgbClr val="E6E6E6"/>
                </a:solidFill>
                <a:latin typeface="Courier New"/>
              </a:rPr>
              <a:t>    datos = np.frombuffer(await file.read(), np.uint8)</a:t>
            </a:r>
          </a:p>
          <a:p>
            <a:pPr>
              <a:spcAft>
                <a:spcPts val="0"/>
              </a:spcAft>
            </a:pPr>
            <a:r>
              <a:rPr sz="1000">
                <a:solidFill>
                  <a:srgbClr val="E6E6E6"/>
                </a:solidFill>
                <a:latin typeface="Courier New"/>
              </a:rPr>
              <a:t>    img = cv2.imdecode(datos, cv2.IMREAD_COLOR)</a:t>
            </a:r>
          </a:p>
          <a:p>
            <a:pPr>
              <a:spcAft>
                <a:spcPts val="0"/>
              </a:spcAft>
            </a:pPr>
            <a:r>
              <a:rPr sz="1000">
                <a:solidFill>
                  <a:srgbClr val="E6E6E6"/>
                </a:solidFill>
                <a:latin typeface="Courier New"/>
              </a:rPr>
              <a:t>    r = modelo(img, conf=0.5, verbose=False)[0]</a:t>
            </a:r>
          </a:p>
          <a:p>
            <a:pPr>
              <a:spcAft>
                <a:spcPts val="0"/>
              </a:spcAft>
            </a:pPr>
            <a:r>
              <a:rPr sz="1000">
                <a:solidFill>
                  <a:srgbClr val="E6E6E6"/>
                </a:solidFill>
                <a:latin typeface="Courier New"/>
              </a:rPr>
              <a:t>    return {"objetos": [</a:t>
            </a:r>
          </a:p>
          <a:p>
            <a:pPr>
              <a:spcAft>
                <a:spcPts val="0"/>
              </a:spcAft>
            </a:pPr>
            <a:r>
              <a:rPr sz="1000">
                <a:solidFill>
                  <a:srgbClr val="E6E6E6"/>
                </a:solidFill>
                <a:latin typeface="Courier New"/>
              </a:rPr>
              <a:t>        {"clase": modelo.names[int(c.cls)],</a:t>
            </a:r>
          </a:p>
          <a:p>
            <a:pPr>
              <a:spcAft>
                <a:spcPts val="0"/>
              </a:spcAft>
            </a:pPr>
            <a:r>
              <a:rPr sz="1000">
                <a:solidFill>
                  <a:srgbClr val="E6E6E6"/>
                </a:solidFill>
                <a:latin typeface="Courier New"/>
              </a:rPr>
              <a:t>         "confianza": round(float(c.conf), 2),</a:t>
            </a:r>
          </a:p>
          <a:p>
            <a:pPr>
              <a:spcAft>
                <a:spcPts val="0"/>
              </a:spcAft>
            </a:pPr>
            <a:r>
              <a:rPr sz="1000">
                <a:solidFill>
                  <a:srgbClr val="E6E6E6"/>
                </a:solidFill>
                <a:latin typeface="Courier New"/>
              </a:rPr>
              <a:t>         "caja": [int(v) for v in c.xyxy[0]]}</a:t>
            </a:r>
          </a:p>
          <a:p>
            <a:pPr>
              <a:spcAft>
                <a:spcPts val="0"/>
              </a:spcAft>
            </a:pPr>
            <a:r>
              <a:rPr sz="1000">
                <a:solidFill>
                  <a:srgbClr val="E6E6E6"/>
                </a:solidFill>
                <a:latin typeface="Courier New"/>
              </a:rPr>
              <a:t>        for c in r.boxes]}</a:t>
            </a:r>
          </a:p>
        </p:txBody>
      </p:sp>
      <p:sp>
        <p:nvSpPr>
          <p:cNvPr id="10" name="Rounded Rectangle 9"/>
          <p:cNvSpPr/>
          <p:nvPr/>
        </p:nvSpPr>
        <p:spPr>
          <a:xfrm>
            <a:off x="5760720" y="1097280"/>
            <a:ext cx="2926080" cy="210312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897880" y="1152144"/>
            <a:ext cx="2651760"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respuesta JSON</a:t>
            </a:r>
          </a:p>
        </p:txBody>
      </p:sp>
      <p:sp>
        <p:nvSpPr>
          <p:cNvPr id="12" name="Codigo"/>
          <p:cNvSpPr txBox="1"/>
          <p:nvPr/>
        </p:nvSpPr>
        <p:spPr>
          <a:xfrm>
            <a:off x="5897880" y="1444752"/>
            <a:ext cx="2651760" cy="1719072"/>
          </a:xfrm>
          <a:prstGeom prst="rect">
            <a:avLst/>
          </a:prstGeom>
          <a:noFill/>
        </p:spPr>
        <p:txBody>
          <a:bodyPr wrap="square" lIns="0" tIns="0" rIns="0" bIns="0">
            <a:spAutoFit/>
          </a:bodyPr>
          <a:lstStyle/>
          <a:p>
            <a:pPr>
              <a:spcAft>
                <a:spcPts val="0"/>
              </a:spcAft>
            </a:pPr>
            <a:r>
              <a:rPr sz="1000">
                <a:solidFill>
                  <a:srgbClr val="E6E6E6"/>
                </a:solidFill>
                <a:latin typeface="Courier New"/>
              </a:rPr>
              <a:t>{"objetos": [</a:t>
            </a:r>
          </a:p>
          <a:p>
            <a:pPr>
              <a:spcAft>
                <a:spcPts val="0"/>
              </a:spcAft>
            </a:pPr>
            <a:r>
              <a:rPr sz="1000">
                <a:solidFill>
                  <a:srgbClr val="E6E6E6"/>
                </a:solidFill>
                <a:latin typeface="Courier New"/>
              </a:rPr>
              <a:t> {"clase": "bus",</a:t>
            </a:r>
          </a:p>
          <a:p>
            <a:pPr>
              <a:spcAft>
                <a:spcPts val="0"/>
              </a:spcAft>
            </a:pPr>
            <a:r>
              <a:rPr sz="1000">
                <a:solidFill>
                  <a:srgbClr val="E6E6E6"/>
                </a:solidFill>
                <a:latin typeface="Courier New"/>
              </a:rPr>
              <a:t>  "confianza": 0.88,</a:t>
            </a:r>
          </a:p>
          <a:p>
            <a:pPr>
              <a:spcAft>
                <a:spcPts val="0"/>
              </a:spcAft>
            </a:pPr>
            <a:r>
              <a:rPr sz="1000">
                <a:solidFill>
                  <a:srgbClr val="E6E6E6"/>
                </a:solidFill>
                <a:latin typeface="Courier New"/>
              </a:rPr>
              <a:t>  "caja": [0,230,803,750]},</a:t>
            </a:r>
          </a:p>
          <a:p>
            <a:pPr>
              <a:spcAft>
                <a:spcPts val="0"/>
              </a:spcAft>
            </a:pPr>
            <a:r>
              <a:rPr sz="1000">
                <a:solidFill>
                  <a:srgbClr val="E6E6E6"/>
                </a:solidFill>
                <a:latin typeface="Courier New"/>
              </a:rPr>
              <a:t> {"clase": "person",</a:t>
            </a:r>
          </a:p>
          <a:p>
            <a:pPr>
              <a:spcAft>
                <a:spcPts val="0"/>
              </a:spcAft>
            </a:pPr>
            <a:r>
              <a:rPr sz="1000">
                <a:solidFill>
                  <a:srgbClr val="E6E6E6"/>
                </a:solidFill>
                <a:latin typeface="Courier New"/>
              </a:rPr>
              <a:t>  "confianza": 0.87, ...</a:t>
            </a:r>
          </a:p>
        </p:txBody>
      </p:sp>
      <p:sp>
        <p:nvSpPr>
          <p:cNvPr id="13" name="TextBox 12"/>
          <p:cNvSpPr txBox="1"/>
          <p:nvPr/>
        </p:nvSpPr>
        <p:spPr>
          <a:xfrm>
            <a:off x="5760720" y="3337560"/>
            <a:ext cx="2926080" cy="1463040"/>
          </a:xfrm>
          <a:prstGeom prst="rect">
            <a:avLst/>
          </a:prstGeom>
          <a:noFill/>
        </p:spPr>
        <p:txBody>
          <a:bodyPr wrap="square" anchor="t">
            <a:spAutoFit/>
          </a:bodyPr>
          <a:lstStyle/>
          <a:p>
            <a:pPr marL="228600" indent="-201168" algn="l">
              <a:spcAft>
                <a:spcPts val="400"/>
              </a:spcAft>
              <a:buClr>
                <a:srgbClr val="8E1B1B"/>
              </a:buClr>
              <a:buFont typeface="Arial"/>
              <a:buChar char="•"/>
            </a:pPr>
            <a:r>
              <a:rPr sz="1300" b="0" i="0">
                <a:solidFill>
                  <a:srgbClr val="262626"/>
                </a:solidFill>
                <a:latin typeface="Calibri"/>
              </a:rPr>
              <a:t>Abrir </a:t>
            </a:r>
            <a:r>
              <a:rPr sz="1200" b="0" i="0">
                <a:solidFill>
                  <a:srgbClr val="8E1B1B"/>
                </a:solidFill>
                <a:latin typeface="Courier New"/>
              </a:rPr>
              <a:t>http://localhost:8000/docs</a:t>
            </a:r>
          </a:p>
          <a:p>
            <a:pPr marL="228600" indent="-201168" algn="l">
              <a:spcAft>
                <a:spcPts val="400"/>
              </a:spcAft>
              <a:buClr>
                <a:srgbClr val="8E1B1B"/>
              </a:buClr>
              <a:buFont typeface="Arial"/>
              <a:buChar char="•"/>
            </a:pPr>
            <a:r>
              <a:rPr sz="1300" b="0" i="0">
                <a:solidFill>
                  <a:srgbClr val="262626"/>
                </a:solidFill>
                <a:latin typeface="Calibri"/>
              </a:rPr>
              <a:t>Subir una imagen y ejecutar</a:t>
            </a:r>
          </a:p>
        </p:txBody>
      </p:sp>
      <p:sp>
        <p:nvSpPr>
          <p:cNvPr id="14" name="Rounded Rectangle 13"/>
          <p:cNvSpPr/>
          <p:nvPr/>
        </p:nvSpPr>
        <p:spPr>
          <a:xfrm>
            <a:off x="457200" y="4937760"/>
            <a:ext cx="8229600" cy="68580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Codigo"/>
          <p:cNvSpPr txBox="1"/>
          <p:nvPr/>
        </p:nvSpPr>
        <p:spPr>
          <a:xfrm>
            <a:off x="594360" y="5010912"/>
            <a:ext cx="7955279" cy="576072"/>
          </a:xfrm>
          <a:prstGeom prst="rect">
            <a:avLst/>
          </a:prstGeom>
          <a:noFill/>
        </p:spPr>
        <p:txBody>
          <a:bodyPr wrap="square" lIns="0" tIns="0" rIns="0" bIns="0">
            <a:spAutoFit/>
          </a:bodyPr>
          <a:lstStyle/>
          <a:p>
            <a:pPr>
              <a:spcAft>
                <a:spcPts val="0"/>
              </a:spcAft>
            </a:pPr>
            <a:r>
              <a:rPr sz="1100">
                <a:solidFill>
                  <a:srgbClr val="E6E6E6"/>
                </a:solidFill>
                <a:latin typeface="Courier New"/>
              </a:rPr>
              <a:t>pip install fastapi uvicorn python-multipart</a:t>
            </a:r>
          </a:p>
          <a:p>
            <a:pPr>
              <a:spcAft>
                <a:spcPts val="0"/>
              </a:spcAft>
            </a:pPr>
            <a:r>
              <a:rPr sz="1100">
                <a:solidFill>
                  <a:srgbClr val="E6E6E6"/>
                </a:solidFill>
                <a:latin typeface="Courier New"/>
              </a:rPr>
              <a:t>uvicorn yolo_api:app --host 0.0.0.0 --port 8000</a:t>
            </a:r>
          </a:p>
        </p:txBody>
      </p:sp>
      <p:sp>
        <p:nvSpPr>
          <p:cNvPr id="16" name="Rounded Rectangle 15"/>
          <p:cNvSpPr/>
          <p:nvPr/>
        </p:nvSpPr>
        <p:spPr>
          <a:xfrm>
            <a:off x="457200" y="5760720"/>
            <a:ext cx="8229600" cy="5486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85800" y="5760720"/>
            <a:ext cx="7772400" cy="548640"/>
          </a:xfrm>
          <a:prstGeom prst="rect">
            <a:avLst/>
          </a:prstGeom>
          <a:noFill/>
        </p:spPr>
        <p:txBody>
          <a:bodyPr wrap="square" anchor="ctr">
            <a:spAutoFit/>
          </a:bodyPr>
          <a:lstStyle/>
          <a:p>
            <a:pPr algn="l">
              <a:spcAft>
                <a:spcPts val="600"/>
              </a:spcAft>
            </a:pPr>
            <a:r>
              <a:rPr sz="1500" b="0" i="0">
                <a:solidFill>
                  <a:srgbClr val="262626"/>
                </a:solidFill>
                <a:latin typeface="Calibri"/>
              </a:rPr>
              <a:t>Es el </a:t>
            </a:r>
            <a:r>
              <a:rPr sz="1500" b="1" i="0">
                <a:solidFill>
                  <a:srgbClr val="262626"/>
                </a:solidFill>
                <a:latin typeface="Calibri"/>
              </a:rPr>
              <a:t>mismo patrón</a:t>
            </a:r>
            <a:r>
              <a:rPr sz="1500" b="0" i="0">
                <a:solidFill>
                  <a:srgbClr val="262626"/>
                </a:solidFill>
                <a:latin typeface="Calibri"/>
              </a:rPr>
              <a:t> del taller de Docker + TensorFlow (MNIST): cambia el modelo, la API es igual.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23272E"/>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Momento de código 7</a:t>
            </a:r>
          </a:p>
        </p:txBody>
      </p:sp>
      <p:sp>
        <p:nvSpPr>
          <p:cNvPr id="5" name="Oval 4"/>
          <p:cNvSpPr/>
          <p:nvPr/>
        </p:nvSpPr>
        <p:spPr>
          <a:xfrm>
            <a:off x="457200" y="105156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aptop_w.png"/>
          <p:cNvPicPr>
            <a:picLocks noChangeAspect="1"/>
          </p:cNvPicPr>
          <p:nvPr/>
        </p:nvPicPr>
        <p:blipFill>
          <a:blip r:embed="rId4"/>
          <a:stretch>
            <a:fillRect/>
          </a:stretch>
        </p:blipFill>
        <p:spPr>
          <a:xfrm>
            <a:off x="598017" y="1192377"/>
            <a:ext cx="358444" cy="358444"/>
          </a:xfrm>
          <a:prstGeom prst="rect">
            <a:avLst/>
          </a:prstGeom>
        </p:spPr>
      </p:pic>
      <p:sp>
        <p:nvSpPr>
          <p:cNvPr id="7" name="TextBox 6"/>
          <p:cNvSpPr txBox="1"/>
          <p:nvPr/>
        </p:nvSpPr>
        <p:spPr>
          <a:xfrm>
            <a:off x="1234440" y="1024128"/>
            <a:ext cx="5120640" cy="365760"/>
          </a:xfrm>
          <a:prstGeom prst="rect">
            <a:avLst/>
          </a:prstGeom>
          <a:noFill/>
        </p:spPr>
        <p:txBody>
          <a:bodyPr wrap="square" lIns="0" tIns="0" rIns="0" bIns="0" anchor="t">
            <a:spAutoFit/>
          </a:bodyPr>
          <a:lstStyle/>
          <a:p>
            <a:pPr algn="l">
              <a:spcAft>
                <a:spcPts val="600"/>
              </a:spcAft>
            </a:pPr>
            <a:r>
              <a:rPr sz="1300" b="1" i="0">
                <a:solidFill>
                  <a:srgbClr val="F2C14E"/>
                </a:solidFill>
                <a:latin typeface="Calibri"/>
              </a:rPr>
              <a:t>AHORA EN TU COMPUTADOR</a:t>
            </a:r>
          </a:p>
        </p:txBody>
      </p:sp>
      <p:sp>
        <p:nvSpPr>
          <p:cNvPr id="8" name="TextBox 7"/>
          <p:cNvSpPr txBox="1"/>
          <p:nvPr/>
        </p:nvSpPr>
        <p:spPr>
          <a:xfrm>
            <a:off x="1234440" y="1344168"/>
            <a:ext cx="5394960" cy="411480"/>
          </a:xfrm>
          <a:prstGeom prst="rect">
            <a:avLst/>
          </a:prstGeom>
          <a:noFill/>
        </p:spPr>
        <p:txBody>
          <a:bodyPr wrap="square" lIns="0" tIns="0" rIns="0" bIns="0" anchor="t">
            <a:spAutoFit/>
          </a:bodyPr>
          <a:lstStyle/>
          <a:p>
            <a:pPr algn="l">
              <a:spcAft>
                <a:spcPts val="600"/>
              </a:spcAft>
            </a:pPr>
            <a:r>
              <a:rPr sz="2200" b="1" i="0">
                <a:solidFill>
                  <a:srgbClr val="FFFFFF"/>
                </a:solidFill>
                <a:latin typeface="Courier New"/>
              </a:rPr>
              <a:t>yolo_api.py  (opcional)</a:t>
            </a:r>
          </a:p>
        </p:txBody>
      </p:sp>
      <p:sp>
        <p:nvSpPr>
          <p:cNvPr id="9" name="Rounded Rectangle 8"/>
          <p:cNvSpPr/>
          <p:nvPr/>
        </p:nvSpPr>
        <p:spPr>
          <a:xfrm>
            <a:off x="6720840" y="1051560"/>
            <a:ext cx="1965960" cy="640080"/>
          </a:xfrm>
          <a:prstGeom prst="roundRect">
            <a:avLst>
              <a:gd name="adj" fmla="val 6000"/>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timer_w.png"/>
          <p:cNvPicPr>
            <a:picLocks noChangeAspect="1"/>
          </p:cNvPicPr>
          <p:nvPr/>
        </p:nvPicPr>
        <p:blipFill>
          <a:blip r:embed="rId5"/>
          <a:stretch>
            <a:fillRect/>
          </a:stretch>
        </p:blipFill>
        <p:spPr>
          <a:xfrm>
            <a:off x="6858000" y="1143000"/>
            <a:ext cx="457200" cy="457200"/>
          </a:xfrm>
          <a:prstGeom prst="rect">
            <a:avLst/>
          </a:prstGeom>
        </p:spPr>
      </p:pic>
      <p:sp>
        <p:nvSpPr>
          <p:cNvPr id="11" name="TextBox 10"/>
          <p:cNvSpPr txBox="1"/>
          <p:nvPr/>
        </p:nvSpPr>
        <p:spPr>
          <a:xfrm>
            <a:off x="7360920" y="1051560"/>
            <a:ext cx="1280160" cy="640080"/>
          </a:xfrm>
          <a:prstGeom prst="rect">
            <a:avLst/>
          </a:prstGeom>
          <a:noFill/>
        </p:spPr>
        <p:txBody>
          <a:bodyPr wrap="square" lIns="0" tIns="0" rIns="0" bIns="0" anchor="ctr">
            <a:spAutoFit/>
          </a:bodyPr>
          <a:lstStyle/>
          <a:p>
            <a:pPr algn="l">
              <a:spcAft>
                <a:spcPts val="600"/>
              </a:spcAft>
            </a:pPr>
            <a:r>
              <a:rPr sz="1700" b="1" i="0">
                <a:solidFill>
                  <a:srgbClr val="FFFFFF"/>
                </a:solidFill>
                <a:latin typeface="Calibri"/>
              </a:rPr>
              <a:t>≈ 10 min</a:t>
            </a:r>
          </a:p>
        </p:txBody>
      </p:sp>
      <p:sp>
        <p:nvSpPr>
          <p:cNvPr id="12" name="TextBox 11"/>
          <p:cNvSpPr txBox="1"/>
          <p:nvPr/>
        </p:nvSpPr>
        <p:spPr>
          <a:xfrm>
            <a:off x="457200" y="1874519"/>
            <a:ext cx="8229600" cy="457200"/>
          </a:xfrm>
          <a:prstGeom prst="rect">
            <a:avLst/>
          </a:prstGeom>
          <a:noFill/>
        </p:spPr>
        <p:txBody>
          <a:bodyPr wrap="square" lIns="0" tIns="0" rIns="0" bIns="0" anchor="t">
            <a:spAutoFit/>
          </a:bodyPr>
          <a:lstStyle/>
          <a:p>
            <a:pPr algn="l">
              <a:spcAft>
                <a:spcPts val="600"/>
              </a:spcAft>
            </a:pPr>
            <a:r>
              <a:rPr sz="1500" b="0" i="0">
                <a:solidFill>
                  <a:srgbClr val="D9DDE3"/>
                </a:solidFill>
                <a:latin typeface="Calibri"/>
              </a:rPr>
              <a:t>Poner el detector detrás de una API y que otro grupo lo use.</a:t>
            </a:r>
          </a:p>
        </p:txBody>
      </p:sp>
      <p:sp>
        <p:nvSpPr>
          <p:cNvPr id="13" name="Rounded Rectangle 12"/>
          <p:cNvSpPr/>
          <p:nvPr/>
        </p:nvSpPr>
        <p:spPr>
          <a:xfrm>
            <a:off x="457200" y="2377440"/>
            <a:ext cx="8229600" cy="850392"/>
          </a:xfrm>
          <a:prstGeom prst="roundRect">
            <a:avLst>
              <a:gd name="adj" fmla="val 8000"/>
            </a:avLst>
          </a:prstGeom>
          <a:solidFill>
            <a:srgbClr val="141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2395728"/>
            <a:ext cx="7863840" cy="822959"/>
          </a:xfrm>
          <a:prstGeom prst="rect">
            <a:avLst/>
          </a:prstGeom>
          <a:noFill/>
        </p:spPr>
        <p:txBody>
          <a:bodyPr wrap="square" lIns="18288" tIns="18288" rIns="18288" bIns="18288" anchor="ctr">
            <a:spAutoFit/>
          </a:bodyPr>
          <a:lstStyle/>
          <a:p>
            <a:pPr algn="l">
              <a:spcAft>
                <a:spcPts val="0"/>
              </a:spcAft>
            </a:pPr>
            <a:r>
              <a:rPr sz="1400" b="0" i="0">
                <a:solidFill>
                  <a:srgbClr val="9FE29F"/>
                </a:solidFill>
                <a:latin typeface="Courier New"/>
              </a:rPr>
              <a:t>$ pip install fastapi uvicorn python-multipart</a:t>
            </a:r>
          </a:p>
          <a:p>
            <a:pPr algn="l">
              <a:spcAft>
                <a:spcPts val="0"/>
              </a:spcAft>
            </a:pPr>
            <a:r>
              <a:rPr sz="1400" b="0" i="0">
                <a:solidFill>
                  <a:srgbClr val="9FE29F"/>
                </a:solidFill>
                <a:latin typeface="Courier New"/>
              </a:rPr>
              <a:t>$ uvicorn yolo_api:app --host 0.0.0.0 --port 8000</a:t>
            </a:r>
          </a:p>
        </p:txBody>
      </p:sp>
      <p:sp>
        <p:nvSpPr>
          <p:cNvPr id="15" name="TextBox 14"/>
          <p:cNvSpPr txBox="1"/>
          <p:nvPr/>
        </p:nvSpPr>
        <p:spPr>
          <a:xfrm>
            <a:off x="457200" y="3383280"/>
            <a:ext cx="8229600" cy="365760"/>
          </a:xfrm>
          <a:prstGeom prst="rect">
            <a:avLst/>
          </a:prstGeom>
          <a:noFill/>
        </p:spPr>
        <p:txBody>
          <a:bodyPr wrap="square" lIns="0" tIns="0" rIns="0" bIns="0" anchor="t">
            <a:spAutoFit/>
          </a:bodyPr>
          <a:lstStyle/>
          <a:p>
            <a:pPr algn="l">
              <a:spcAft>
                <a:spcPts val="600"/>
              </a:spcAft>
            </a:pPr>
            <a:r>
              <a:rPr sz="1500" b="1" i="0">
                <a:solidFill>
                  <a:srgbClr val="F2C14E"/>
                </a:solidFill>
                <a:latin typeface="Calibri"/>
              </a:rPr>
              <a:t>Prueba esto:</a:t>
            </a:r>
          </a:p>
        </p:txBody>
      </p:sp>
      <p:sp>
        <p:nvSpPr>
          <p:cNvPr id="16" name="Rounded Rectangle 15"/>
          <p:cNvSpPr/>
          <p:nvPr/>
        </p:nvSpPr>
        <p:spPr>
          <a:xfrm>
            <a:off x="457200" y="379476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94360" y="395020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395020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1</a:t>
            </a:r>
          </a:p>
        </p:txBody>
      </p:sp>
      <p:sp>
        <p:nvSpPr>
          <p:cNvPr id="19" name="TextBox 18"/>
          <p:cNvSpPr txBox="1"/>
          <p:nvPr/>
        </p:nvSpPr>
        <p:spPr>
          <a:xfrm>
            <a:off x="1097280" y="379476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Abre </a:t>
            </a:r>
            <a:r>
              <a:rPr sz="1300" b="0" i="0">
                <a:solidFill>
                  <a:srgbClr val="FFFFFF"/>
                </a:solidFill>
                <a:latin typeface="Courier New"/>
              </a:rPr>
              <a:t>http://localhost:8000/docs</a:t>
            </a:r>
            <a:r>
              <a:rPr sz="1400" b="0" i="0">
                <a:solidFill>
                  <a:srgbClr val="FFFFFF"/>
                </a:solidFill>
                <a:latin typeface="Calibri"/>
              </a:rPr>
              <a:t>, sube una foto y revisa el JSON de respuesta.</a:t>
            </a:r>
          </a:p>
        </p:txBody>
      </p:sp>
      <p:sp>
        <p:nvSpPr>
          <p:cNvPr id="20" name="Rounded Rectangle 19"/>
          <p:cNvSpPr/>
          <p:nvPr/>
        </p:nvSpPr>
        <p:spPr>
          <a:xfrm>
            <a:off x="457200" y="452628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594360" y="468172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94360" y="468172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2</a:t>
            </a:r>
          </a:p>
        </p:txBody>
      </p:sp>
      <p:sp>
        <p:nvSpPr>
          <p:cNvPr id="23" name="TextBox 22"/>
          <p:cNvSpPr txBox="1"/>
          <p:nvPr/>
        </p:nvSpPr>
        <p:spPr>
          <a:xfrm>
            <a:off x="1097280" y="452628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Comparte tu IP con otro grupo y que ellos usen </a:t>
            </a:r>
            <a:r>
              <a:rPr sz="1400" b="1" i="0">
                <a:solidFill>
                  <a:srgbClr val="FFFFFF"/>
                </a:solidFill>
                <a:latin typeface="Calibri"/>
              </a:rPr>
              <a:t>tu</a:t>
            </a:r>
            <a:r>
              <a:rPr sz="1400" b="0" i="0">
                <a:solidFill>
                  <a:srgbClr val="FFFFFF"/>
                </a:solidFill>
                <a:latin typeface="Calibri"/>
              </a:rPr>
              <a:t> detector desde su computador.</a:t>
            </a:r>
          </a:p>
        </p:txBody>
      </p:sp>
      <p:sp>
        <p:nvSpPr>
          <p:cNvPr id="24" name="Rounded Rectangle 23"/>
          <p:cNvSpPr/>
          <p:nvPr/>
        </p:nvSpPr>
        <p:spPr>
          <a:xfrm>
            <a:off x="457200" y="5257800"/>
            <a:ext cx="8229600" cy="658367"/>
          </a:xfrm>
          <a:prstGeom prst="roundRect">
            <a:avLst>
              <a:gd name="adj" fmla="val 6000"/>
            </a:avLst>
          </a:prstGeom>
          <a:solidFill>
            <a:srgbClr val="2F34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594360" y="5413248"/>
            <a:ext cx="347472" cy="347472"/>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94360" y="5413248"/>
            <a:ext cx="347472" cy="347472"/>
          </a:xfrm>
          <a:prstGeom prst="rect">
            <a:avLst/>
          </a:prstGeom>
          <a:noFill/>
        </p:spPr>
        <p:txBody>
          <a:bodyPr wrap="square" lIns="0" tIns="0" rIns="0" bIns="0" anchor="ctr">
            <a:spAutoFit/>
          </a:bodyPr>
          <a:lstStyle/>
          <a:p>
            <a:pPr algn="ctr">
              <a:spcAft>
                <a:spcPts val="600"/>
              </a:spcAft>
            </a:pPr>
            <a:r>
              <a:rPr sz="1200" b="1" i="0">
                <a:solidFill>
                  <a:srgbClr val="FFFFFF"/>
                </a:solidFill>
                <a:latin typeface="Calibri"/>
              </a:rPr>
              <a:t>3</a:t>
            </a:r>
          </a:p>
        </p:txBody>
      </p:sp>
      <p:sp>
        <p:nvSpPr>
          <p:cNvPr id="27" name="TextBox 26"/>
          <p:cNvSpPr txBox="1"/>
          <p:nvPr/>
        </p:nvSpPr>
        <p:spPr>
          <a:xfrm>
            <a:off x="1097280" y="5257800"/>
            <a:ext cx="7452360" cy="658367"/>
          </a:xfrm>
          <a:prstGeom prst="rect">
            <a:avLst/>
          </a:prstGeom>
          <a:noFill/>
        </p:spPr>
        <p:txBody>
          <a:bodyPr wrap="square" lIns="18288" tIns="18288" rIns="18288" bIns="18288" anchor="ctr">
            <a:spAutoFit/>
          </a:bodyPr>
          <a:lstStyle/>
          <a:p>
            <a:pPr algn="l">
              <a:spcAft>
                <a:spcPts val="600"/>
              </a:spcAft>
            </a:pPr>
            <a:r>
              <a:rPr sz="1400" b="0" i="0">
                <a:solidFill>
                  <a:srgbClr val="FFFFFF"/>
                </a:solidFill>
                <a:latin typeface="Calibri"/>
              </a:rPr>
              <a:t>Agrega al JSON la cantidad total de objetos encontrados.</a:t>
            </a:r>
          </a:p>
        </p:txBody>
      </p:sp>
      <p:sp>
        <p:nvSpPr>
          <p:cNvPr id="28" name="TextBox 27"/>
          <p:cNvSpPr txBox="1"/>
          <p:nvPr/>
        </p:nvSpPr>
        <p:spPr>
          <a:xfrm>
            <a:off x="457200" y="6053328"/>
            <a:ext cx="8229600" cy="411480"/>
          </a:xfrm>
          <a:prstGeom prst="rect">
            <a:avLst/>
          </a:prstGeom>
          <a:noFill/>
        </p:spPr>
        <p:txBody>
          <a:bodyPr wrap="square" lIns="0" tIns="0" rIns="0" bIns="0" anchor="t">
            <a:spAutoFit/>
          </a:bodyPr>
          <a:lstStyle/>
          <a:p>
            <a:pPr algn="l">
              <a:spcAft>
                <a:spcPts val="600"/>
              </a:spcAft>
            </a:pPr>
            <a:r>
              <a:rPr sz="1200" b="0" i="1">
                <a:solidFill>
                  <a:srgbClr val="AEB4BD"/>
                </a:solidFill>
                <a:latin typeface="Calibri"/>
              </a:rPr>
              <a:t>Si ya hicieron el taller de Docker + TensorFlow, pueden empaquetarla igual en un contenedor.</a:t>
            </a:r>
          </a:p>
        </p:txBody>
      </p:sp>
      <p:sp>
        <p:nvSpPr>
          <p:cNvPr id="29" name="TextBox 28"/>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8A9099"/>
                </a:solidFill>
                <a:latin typeface="Calibri"/>
              </a:rPr>
              <a:t>Tecnologías Disruptivas  ·  Escuela de Informática  ·  Universidad Andrés Bello</a:t>
            </a:r>
          </a:p>
        </p:txBody>
      </p:sp>
      <p:sp>
        <p:nvSpPr>
          <p:cNvPr id="30" name="TextBox 29"/>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8A9099"/>
                </a:solidFill>
                <a:latin typeface="Calibri"/>
              </a:rP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Problemas frecuentes</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50</a:t>
            </a:r>
          </a:p>
        </p:txBody>
      </p:sp>
      <p:graphicFrame>
        <p:nvGraphicFramePr>
          <p:cNvPr id="7" name="Table 6"/>
          <p:cNvGraphicFramePr>
            <a:graphicFrameLocks noGrp="1"/>
          </p:cNvGraphicFramePr>
          <p:nvPr/>
        </p:nvGraphicFramePr>
        <p:xfrm>
          <a:off x="457200" y="1143000"/>
          <a:ext cx="8229600" cy="4535424"/>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566928">
                <a:tc>
                  <a:txBody>
                    <a:bodyPr/>
                    <a:lstStyle/>
                    <a:p>
                      <a:r>
                        <a:rPr sz="1200" b="1" i="0">
                          <a:solidFill>
                            <a:srgbClr val="FFFFFF"/>
                          </a:solidFill>
                          <a:latin typeface="Calibri"/>
                        </a:rPr>
                        <a:t>Síntoma</a:t>
                      </a:r>
                    </a:p>
                  </a:txBody>
                  <a:tcPr marL="73152" marR="73152" marT="36576" marB="36576" anchor="ctr">
                    <a:solidFill>
                      <a:srgbClr val="8E1B1B"/>
                    </a:solidFill>
                  </a:tcPr>
                </a:tc>
                <a:tc>
                  <a:txBody>
                    <a:bodyPr/>
                    <a:lstStyle/>
                    <a:p>
                      <a:r>
                        <a:rPr sz="1200" b="1" i="0">
                          <a:solidFill>
                            <a:srgbClr val="FFFFFF"/>
                          </a:solidFill>
                          <a:latin typeface="Calibri"/>
                        </a:rPr>
                        <a:t>Causa probable</a:t>
                      </a:r>
                    </a:p>
                  </a:txBody>
                  <a:tcPr marL="73152" marR="73152" marT="36576" marB="36576" anchor="ctr">
                    <a:solidFill>
                      <a:srgbClr val="8E1B1B"/>
                    </a:solidFill>
                  </a:tcPr>
                </a:tc>
                <a:tc>
                  <a:txBody>
                    <a:bodyPr/>
                    <a:lstStyle/>
                    <a:p>
                      <a:r>
                        <a:rPr sz="1200" b="1" i="0">
                          <a:solidFill>
                            <a:srgbClr val="FFFFFF"/>
                          </a:solidFill>
                          <a:latin typeface="Calibri"/>
                        </a:rPr>
                        <a:t>Solución</a:t>
                      </a:r>
                    </a:p>
                  </a:txBody>
                  <a:tcPr marL="73152" marR="73152" marT="36576" marB="36576" anchor="ctr">
                    <a:solidFill>
                      <a:srgbClr val="8E1B1B"/>
                    </a:solidFill>
                  </a:tcPr>
                </a:tc>
                <a:extLst>
                  <a:ext uri="{0D108BD9-81ED-4DB2-BD59-A6C34878D82A}">
                    <a16:rowId xmlns:a16="http://schemas.microsoft.com/office/drawing/2014/main" val="10000"/>
                  </a:ext>
                </a:extLst>
              </a:tr>
              <a:tr h="566928">
                <a:tc>
                  <a:txBody>
                    <a:bodyPr/>
                    <a:lstStyle/>
                    <a:p>
                      <a:r>
                        <a:rPr sz="1200" b="1" i="0">
                          <a:solidFill>
                            <a:srgbClr val="262626"/>
                          </a:solidFill>
                          <a:latin typeface="Calibri"/>
                        </a:rPr>
                        <a:t>externally-managed-environment</a:t>
                      </a:r>
                    </a:p>
                  </a:txBody>
                  <a:tcPr marL="73152" marR="73152" marT="36576" marB="36576" anchor="ctr">
                    <a:solidFill>
                      <a:srgbClr val="FFFFFF"/>
                    </a:solidFill>
                  </a:tcPr>
                </a:tc>
                <a:tc>
                  <a:txBody>
                    <a:bodyPr/>
                    <a:lstStyle/>
                    <a:p>
                      <a:r>
                        <a:rPr sz="1200" b="0" i="0">
                          <a:solidFill>
                            <a:srgbClr val="262626"/>
                          </a:solidFill>
                          <a:latin typeface="Calibri"/>
                        </a:rPr>
                        <a:t>pip fuera del entorno virtual</a:t>
                      </a:r>
                    </a:p>
                  </a:txBody>
                  <a:tcPr marL="73152" marR="73152" marT="36576" marB="36576" anchor="ctr">
                    <a:solidFill>
                      <a:srgbClr val="FFFFFF"/>
                    </a:solidFill>
                  </a:tcPr>
                </a:tc>
                <a:tc>
                  <a:txBody>
                    <a:bodyPr/>
                    <a:lstStyle/>
                    <a:p>
                      <a:r>
                        <a:rPr sz="1200" b="0" i="0">
                          <a:solidFill>
                            <a:srgbClr val="262626"/>
                          </a:solidFill>
                          <a:latin typeface="Calibri"/>
                        </a:rPr>
                        <a:t>Activar el entorno </a:t>
                      </a:r>
                      <a:r>
                        <a:rPr sz="1100" b="0" i="0">
                          <a:solidFill>
                            <a:srgbClr val="8E1B1B"/>
                          </a:solidFill>
                          <a:latin typeface="Courier New"/>
                        </a:rPr>
                        <a:t>vision</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200" b="1" i="0">
                          <a:solidFill>
                            <a:srgbClr val="262626"/>
                          </a:solidFill>
                          <a:latin typeface="Calibri"/>
                        </a:rPr>
                        <a:t>TesseractNotFoundError</a:t>
                      </a:r>
                    </a:p>
                  </a:txBody>
                  <a:tcPr marL="73152" marR="73152" marT="36576" marB="36576" anchor="ctr">
                    <a:solidFill>
                      <a:srgbClr val="FBF1F1"/>
                    </a:solidFill>
                  </a:tcPr>
                </a:tc>
                <a:tc>
                  <a:txBody>
                    <a:bodyPr/>
                    <a:lstStyle/>
                    <a:p>
                      <a:r>
                        <a:rPr sz="1200" b="0" i="0">
                          <a:solidFill>
                            <a:srgbClr val="262626"/>
                          </a:solidFill>
                          <a:latin typeface="Calibri"/>
                        </a:rPr>
                        <a:t>Tesseract no instalado o fuera del PATH</a:t>
                      </a:r>
                    </a:p>
                  </a:txBody>
                  <a:tcPr marL="73152" marR="73152" marT="36576" marB="36576" anchor="ctr">
                    <a:solidFill>
                      <a:srgbClr val="FBF1F1"/>
                    </a:solidFill>
                  </a:tcPr>
                </a:tc>
                <a:tc>
                  <a:txBody>
                    <a:bodyPr/>
                    <a:lstStyle/>
                    <a:p>
                      <a:r>
                        <a:rPr sz="1200" b="0" i="0">
                          <a:solidFill>
                            <a:srgbClr val="262626"/>
                          </a:solidFill>
                          <a:latin typeface="Calibri"/>
                        </a:rPr>
                        <a:t>Instalarlo y reiniciar la terminal</a:t>
                      </a:r>
                    </a:p>
                  </a:txBody>
                  <a:tcPr marL="73152" marR="73152" marT="36576" marB="36576" anchor="ctr">
                    <a:solidFill>
                      <a:srgbClr val="FBF1F1"/>
                    </a:solidFill>
                  </a:tcPr>
                </a:tc>
                <a:extLst>
                  <a:ext uri="{0D108BD9-81ED-4DB2-BD59-A6C34878D82A}">
                    <a16:rowId xmlns:a16="http://schemas.microsoft.com/office/drawing/2014/main" val="10002"/>
                  </a:ext>
                </a:extLst>
              </a:tr>
              <a:tr h="566928">
                <a:tc>
                  <a:txBody>
                    <a:bodyPr/>
                    <a:lstStyle/>
                    <a:p>
                      <a:r>
                        <a:rPr sz="1200" b="1" i="0">
                          <a:solidFill>
                            <a:srgbClr val="262626"/>
                          </a:solidFill>
                          <a:latin typeface="Calibri"/>
                        </a:rPr>
                        <a:t>La webcam no abre</a:t>
                      </a:r>
                    </a:p>
                  </a:txBody>
                  <a:tcPr marL="73152" marR="73152" marT="36576" marB="36576" anchor="ctr">
                    <a:solidFill>
                      <a:srgbClr val="FFFFFF"/>
                    </a:solidFill>
                  </a:tcPr>
                </a:tc>
                <a:tc>
                  <a:txBody>
                    <a:bodyPr/>
                    <a:lstStyle/>
                    <a:p>
                      <a:r>
                        <a:rPr sz="1200" b="0" i="0">
                          <a:solidFill>
                            <a:srgbClr val="262626"/>
                          </a:solidFill>
                          <a:latin typeface="Calibri"/>
                        </a:rPr>
                        <a:t>La usa otra app o es otro índice</a:t>
                      </a:r>
                    </a:p>
                  </a:txBody>
                  <a:tcPr marL="73152" marR="73152" marT="36576" marB="36576" anchor="ctr">
                    <a:solidFill>
                      <a:srgbClr val="FFFFFF"/>
                    </a:solidFill>
                  </a:tcPr>
                </a:tc>
                <a:tc>
                  <a:txBody>
                    <a:bodyPr/>
                    <a:lstStyle/>
                    <a:p>
                      <a:r>
                        <a:rPr sz="1200" b="0" i="0">
                          <a:solidFill>
                            <a:srgbClr val="262626"/>
                          </a:solidFill>
                          <a:latin typeface="Calibri"/>
                        </a:rPr>
                        <a:t>Cerrar Teams/Zoom; probar </a:t>
                      </a:r>
                      <a:r>
                        <a:rPr sz="1100" b="0" i="0">
                          <a:solidFill>
                            <a:srgbClr val="8E1B1B"/>
                          </a:solidFill>
                          <a:latin typeface="Courier New"/>
                        </a:rPr>
                        <a:t>1</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200" b="1" i="0">
                          <a:solidFill>
                            <a:srgbClr val="262626"/>
                          </a:solidFill>
                          <a:latin typeface="Calibri"/>
                        </a:rPr>
                        <a:t>Cámara WiFi no conecta</a:t>
                      </a:r>
                    </a:p>
                  </a:txBody>
                  <a:tcPr marL="73152" marR="73152" marT="36576" marB="36576" anchor="ctr">
                    <a:solidFill>
                      <a:srgbClr val="FBF1F1"/>
                    </a:solidFill>
                  </a:tcPr>
                </a:tc>
                <a:tc>
                  <a:txBody>
                    <a:bodyPr/>
                    <a:lstStyle/>
                    <a:p>
                      <a:r>
                        <a:rPr sz="1200" b="0" i="0">
                          <a:solidFill>
                            <a:srgbClr val="262626"/>
                          </a:solidFill>
                          <a:latin typeface="Calibri"/>
                        </a:rPr>
                        <a:t>Redes distintas o red bloqueada</a:t>
                      </a:r>
                    </a:p>
                  </a:txBody>
                  <a:tcPr marL="73152" marR="73152" marT="36576" marB="36576" anchor="ctr">
                    <a:solidFill>
                      <a:srgbClr val="FBF1F1"/>
                    </a:solidFill>
                  </a:tcPr>
                </a:tc>
                <a:tc>
                  <a:txBody>
                    <a:bodyPr/>
                    <a:lstStyle/>
                    <a:p>
                      <a:r>
                        <a:rPr sz="1200" b="0" i="0">
                          <a:solidFill>
                            <a:srgbClr val="262626"/>
                          </a:solidFill>
                          <a:latin typeface="Calibri"/>
                        </a:rPr>
                        <a:t>Misma red; hotspot del celular</a:t>
                      </a:r>
                    </a:p>
                  </a:txBody>
                  <a:tcPr marL="73152" marR="73152" marT="36576" marB="36576" anchor="ctr">
                    <a:solidFill>
                      <a:srgbClr val="FBF1F1"/>
                    </a:solidFill>
                  </a:tcPr>
                </a:tc>
                <a:extLst>
                  <a:ext uri="{0D108BD9-81ED-4DB2-BD59-A6C34878D82A}">
                    <a16:rowId xmlns:a16="http://schemas.microsoft.com/office/drawing/2014/main" val="10004"/>
                  </a:ext>
                </a:extLst>
              </a:tr>
              <a:tr h="566928">
                <a:tc>
                  <a:txBody>
                    <a:bodyPr/>
                    <a:lstStyle/>
                    <a:p>
                      <a:r>
                        <a:rPr sz="1200" b="1" i="0">
                          <a:solidFill>
                            <a:srgbClr val="262626"/>
                          </a:solidFill>
                          <a:latin typeface="Calibri"/>
                        </a:rPr>
                        <a:t>Muy pocos FPS</a:t>
                      </a:r>
                    </a:p>
                  </a:txBody>
                  <a:tcPr marL="73152" marR="73152" marT="36576" marB="36576" anchor="ctr">
                    <a:solidFill>
                      <a:srgbClr val="FFFFFF"/>
                    </a:solidFill>
                  </a:tcPr>
                </a:tc>
                <a:tc>
                  <a:txBody>
                    <a:bodyPr/>
                    <a:lstStyle/>
                    <a:p>
                      <a:r>
                        <a:rPr sz="1200" b="0" i="0">
                          <a:solidFill>
                            <a:srgbClr val="262626"/>
                          </a:solidFill>
                          <a:latin typeface="Calibri"/>
                        </a:rPr>
                        <a:t>Modelo a 640 px</a:t>
                      </a:r>
                    </a:p>
                  </a:txBody>
                  <a:tcPr marL="73152" marR="73152" marT="36576" marB="36576" anchor="ctr">
                    <a:solidFill>
                      <a:srgbClr val="FFFFFF"/>
                    </a:solidFill>
                  </a:tcPr>
                </a:tc>
                <a:tc>
                  <a:txBody>
                    <a:bodyPr/>
                    <a:lstStyle/>
                    <a:p>
                      <a:r>
                        <a:rPr sz="1100" b="0" i="0">
                          <a:solidFill>
                            <a:srgbClr val="8E1B1B"/>
                          </a:solidFill>
                          <a:latin typeface="Courier New"/>
                        </a:rPr>
                        <a:t>TAMANO = 320</a:t>
                      </a:r>
                      <a:r>
                        <a:rPr sz="1200" b="0" i="0">
                          <a:solidFill>
                            <a:srgbClr val="262626"/>
                          </a:solidFill>
                          <a:latin typeface="Calibri"/>
                        </a:rPr>
                        <a:t> (en la Pi: NCNN)</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200" b="1" i="0">
                          <a:solidFill>
                            <a:srgbClr val="262626"/>
                          </a:solidFill>
                          <a:latin typeface="Calibri"/>
                        </a:rPr>
                        <a:t>ESP32 no responde</a:t>
                      </a:r>
                    </a:p>
                  </a:txBody>
                  <a:tcPr marL="73152" marR="73152" marT="36576" marB="36576" anchor="ctr">
                    <a:solidFill>
                      <a:srgbClr val="FBF1F1"/>
                    </a:solidFill>
                  </a:tcPr>
                </a:tc>
                <a:tc>
                  <a:txBody>
                    <a:bodyPr/>
                    <a:lstStyle/>
                    <a:p>
                      <a:r>
                        <a:rPr sz="1200" b="0" i="0">
                          <a:solidFill>
                            <a:srgbClr val="262626"/>
                          </a:solidFill>
                          <a:latin typeface="Calibri"/>
                        </a:rPr>
                        <a:t>IP incorrecta o red con aislamiento</a:t>
                      </a:r>
                    </a:p>
                  </a:txBody>
                  <a:tcPr marL="73152" marR="73152" marT="36576" marB="36576" anchor="ctr">
                    <a:solidFill>
                      <a:srgbClr val="FBF1F1"/>
                    </a:solidFill>
                  </a:tcPr>
                </a:tc>
                <a:tc>
                  <a:txBody>
                    <a:bodyPr/>
                    <a:lstStyle/>
                    <a:p>
                      <a:r>
                        <a:rPr sz="1200" b="0" i="0">
                          <a:solidFill>
                            <a:srgbClr val="262626"/>
                          </a:solidFill>
                          <a:latin typeface="Calibri"/>
                        </a:rPr>
                        <a:t>Revisar Monitor Serie; hotspot</a:t>
                      </a:r>
                    </a:p>
                  </a:txBody>
                  <a:tcPr marL="73152" marR="73152" marT="36576" marB="36576" anchor="ctr">
                    <a:solidFill>
                      <a:srgbClr val="FBF1F1"/>
                    </a:solidFill>
                  </a:tcPr>
                </a:tc>
                <a:extLst>
                  <a:ext uri="{0D108BD9-81ED-4DB2-BD59-A6C34878D82A}">
                    <a16:rowId xmlns:a16="http://schemas.microsoft.com/office/drawing/2014/main" val="10006"/>
                  </a:ext>
                </a:extLst>
              </a:tr>
              <a:tr h="566928">
                <a:tc>
                  <a:txBody>
                    <a:bodyPr/>
                    <a:lstStyle/>
                    <a:p>
                      <a:r>
                        <a:rPr sz="1200" b="1" i="0">
                          <a:solidFill>
                            <a:srgbClr val="262626"/>
                          </a:solidFill>
                          <a:latin typeface="Calibri"/>
                        </a:rPr>
                        <a:t>OCR con basura</a:t>
                      </a:r>
                    </a:p>
                  </a:txBody>
                  <a:tcPr marL="73152" marR="73152" marT="36576" marB="36576" anchor="ctr">
                    <a:solidFill>
                      <a:srgbClr val="FFFFFF"/>
                    </a:solidFill>
                  </a:tcPr>
                </a:tc>
                <a:tc>
                  <a:txBody>
                    <a:bodyPr/>
                    <a:lstStyle/>
                    <a:p>
                      <a:r>
                        <a:rPr sz="1200" b="0" i="0">
                          <a:solidFill>
                            <a:srgbClr val="262626"/>
                          </a:solidFill>
                          <a:latin typeface="Calibri"/>
                        </a:rPr>
                        <a:t>Poca luz, texto chico o inclinado</a:t>
                      </a:r>
                    </a:p>
                  </a:txBody>
                  <a:tcPr marL="73152" marR="73152" marT="36576" marB="36576" anchor="ctr">
                    <a:solidFill>
                      <a:srgbClr val="FFFFFF"/>
                    </a:solidFill>
                  </a:tcPr>
                </a:tc>
                <a:tc>
                  <a:txBody>
                    <a:bodyPr/>
                    <a:lstStyle/>
                    <a:p>
                      <a:r>
                        <a:rPr sz="1200" b="0" i="0">
                          <a:solidFill>
                            <a:srgbClr val="262626"/>
                          </a:solidFill>
                          <a:latin typeface="Calibri"/>
                        </a:rPr>
                        <a:t>Acercar, iluminar, </a:t>
                      </a:r>
                      <a:r>
                        <a:rPr sz="1100" b="0" i="0">
                          <a:solidFill>
                            <a:srgbClr val="8E1B1B"/>
                          </a:solidFill>
                          <a:latin typeface="Courier New"/>
                        </a:rPr>
                        <a:t>--psm 7</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Desafío: llévenlo a su proyecto</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51</a:t>
            </a:r>
          </a:p>
        </p:txBody>
      </p:sp>
      <p:sp>
        <p:nvSpPr>
          <p:cNvPr id="7" name="Rounded Rectangle 6"/>
          <p:cNvSpPr/>
          <p:nvPr/>
        </p:nvSpPr>
        <p:spPr>
          <a:xfrm>
            <a:off x="457200" y="1188720"/>
            <a:ext cx="8229600" cy="123444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85800" y="146304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1463040"/>
            <a:ext cx="685800" cy="685800"/>
          </a:xfrm>
          <a:prstGeom prst="rect">
            <a:avLst/>
          </a:prstGeom>
          <a:noFill/>
        </p:spPr>
        <p:txBody>
          <a:bodyPr wrap="square" lIns="0" tIns="0" rIns="0" bIns="0" anchor="ctr">
            <a:spAutoFit/>
          </a:bodyPr>
          <a:lstStyle/>
          <a:p>
            <a:pPr algn="ctr">
              <a:spcAft>
                <a:spcPts val="600"/>
              </a:spcAft>
            </a:pPr>
            <a:r>
              <a:rPr sz="2200" b="1" i="0">
                <a:solidFill>
                  <a:srgbClr val="FFFFFF"/>
                </a:solidFill>
                <a:latin typeface="Calibri"/>
              </a:rPr>
              <a:t>1</a:t>
            </a:r>
          </a:p>
        </p:txBody>
      </p:sp>
      <p:sp>
        <p:nvSpPr>
          <p:cNvPr id="10" name="TextBox 9"/>
          <p:cNvSpPr txBox="1"/>
          <p:nvPr/>
        </p:nvSpPr>
        <p:spPr>
          <a:xfrm>
            <a:off x="1600200" y="1280160"/>
            <a:ext cx="6858000" cy="411480"/>
          </a:xfrm>
          <a:prstGeom prst="rect">
            <a:avLst/>
          </a:prstGeom>
          <a:noFill/>
        </p:spPr>
        <p:txBody>
          <a:bodyPr wrap="square" anchor="t">
            <a:spAutoFit/>
          </a:bodyPr>
          <a:lstStyle/>
          <a:p>
            <a:pPr algn="l">
              <a:spcAft>
                <a:spcPts val="600"/>
              </a:spcAft>
            </a:pPr>
            <a:r>
              <a:rPr sz="1700" b="1" i="0">
                <a:solidFill>
                  <a:srgbClr val="8E1B1B"/>
                </a:solidFill>
                <a:latin typeface="Calibri"/>
              </a:rPr>
              <a:t>Nivel 1 · Contador de aforo</a:t>
            </a:r>
          </a:p>
        </p:txBody>
      </p:sp>
      <p:sp>
        <p:nvSpPr>
          <p:cNvPr id="11" name="TextBox 10"/>
          <p:cNvSpPr txBox="1"/>
          <p:nvPr/>
        </p:nvSpPr>
        <p:spPr>
          <a:xfrm>
            <a:off x="1600200" y="1691640"/>
            <a:ext cx="6858000" cy="731520"/>
          </a:xfrm>
          <a:prstGeom prst="rect">
            <a:avLst/>
          </a:prstGeom>
          <a:noFill/>
        </p:spPr>
        <p:txBody>
          <a:bodyPr wrap="square" anchor="t">
            <a:spAutoFit/>
          </a:bodyPr>
          <a:lstStyle/>
          <a:p>
            <a:pPr algn="l">
              <a:spcAft>
                <a:spcPts val="600"/>
              </a:spcAft>
            </a:pPr>
            <a:r>
              <a:rPr sz="1400" b="0" i="0">
                <a:solidFill>
                  <a:srgbClr val="262626"/>
                </a:solidFill>
                <a:latin typeface="Calibri"/>
              </a:rPr>
              <a:t>Si hay más de N personas (u objetos) frente a la cámara, encender un LED rojo en el ESP32; si no, uno verde.</a:t>
            </a:r>
          </a:p>
        </p:txBody>
      </p:sp>
      <p:sp>
        <p:nvSpPr>
          <p:cNvPr id="12" name="Rounded Rectangle 11"/>
          <p:cNvSpPr/>
          <p:nvPr/>
        </p:nvSpPr>
        <p:spPr>
          <a:xfrm>
            <a:off x="457200" y="2606040"/>
            <a:ext cx="8229600" cy="1234440"/>
          </a:xfrm>
          <a:prstGeom prst="roundRect">
            <a:avLst>
              <a:gd name="adj" fmla="val 6000"/>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685800" y="288036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85800" y="2880360"/>
            <a:ext cx="685800" cy="685800"/>
          </a:xfrm>
          <a:prstGeom prst="rect">
            <a:avLst/>
          </a:prstGeom>
          <a:noFill/>
        </p:spPr>
        <p:txBody>
          <a:bodyPr wrap="square" lIns="0" tIns="0" rIns="0" bIns="0" anchor="ctr">
            <a:spAutoFit/>
          </a:bodyPr>
          <a:lstStyle/>
          <a:p>
            <a:pPr algn="ctr">
              <a:spcAft>
                <a:spcPts val="600"/>
              </a:spcAft>
            </a:pPr>
            <a:r>
              <a:rPr sz="2200" b="1" i="0">
                <a:solidFill>
                  <a:srgbClr val="FFFFFF"/>
                </a:solidFill>
                <a:latin typeface="Calibri"/>
              </a:rPr>
              <a:t>2</a:t>
            </a:r>
          </a:p>
        </p:txBody>
      </p:sp>
      <p:sp>
        <p:nvSpPr>
          <p:cNvPr id="15" name="TextBox 14"/>
          <p:cNvSpPr txBox="1"/>
          <p:nvPr/>
        </p:nvSpPr>
        <p:spPr>
          <a:xfrm>
            <a:off x="1600200" y="2697480"/>
            <a:ext cx="6858000" cy="411480"/>
          </a:xfrm>
          <a:prstGeom prst="rect">
            <a:avLst/>
          </a:prstGeom>
          <a:noFill/>
        </p:spPr>
        <p:txBody>
          <a:bodyPr wrap="square" anchor="t">
            <a:spAutoFit/>
          </a:bodyPr>
          <a:lstStyle/>
          <a:p>
            <a:pPr algn="l">
              <a:spcAft>
                <a:spcPts val="600"/>
              </a:spcAft>
            </a:pPr>
            <a:r>
              <a:rPr sz="1700" b="1" i="0">
                <a:solidFill>
                  <a:srgbClr val="8E1B1B"/>
                </a:solidFill>
                <a:latin typeface="Calibri"/>
              </a:rPr>
              <a:t>Nivel 2 · Barrera inteligente</a:t>
            </a:r>
          </a:p>
        </p:txBody>
      </p:sp>
      <p:sp>
        <p:nvSpPr>
          <p:cNvPr id="16" name="TextBox 15"/>
          <p:cNvSpPr txBox="1"/>
          <p:nvPr/>
        </p:nvSpPr>
        <p:spPr>
          <a:xfrm>
            <a:off x="1600200" y="3108960"/>
            <a:ext cx="6858000" cy="731520"/>
          </a:xfrm>
          <a:prstGeom prst="rect">
            <a:avLst/>
          </a:prstGeom>
          <a:noFill/>
        </p:spPr>
        <p:txBody>
          <a:bodyPr wrap="square" anchor="t">
            <a:spAutoFit/>
          </a:bodyPr>
          <a:lstStyle/>
          <a:p>
            <a:pPr algn="l">
              <a:spcAft>
                <a:spcPts val="600"/>
              </a:spcAft>
            </a:pPr>
            <a:r>
              <a:rPr sz="1400" b="0" i="0">
                <a:solidFill>
                  <a:srgbClr val="262626"/>
                </a:solidFill>
                <a:latin typeface="Calibri"/>
              </a:rPr>
              <a:t>Con la ESP32-CAM, leer con OCR un código impreso. Si está en una lista autorizada, mover un servo en el ESP32.</a:t>
            </a:r>
          </a:p>
        </p:txBody>
      </p:sp>
      <p:sp>
        <p:nvSpPr>
          <p:cNvPr id="17" name="Rounded Rectangle 16"/>
          <p:cNvSpPr/>
          <p:nvPr/>
        </p:nvSpPr>
        <p:spPr>
          <a:xfrm>
            <a:off x="457200" y="4023360"/>
            <a:ext cx="8229600" cy="123444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85800" y="4297680"/>
            <a:ext cx="685800" cy="68580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85800" y="4297680"/>
            <a:ext cx="685800" cy="685800"/>
          </a:xfrm>
          <a:prstGeom prst="rect">
            <a:avLst/>
          </a:prstGeom>
          <a:noFill/>
        </p:spPr>
        <p:txBody>
          <a:bodyPr wrap="square" lIns="0" tIns="0" rIns="0" bIns="0" anchor="ctr">
            <a:spAutoFit/>
          </a:bodyPr>
          <a:lstStyle/>
          <a:p>
            <a:pPr algn="ctr">
              <a:spcAft>
                <a:spcPts val="600"/>
              </a:spcAft>
            </a:pPr>
            <a:r>
              <a:rPr sz="2200" b="1" i="0">
                <a:solidFill>
                  <a:srgbClr val="FFFFFF"/>
                </a:solidFill>
                <a:latin typeface="Calibri"/>
              </a:rPr>
              <a:t>3</a:t>
            </a:r>
          </a:p>
        </p:txBody>
      </p:sp>
      <p:sp>
        <p:nvSpPr>
          <p:cNvPr id="20" name="TextBox 19"/>
          <p:cNvSpPr txBox="1"/>
          <p:nvPr/>
        </p:nvSpPr>
        <p:spPr>
          <a:xfrm>
            <a:off x="1600200" y="4114800"/>
            <a:ext cx="6858000" cy="411480"/>
          </a:xfrm>
          <a:prstGeom prst="rect">
            <a:avLst/>
          </a:prstGeom>
          <a:noFill/>
        </p:spPr>
        <p:txBody>
          <a:bodyPr wrap="square" anchor="t">
            <a:spAutoFit/>
          </a:bodyPr>
          <a:lstStyle/>
          <a:p>
            <a:pPr algn="l">
              <a:spcAft>
                <a:spcPts val="600"/>
              </a:spcAft>
            </a:pPr>
            <a:r>
              <a:rPr sz="1700" b="1" i="0">
                <a:solidFill>
                  <a:srgbClr val="8E1B1B"/>
                </a:solidFill>
                <a:latin typeface="Calibri"/>
              </a:rPr>
              <a:t>Nivel 3 · Tu propio detector</a:t>
            </a:r>
          </a:p>
        </p:txBody>
      </p:sp>
      <p:sp>
        <p:nvSpPr>
          <p:cNvPr id="21" name="TextBox 20"/>
          <p:cNvSpPr txBox="1"/>
          <p:nvPr/>
        </p:nvSpPr>
        <p:spPr>
          <a:xfrm>
            <a:off x="1600200" y="4526280"/>
            <a:ext cx="6858000" cy="731520"/>
          </a:xfrm>
          <a:prstGeom prst="rect">
            <a:avLst/>
          </a:prstGeom>
          <a:noFill/>
        </p:spPr>
        <p:txBody>
          <a:bodyPr wrap="square" anchor="t">
            <a:spAutoFit/>
          </a:bodyPr>
          <a:lstStyle/>
          <a:p>
            <a:pPr algn="l">
              <a:spcAft>
                <a:spcPts val="600"/>
              </a:spcAft>
            </a:pPr>
            <a:r>
              <a:rPr sz="1400" b="0" i="0">
                <a:solidFill>
                  <a:srgbClr val="262626"/>
                </a:solidFill>
                <a:latin typeface="Calibri"/>
              </a:rPr>
              <a:t>Entrenar YOLO con fotos propias (en Colab): un objeto de su proyecto o piedra, papel o tijera.</a:t>
            </a:r>
          </a:p>
        </p:txBody>
      </p:sp>
      <p:sp>
        <p:nvSpPr>
          <p:cNvPr id="22" name="Rounded Rectangle 21"/>
          <p:cNvSpPr/>
          <p:nvPr/>
        </p:nvSpPr>
        <p:spPr>
          <a:xfrm>
            <a:off x="457200" y="5532120"/>
            <a:ext cx="8229600" cy="73152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85800" y="5532120"/>
            <a:ext cx="7772400" cy="731520"/>
          </a:xfrm>
          <a:prstGeom prst="rect">
            <a:avLst/>
          </a:prstGeom>
          <a:noFill/>
        </p:spPr>
        <p:txBody>
          <a:bodyPr wrap="square" anchor="ctr">
            <a:spAutoFit/>
          </a:bodyPr>
          <a:lstStyle/>
          <a:p>
            <a:pPr algn="l">
              <a:spcAft>
                <a:spcPts val="600"/>
              </a:spcAft>
            </a:pPr>
            <a:r>
              <a:rPr sz="1500" b="1" i="0">
                <a:solidFill>
                  <a:srgbClr val="262626"/>
                </a:solidFill>
                <a:latin typeface="Calibri"/>
              </a:rPr>
              <a:t>Pista:</a:t>
            </a:r>
            <a:r>
              <a:rPr sz="1500" b="0" i="0">
                <a:solidFill>
                  <a:srgbClr val="262626"/>
                </a:solidFill>
                <a:latin typeface="Calibri"/>
              </a:rPr>
              <a:t> el nivel 2 combina </a:t>
            </a:r>
            <a:r>
              <a:rPr sz="1400" b="0" i="0">
                <a:solidFill>
                  <a:srgbClr val="8E1B1B"/>
                </a:solidFill>
                <a:latin typeface="Courier New"/>
              </a:rPr>
              <a:t>03_ocr.py</a:t>
            </a:r>
            <a:r>
              <a:rPr sz="1500" b="0" i="0">
                <a:solidFill>
                  <a:srgbClr val="262626"/>
                </a:solidFill>
                <a:latin typeface="Calibri"/>
              </a:rPr>
              <a:t> y </a:t>
            </a:r>
            <a:r>
              <a:rPr sz="1400" b="0" i="0">
                <a:solidFill>
                  <a:srgbClr val="8E1B1B"/>
                </a:solidFill>
                <a:latin typeface="Courier New"/>
              </a:rPr>
              <a:t>07_yolo_esp32.py</a:t>
            </a:r>
            <a:r>
              <a:rPr sz="1500" b="0" i="0">
                <a:solidFill>
                  <a:srgbClr val="262626"/>
                </a:solidFill>
                <a:latin typeface="Calibri"/>
              </a:rPr>
              <a:t>. El nivel 3 es un adelanto de lo que verán en Minería de Datos.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Conclusión</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52</a:t>
            </a:r>
          </a:p>
        </p:txBody>
      </p:sp>
      <p:sp>
        <p:nvSpPr>
          <p:cNvPr id="7" name="Oval 6"/>
          <p:cNvSpPr/>
          <p:nvPr/>
        </p:nvSpPr>
        <p:spPr>
          <a:xfrm>
            <a:off x="548640" y="1188720"/>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_w.png"/>
          <p:cNvPicPr>
            <a:picLocks noChangeAspect="1"/>
          </p:cNvPicPr>
          <p:nvPr/>
        </p:nvPicPr>
        <p:blipFill>
          <a:blip r:embed="rId4"/>
          <a:stretch>
            <a:fillRect/>
          </a:stretch>
        </p:blipFill>
        <p:spPr>
          <a:xfrm>
            <a:off x="689457" y="1329537"/>
            <a:ext cx="358444" cy="358444"/>
          </a:xfrm>
          <a:prstGeom prst="rect">
            <a:avLst/>
          </a:prstGeom>
        </p:spPr>
      </p:pic>
      <p:sp>
        <p:nvSpPr>
          <p:cNvPr id="9" name="TextBox 8"/>
          <p:cNvSpPr txBox="1"/>
          <p:nvPr/>
        </p:nvSpPr>
        <p:spPr>
          <a:xfrm>
            <a:off x="1417320" y="1097280"/>
            <a:ext cx="7223760" cy="822960"/>
          </a:xfrm>
          <a:prstGeom prst="rect">
            <a:avLst/>
          </a:prstGeom>
          <a:noFill/>
        </p:spPr>
        <p:txBody>
          <a:bodyPr wrap="square" anchor="ctr">
            <a:spAutoFit/>
          </a:bodyPr>
          <a:lstStyle/>
          <a:p>
            <a:pPr algn="l">
              <a:spcAft>
                <a:spcPts val="600"/>
              </a:spcAft>
            </a:pPr>
            <a:r>
              <a:rPr sz="1600" b="0" i="0">
                <a:solidFill>
                  <a:srgbClr val="262626"/>
                </a:solidFill>
                <a:latin typeface="Calibri"/>
              </a:rPr>
              <a:t>Una imagen es una matriz de números: procesarla es hacer matemática sobre ella.</a:t>
            </a:r>
          </a:p>
        </p:txBody>
      </p:sp>
      <p:sp>
        <p:nvSpPr>
          <p:cNvPr id="10" name="Oval 9"/>
          <p:cNvSpPr/>
          <p:nvPr/>
        </p:nvSpPr>
        <p:spPr>
          <a:xfrm>
            <a:off x="548640" y="2212848"/>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ext_w.png"/>
          <p:cNvPicPr>
            <a:picLocks noChangeAspect="1"/>
          </p:cNvPicPr>
          <p:nvPr/>
        </p:nvPicPr>
        <p:blipFill>
          <a:blip r:embed="rId5"/>
          <a:stretch>
            <a:fillRect/>
          </a:stretch>
        </p:blipFill>
        <p:spPr>
          <a:xfrm>
            <a:off x="689457" y="2353665"/>
            <a:ext cx="358444" cy="358444"/>
          </a:xfrm>
          <a:prstGeom prst="rect">
            <a:avLst/>
          </a:prstGeom>
        </p:spPr>
      </p:pic>
      <p:sp>
        <p:nvSpPr>
          <p:cNvPr id="12" name="TextBox 11"/>
          <p:cNvSpPr txBox="1"/>
          <p:nvPr/>
        </p:nvSpPr>
        <p:spPr>
          <a:xfrm>
            <a:off x="1417320" y="2121408"/>
            <a:ext cx="7223760" cy="822960"/>
          </a:xfrm>
          <a:prstGeom prst="rect">
            <a:avLst/>
          </a:prstGeom>
          <a:noFill/>
        </p:spPr>
        <p:txBody>
          <a:bodyPr wrap="square" anchor="ctr">
            <a:spAutoFit/>
          </a:bodyPr>
          <a:lstStyle/>
          <a:p>
            <a:pPr algn="l">
              <a:spcAft>
                <a:spcPts val="600"/>
              </a:spcAft>
            </a:pPr>
            <a:r>
              <a:rPr sz="1600" b="0" i="0">
                <a:solidFill>
                  <a:srgbClr val="262626"/>
                </a:solidFill>
                <a:latin typeface="Calibri"/>
              </a:rPr>
              <a:t>El OCR convierte píxeles en texto, con una confianza que siempre hay que validar.</a:t>
            </a:r>
          </a:p>
        </p:txBody>
      </p:sp>
      <p:sp>
        <p:nvSpPr>
          <p:cNvPr id="13" name="Oval 12"/>
          <p:cNvSpPr/>
          <p:nvPr/>
        </p:nvSpPr>
        <p:spPr>
          <a:xfrm>
            <a:off x="548640" y="3236976"/>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ye_w.png"/>
          <p:cNvPicPr>
            <a:picLocks noChangeAspect="1"/>
          </p:cNvPicPr>
          <p:nvPr/>
        </p:nvPicPr>
        <p:blipFill>
          <a:blip r:embed="rId6"/>
          <a:stretch>
            <a:fillRect/>
          </a:stretch>
        </p:blipFill>
        <p:spPr>
          <a:xfrm>
            <a:off x="689457" y="3377793"/>
            <a:ext cx="358444" cy="358444"/>
          </a:xfrm>
          <a:prstGeom prst="rect">
            <a:avLst/>
          </a:prstGeom>
        </p:spPr>
      </p:pic>
      <p:sp>
        <p:nvSpPr>
          <p:cNvPr id="15" name="TextBox 14"/>
          <p:cNvSpPr txBox="1"/>
          <p:nvPr/>
        </p:nvSpPr>
        <p:spPr>
          <a:xfrm>
            <a:off x="1417320" y="3145536"/>
            <a:ext cx="7223760" cy="822960"/>
          </a:xfrm>
          <a:prstGeom prst="rect">
            <a:avLst/>
          </a:prstGeom>
          <a:noFill/>
        </p:spPr>
        <p:txBody>
          <a:bodyPr wrap="square" anchor="ctr">
            <a:spAutoFit/>
          </a:bodyPr>
          <a:lstStyle/>
          <a:p>
            <a:pPr algn="l">
              <a:spcAft>
                <a:spcPts val="600"/>
              </a:spcAft>
            </a:pPr>
            <a:r>
              <a:rPr sz="1600" b="0" i="0">
                <a:solidFill>
                  <a:srgbClr val="262626"/>
                </a:solidFill>
                <a:latin typeface="Calibri"/>
              </a:rPr>
              <a:t>YOLO detecta qué hay y dónde en una sola pasada; YOLO26n corre en un notebook o en una Raspberry Pi.</a:t>
            </a:r>
          </a:p>
        </p:txBody>
      </p:sp>
      <p:sp>
        <p:nvSpPr>
          <p:cNvPr id="16" name="Oval 15"/>
          <p:cNvSpPr/>
          <p:nvPr/>
        </p:nvSpPr>
        <p:spPr>
          <a:xfrm>
            <a:off x="548640" y="4261104"/>
            <a:ext cx="640080" cy="640080"/>
          </a:xfrm>
          <a:prstGeom prst="ellipse">
            <a:avLst/>
          </a:prstGeom>
          <a:solidFill>
            <a:srgbClr val="8E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hub_w.png"/>
          <p:cNvPicPr>
            <a:picLocks noChangeAspect="1"/>
          </p:cNvPicPr>
          <p:nvPr/>
        </p:nvPicPr>
        <p:blipFill>
          <a:blip r:embed="rId7"/>
          <a:stretch>
            <a:fillRect/>
          </a:stretch>
        </p:blipFill>
        <p:spPr>
          <a:xfrm>
            <a:off x="689457" y="4401921"/>
            <a:ext cx="358444" cy="358444"/>
          </a:xfrm>
          <a:prstGeom prst="rect">
            <a:avLst/>
          </a:prstGeom>
        </p:spPr>
      </p:pic>
      <p:sp>
        <p:nvSpPr>
          <p:cNvPr id="18" name="TextBox 17"/>
          <p:cNvSpPr txBox="1"/>
          <p:nvPr/>
        </p:nvSpPr>
        <p:spPr>
          <a:xfrm>
            <a:off x="1417320" y="4169664"/>
            <a:ext cx="7223760" cy="822960"/>
          </a:xfrm>
          <a:prstGeom prst="rect">
            <a:avLst/>
          </a:prstGeom>
          <a:noFill/>
        </p:spPr>
        <p:txBody>
          <a:bodyPr wrap="square" anchor="ctr">
            <a:spAutoFit/>
          </a:bodyPr>
          <a:lstStyle/>
          <a:p>
            <a:pPr algn="l">
              <a:spcAft>
                <a:spcPts val="600"/>
              </a:spcAft>
            </a:pPr>
            <a:r>
              <a:rPr sz="1600" b="0" i="0">
                <a:solidFill>
                  <a:srgbClr val="262626"/>
                </a:solidFill>
                <a:latin typeface="Calibri"/>
              </a:rPr>
              <a:t>Cámara + IA + ESP32 = un sistema que ve, decide y actúa sobre el mundo físico.</a:t>
            </a:r>
          </a:p>
        </p:txBody>
      </p:sp>
      <p:sp>
        <p:nvSpPr>
          <p:cNvPr id="19" name="Rounded Rectangle 18"/>
          <p:cNvSpPr/>
          <p:nvPr/>
        </p:nvSpPr>
        <p:spPr>
          <a:xfrm>
            <a:off x="457200" y="5394960"/>
            <a:ext cx="8229600" cy="82296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85800" y="5394960"/>
            <a:ext cx="7772400" cy="822960"/>
          </a:xfrm>
          <a:prstGeom prst="rect">
            <a:avLst/>
          </a:prstGeom>
          <a:noFill/>
        </p:spPr>
        <p:txBody>
          <a:bodyPr wrap="square" anchor="ctr">
            <a:spAutoFit/>
          </a:bodyPr>
          <a:lstStyle/>
          <a:p>
            <a:pPr algn="l">
              <a:spcAft>
                <a:spcPts val="600"/>
              </a:spcAft>
            </a:pPr>
            <a:r>
              <a:rPr sz="1500" b="1" i="0">
                <a:solidFill>
                  <a:srgbClr val="262626"/>
                </a:solidFill>
                <a:latin typeface="Calibri"/>
              </a:rPr>
              <a:t>Próximo paso:</a:t>
            </a:r>
            <a:r>
              <a:rPr sz="1500" b="0" i="0">
                <a:solidFill>
                  <a:srgbClr val="262626"/>
                </a:solidFill>
                <a:latin typeface="Calibri"/>
              </a:rPr>
              <a:t> cómo aprenden por dentro estas redes neuronales → </a:t>
            </a:r>
            <a:r>
              <a:rPr sz="1500" b="1" i="0">
                <a:solidFill>
                  <a:srgbClr val="262626"/>
                </a:solidFill>
                <a:latin typeface="Calibri"/>
              </a:rPr>
              <a:t>Minería de Datos</a:t>
            </a:r>
            <a:r>
              <a:rPr sz="1500" b="0" i="0">
                <a:solidFill>
                  <a:srgbClr val="262626"/>
                </a:solidFill>
                <a:latin typeface="Calibri"/>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8E1B1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8288" y="-9144"/>
            <a:ext cx="9171432" cy="6858000"/>
          </a:xfrm>
          <a:prstGeom prst="rect">
            <a:avLst/>
          </a:prstGeom>
        </p:spPr>
      </p:pic>
      <p:pic>
        <p:nvPicPr>
          <p:cNvPr id="3" name="Picture 2" descr="image.jpg"/>
          <p:cNvPicPr>
            <a:picLocks noChangeAspect="1"/>
          </p:cNvPicPr>
          <p:nvPr/>
        </p:nvPicPr>
        <p:blipFill>
          <a:blip r:embed="rId3"/>
          <a:stretch>
            <a:fillRect/>
          </a:stretch>
        </p:blipFill>
        <p:spPr>
          <a:xfrm>
            <a:off x="-18288" y="-9144"/>
            <a:ext cx="9171432" cy="1435608"/>
          </a:xfrm>
          <a:prstGeom prst="rect">
            <a:avLst/>
          </a:prstGeom>
        </p:spPr>
      </p:pic>
      <p:pic>
        <p:nvPicPr>
          <p:cNvPr id="4" name="Picture 3" descr="image.jpg"/>
          <p:cNvPicPr>
            <a:picLocks noChangeAspect="1"/>
          </p:cNvPicPr>
          <p:nvPr/>
        </p:nvPicPr>
        <p:blipFill>
          <a:blip r:embed="rId4"/>
          <a:stretch>
            <a:fillRect/>
          </a:stretch>
        </p:blipFill>
        <p:spPr>
          <a:xfrm>
            <a:off x="-45720" y="5486400"/>
            <a:ext cx="9208008" cy="1371600"/>
          </a:xfrm>
          <a:prstGeom prst="rect">
            <a:avLst/>
          </a:prstGeom>
        </p:spPr>
      </p:pic>
      <p:pic>
        <p:nvPicPr>
          <p:cNvPr id="5" name="Picture 4" descr="image.png"/>
          <p:cNvPicPr>
            <a:picLocks noChangeAspect="1"/>
          </p:cNvPicPr>
          <p:nvPr/>
        </p:nvPicPr>
        <p:blipFill>
          <a:blip r:embed="rId5"/>
          <a:stretch>
            <a:fillRect/>
          </a:stretch>
        </p:blipFill>
        <p:spPr>
          <a:xfrm>
            <a:off x="685800" y="2139696"/>
            <a:ext cx="1280160" cy="1188720"/>
          </a:xfrm>
          <a:prstGeom prst="rect">
            <a:avLst/>
          </a:prstGeom>
        </p:spPr>
      </p:pic>
      <p:sp>
        <p:nvSpPr>
          <p:cNvPr id="6" name="Shape 0"/>
          <p:cNvSpPr/>
          <p:nvPr/>
        </p:nvSpPr>
        <p:spPr>
          <a:xfrm>
            <a:off x="2185416" y="2157984"/>
            <a:ext cx="0" cy="1271016"/>
          </a:xfrm>
          <a:prstGeom prst="line">
            <a:avLst/>
          </a:prstGeom>
          <a:noFill/>
          <a:ln w="25400">
            <a:solidFill>
              <a:srgbClr val="FFFFFF"/>
            </a:solidFill>
            <a:prstDash val="solid"/>
          </a:ln>
        </p:spPr>
        <p:txBody>
          <a:bodyPr/>
          <a:lstStyle/>
          <a:p>
            <a:endParaRPr lang="es-CL"/>
          </a:p>
        </p:txBody>
      </p:sp>
      <p:sp>
        <p:nvSpPr>
          <p:cNvPr id="7" name="TextBox 6"/>
          <p:cNvSpPr txBox="1"/>
          <p:nvPr/>
        </p:nvSpPr>
        <p:spPr>
          <a:xfrm>
            <a:off x="2423160" y="1965960"/>
            <a:ext cx="6492240" cy="1463040"/>
          </a:xfrm>
          <a:prstGeom prst="rect">
            <a:avLst/>
          </a:prstGeom>
          <a:noFill/>
        </p:spPr>
        <p:txBody>
          <a:bodyPr wrap="square" lIns="0" tIns="0" rIns="0" bIns="0" anchor="ctr">
            <a:spAutoFit/>
          </a:bodyPr>
          <a:lstStyle/>
          <a:p>
            <a:pPr algn="l">
              <a:spcAft>
                <a:spcPts val="600"/>
              </a:spcAft>
            </a:pPr>
            <a:r>
              <a:rPr sz="3000" b="1" i="0">
                <a:solidFill>
                  <a:srgbClr val="FFFFFF"/>
                </a:solidFill>
                <a:latin typeface="Calibri"/>
              </a:rPr>
              <a:t>Muchas gracias por su atención</a:t>
            </a:r>
          </a:p>
        </p:txBody>
      </p:sp>
      <p:sp>
        <p:nvSpPr>
          <p:cNvPr id="8" name="TextBox 7"/>
          <p:cNvSpPr txBox="1"/>
          <p:nvPr/>
        </p:nvSpPr>
        <p:spPr>
          <a:xfrm>
            <a:off x="2423160" y="3703320"/>
            <a:ext cx="6492240" cy="822960"/>
          </a:xfrm>
          <a:prstGeom prst="rect">
            <a:avLst/>
          </a:prstGeom>
          <a:noFill/>
        </p:spPr>
        <p:txBody>
          <a:bodyPr wrap="square" lIns="0" tIns="0" rIns="0" bIns="0" anchor="t">
            <a:spAutoFit/>
          </a:bodyPr>
          <a:lstStyle/>
          <a:p>
            <a:pPr algn="l">
              <a:spcAft>
                <a:spcPts val="600"/>
              </a:spcAft>
            </a:pPr>
            <a:r>
              <a:rPr sz="1500" b="0" i="1">
                <a:solidFill>
                  <a:srgbClr val="F2D6D6"/>
                </a:solidFill>
                <a:latin typeface="Calibri"/>
              </a:rPr>
              <a:t>¿Preguntas?</a:t>
            </a:r>
          </a:p>
        </p:txBody>
      </p:sp>
      <p:sp>
        <p:nvSpPr>
          <p:cNvPr id="9" name="TextBox 8"/>
          <p:cNvSpPr txBox="1"/>
          <p:nvPr/>
        </p:nvSpPr>
        <p:spPr>
          <a:xfrm>
            <a:off x="4023360" y="4983480"/>
            <a:ext cx="4709160" cy="457200"/>
          </a:xfrm>
          <a:prstGeom prst="rect">
            <a:avLst/>
          </a:prstGeom>
          <a:noFill/>
        </p:spPr>
        <p:txBody>
          <a:bodyPr wrap="square" anchor="ctr">
            <a:spAutoFit/>
          </a:bodyPr>
          <a:lstStyle/>
          <a:p>
            <a:pPr algn="r">
              <a:spcAft>
                <a:spcPts val="600"/>
              </a:spcAft>
            </a:pPr>
            <a:r>
              <a:rPr sz="1400" b="1" i="0">
                <a:solidFill>
                  <a:srgbClr val="FFFFFF"/>
                </a:solidFill>
                <a:latin typeface="Calibri"/>
              </a:rPr>
              <a:t>Profesor Luis Delgado Ayala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8E1B1B"/>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3"/>
          <a:stretch>
            <a:fillRect/>
          </a:stretch>
        </p:blipFill>
        <p:spPr>
          <a:xfrm>
            <a:off x="548640" y="2743200"/>
            <a:ext cx="822960" cy="768096"/>
          </a:xfrm>
          <a:prstGeom prst="rect">
            <a:avLst/>
          </a:prstGeom>
        </p:spPr>
      </p:pic>
      <p:sp>
        <p:nvSpPr>
          <p:cNvPr id="4" name="TextBox 3"/>
          <p:cNvSpPr txBox="1"/>
          <p:nvPr/>
        </p:nvSpPr>
        <p:spPr>
          <a:xfrm>
            <a:off x="548640" y="3611880"/>
            <a:ext cx="8046720" cy="411480"/>
          </a:xfrm>
          <a:prstGeom prst="rect">
            <a:avLst/>
          </a:prstGeom>
          <a:noFill/>
        </p:spPr>
        <p:txBody>
          <a:bodyPr wrap="square" lIns="0" tIns="0" rIns="0" bIns="0" anchor="t">
            <a:spAutoFit/>
          </a:bodyPr>
          <a:lstStyle/>
          <a:p>
            <a:pPr algn="l">
              <a:spcAft>
                <a:spcPts val="600"/>
              </a:spcAft>
            </a:pPr>
            <a:r>
              <a:rPr sz="1400" b="1" i="0">
                <a:solidFill>
                  <a:srgbClr val="F2D6D6"/>
                </a:solidFill>
                <a:latin typeface="Calibri"/>
              </a:rPr>
              <a:t>ANEXO</a:t>
            </a:r>
          </a:p>
        </p:txBody>
      </p:sp>
      <p:sp>
        <p:nvSpPr>
          <p:cNvPr id="5" name="TextBox 4"/>
          <p:cNvSpPr txBox="1"/>
          <p:nvPr/>
        </p:nvSpPr>
        <p:spPr>
          <a:xfrm>
            <a:off x="548640" y="3977639"/>
            <a:ext cx="8046720" cy="914400"/>
          </a:xfrm>
          <a:prstGeom prst="rect">
            <a:avLst/>
          </a:prstGeom>
          <a:noFill/>
        </p:spPr>
        <p:txBody>
          <a:bodyPr wrap="square" lIns="0" tIns="0" rIns="0" bIns="0" anchor="t">
            <a:spAutoFit/>
          </a:bodyPr>
          <a:lstStyle/>
          <a:p>
            <a:pPr algn="l">
              <a:spcAft>
                <a:spcPts val="600"/>
              </a:spcAft>
            </a:pPr>
            <a:r>
              <a:rPr sz="3400" b="1" i="0">
                <a:solidFill>
                  <a:srgbClr val="FFFFFF"/>
                </a:solidFill>
                <a:latin typeface="Calibri"/>
              </a:rPr>
              <a:t>Preparar la Raspberry Pi 4 para la demo</a:t>
            </a:r>
          </a:p>
        </p:txBody>
      </p:sp>
      <p:sp>
        <p:nvSpPr>
          <p:cNvPr id="6" name="TextBox 5"/>
          <p:cNvSpPr txBox="1"/>
          <p:nvPr/>
        </p:nvSpPr>
        <p:spPr>
          <a:xfrm>
            <a:off x="548640" y="4892040"/>
            <a:ext cx="8046720" cy="731520"/>
          </a:xfrm>
          <a:prstGeom prst="rect">
            <a:avLst/>
          </a:prstGeom>
          <a:noFill/>
        </p:spPr>
        <p:txBody>
          <a:bodyPr wrap="square" lIns="0" tIns="0" rIns="0" bIns="0" anchor="t">
            <a:spAutoFit/>
          </a:bodyPr>
          <a:lstStyle/>
          <a:p>
            <a:pPr algn="l">
              <a:spcAft>
                <a:spcPts val="600"/>
              </a:spcAft>
            </a:pPr>
            <a:r>
              <a:rPr sz="1600" b="0" i="1">
                <a:solidFill>
                  <a:srgbClr val="F2D6D6"/>
                </a:solidFill>
                <a:latin typeface="Calibri"/>
              </a:rPr>
              <a:t>Para el profesor o para grupos que tengan una Raspberry Pi</a:t>
            </a:r>
          </a:p>
        </p:txBody>
      </p:sp>
      <p:sp>
        <p:nvSpPr>
          <p:cNvPr id="7" name="TextBox 6"/>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E8C9C9"/>
                </a:solidFill>
                <a:latin typeface="Calibri"/>
              </a:rPr>
              <a:t>Tecnologías Disruptivas  ·  Escuela de Informática  ·  Universidad Andrés Bello</a:t>
            </a:r>
          </a:p>
        </p:txBody>
      </p:sp>
      <p:sp>
        <p:nvSpPr>
          <p:cNvPr id="8" name="TextBox 7"/>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E8C9C9"/>
                </a:solidFill>
                <a:latin typeface="Calibri"/>
              </a:rPr>
              <a:t>53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27432" y="-9144"/>
            <a:ext cx="9171432" cy="804672"/>
          </a:xfrm>
          <a:prstGeom prst="rect">
            <a:avLst/>
          </a:prstGeom>
        </p:spPr>
      </p:pic>
      <p:pic>
        <p:nvPicPr>
          <p:cNvPr id="3" name="Picture 2" descr="image.png"/>
          <p:cNvPicPr>
            <a:picLocks noChangeAspect="1"/>
          </p:cNvPicPr>
          <p:nvPr/>
        </p:nvPicPr>
        <p:blipFill>
          <a:blip r:embed="rId4"/>
          <a:stretch>
            <a:fillRect/>
          </a:stretch>
        </p:blipFill>
        <p:spPr>
          <a:xfrm>
            <a:off x="8330184" y="91440"/>
            <a:ext cx="722376" cy="603504"/>
          </a:xfrm>
          <a:prstGeom prst="rect">
            <a:avLst/>
          </a:prstGeom>
        </p:spPr>
      </p:pic>
      <p:sp>
        <p:nvSpPr>
          <p:cNvPr id="4" name="Titulo"/>
          <p:cNvSpPr txBox="1"/>
          <p:nvPr/>
        </p:nvSpPr>
        <p:spPr>
          <a:xfrm>
            <a:off x="438912" y="-182880"/>
            <a:ext cx="7772400" cy="1143000"/>
          </a:xfrm>
          <a:prstGeom prst="rect">
            <a:avLst/>
          </a:prstGeom>
          <a:noFill/>
        </p:spPr>
        <p:txBody>
          <a:bodyPr wrap="square" anchor="ctr">
            <a:spAutoFit/>
          </a:bodyPr>
          <a:lstStyle/>
          <a:p>
            <a:pPr algn="l">
              <a:spcAft>
                <a:spcPts val="600"/>
              </a:spcAft>
            </a:pPr>
            <a:r>
              <a:rPr sz="2800" b="1" i="0">
                <a:solidFill>
                  <a:srgbClr val="FFFFFF"/>
                </a:solidFill>
                <a:latin typeface="Calibri"/>
              </a:rPr>
              <a:t>Anexo · Instalar en la Raspberry Pi 4</a:t>
            </a:r>
          </a:p>
        </p:txBody>
      </p:sp>
      <p:sp>
        <p:nvSpPr>
          <p:cNvPr id="5" name="TextBox 4"/>
          <p:cNvSpPr txBox="1"/>
          <p:nvPr/>
        </p:nvSpPr>
        <p:spPr>
          <a:xfrm>
            <a:off x="365760" y="6583680"/>
            <a:ext cx="6400800" cy="228600"/>
          </a:xfrm>
          <a:prstGeom prst="rect">
            <a:avLst/>
          </a:prstGeom>
          <a:noFill/>
        </p:spPr>
        <p:txBody>
          <a:bodyPr wrap="square" anchor="ctr">
            <a:spAutoFit/>
          </a:bodyPr>
          <a:lstStyle/>
          <a:p>
            <a:pPr algn="l">
              <a:spcAft>
                <a:spcPts val="600"/>
              </a:spcAft>
            </a:pPr>
            <a:r>
              <a:rPr sz="900" b="0" i="0">
                <a:solidFill>
                  <a:srgbClr val="707070"/>
                </a:solidFill>
                <a:latin typeface="Calibri"/>
              </a:rPr>
              <a:t>Tecnologías Disruptivas  ·  Escuela de Informática  ·  Universidad Andrés Bello</a:t>
            </a:r>
          </a:p>
        </p:txBody>
      </p:sp>
      <p:sp>
        <p:nvSpPr>
          <p:cNvPr id="6" name="TextBox 5"/>
          <p:cNvSpPr txBox="1"/>
          <p:nvPr/>
        </p:nvSpPr>
        <p:spPr>
          <a:xfrm>
            <a:off x="8503920" y="6583680"/>
            <a:ext cx="365760" cy="228600"/>
          </a:xfrm>
          <a:prstGeom prst="rect">
            <a:avLst/>
          </a:prstGeom>
          <a:noFill/>
        </p:spPr>
        <p:txBody>
          <a:bodyPr wrap="square" anchor="ctr">
            <a:spAutoFit/>
          </a:bodyPr>
          <a:lstStyle/>
          <a:p>
            <a:pPr algn="r">
              <a:spcAft>
                <a:spcPts val="600"/>
              </a:spcAft>
            </a:pPr>
            <a:r>
              <a:rPr sz="900" b="0" i="0">
                <a:solidFill>
                  <a:srgbClr val="707070"/>
                </a:solidFill>
                <a:latin typeface="Calibri"/>
              </a:rPr>
              <a:t>54</a:t>
            </a:r>
          </a:p>
        </p:txBody>
      </p:sp>
      <p:sp>
        <p:nvSpPr>
          <p:cNvPr id="7" name="Rounded Rectangle 6"/>
          <p:cNvSpPr/>
          <p:nvPr/>
        </p:nvSpPr>
        <p:spPr>
          <a:xfrm>
            <a:off x="457200" y="1097280"/>
            <a:ext cx="8229600" cy="3246120"/>
          </a:xfrm>
          <a:prstGeom prst="roundRect">
            <a:avLst>
              <a:gd name="adj" fmla="val 3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4360" y="1152144"/>
            <a:ext cx="7955279" cy="274320"/>
          </a:xfrm>
          <a:prstGeom prst="rect">
            <a:avLst/>
          </a:prstGeom>
          <a:noFill/>
        </p:spPr>
        <p:txBody>
          <a:bodyPr wrap="square" lIns="0" tIns="0" rIns="0" bIns="0" anchor="t">
            <a:spAutoFit/>
          </a:bodyPr>
          <a:lstStyle/>
          <a:p>
            <a:pPr algn="l">
              <a:spcAft>
                <a:spcPts val="600"/>
              </a:spcAft>
            </a:pPr>
            <a:r>
              <a:rPr sz="1000" b="0" i="0">
                <a:solidFill>
                  <a:srgbClr val="A9B1BA"/>
                </a:solidFill>
                <a:latin typeface="Courier New"/>
              </a:rPr>
              <a:t>terminal de la Raspberry Pi</a:t>
            </a:r>
          </a:p>
        </p:txBody>
      </p:sp>
      <p:sp>
        <p:nvSpPr>
          <p:cNvPr id="9" name="Codigo"/>
          <p:cNvSpPr txBox="1"/>
          <p:nvPr/>
        </p:nvSpPr>
        <p:spPr>
          <a:xfrm>
            <a:off x="594360" y="1444752"/>
            <a:ext cx="7955279" cy="2862072"/>
          </a:xfrm>
          <a:prstGeom prst="rect">
            <a:avLst/>
          </a:prstGeom>
          <a:noFill/>
        </p:spPr>
        <p:txBody>
          <a:bodyPr wrap="square" lIns="0" tIns="0" rIns="0" bIns="0">
            <a:spAutoFit/>
          </a:bodyPr>
          <a:lstStyle/>
          <a:p>
            <a:pPr>
              <a:spcAft>
                <a:spcPts val="0"/>
              </a:spcAft>
            </a:pPr>
            <a:r>
              <a:rPr sz="1200">
                <a:solidFill>
                  <a:srgbClr val="8FBF8F"/>
                </a:solidFill>
                <a:latin typeface="Courier New"/>
              </a:rPr>
              <a:t># 1) Actualizar el sistema e instalar Tesseract (con idioma español)</a:t>
            </a:r>
          </a:p>
          <a:p>
            <a:pPr>
              <a:spcAft>
                <a:spcPts val="0"/>
              </a:spcAft>
            </a:pPr>
            <a:r>
              <a:rPr sz="1200">
                <a:solidFill>
                  <a:srgbClr val="E6E6E6"/>
                </a:solidFill>
                <a:latin typeface="Courier New"/>
              </a:rPr>
              <a:t>sudo apt update &amp;&amp; sudo apt full-upgrade -y</a:t>
            </a:r>
          </a:p>
          <a:p>
            <a:pPr>
              <a:spcAft>
                <a:spcPts val="0"/>
              </a:spcAft>
            </a:pPr>
            <a:r>
              <a:rPr sz="1200">
                <a:solidFill>
                  <a:srgbClr val="E6E6E6"/>
                </a:solidFill>
                <a:latin typeface="Courier New"/>
              </a:rPr>
              <a:t>sudo apt install -y python3-venv tesseract-ocr tesseract-ocr-spa</a:t>
            </a:r>
          </a:p>
          <a:p>
            <a:pPr>
              <a:spcAft>
                <a:spcPts val="0"/>
              </a:spcAft>
            </a:pPr>
            <a:r>
              <a:rPr sz="1200">
                <a:solidFill>
                  <a:srgbClr val="E6E6E6"/>
                </a:solidFill>
                <a:latin typeface="Courier New"/>
              </a:rPr>
              <a:t> </a:t>
            </a:r>
          </a:p>
          <a:p>
            <a:pPr>
              <a:spcAft>
                <a:spcPts val="0"/>
              </a:spcAft>
            </a:pPr>
            <a:r>
              <a:rPr sz="1200">
                <a:solidFill>
                  <a:srgbClr val="8FBF8F"/>
                </a:solidFill>
                <a:latin typeface="Courier New"/>
              </a:rPr>
              <a:t># 2) Crear y activar un entorno virtual (puede usar picamera2 del sistema)</a:t>
            </a:r>
          </a:p>
          <a:p>
            <a:pPr>
              <a:spcAft>
                <a:spcPts val="0"/>
              </a:spcAft>
            </a:pPr>
            <a:r>
              <a:rPr sz="1200">
                <a:solidFill>
                  <a:srgbClr val="E6E6E6"/>
                </a:solidFill>
                <a:latin typeface="Courier New"/>
              </a:rPr>
              <a:t>python3 -m venv --system-site-packages ~/vision</a:t>
            </a:r>
          </a:p>
          <a:p>
            <a:pPr>
              <a:spcAft>
                <a:spcPts val="0"/>
              </a:spcAft>
            </a:pPr>
            <a:r>
              <a:rPr sz="1200">
                <a:solidFill>
                  <a:srgbClr val="E6E6E6"/>
                </a:solidFill>
                <a:latin typeface="Courier New"/>
              </a:rPr>
              <a:t>source ~/vision/bin/activate</a:t>
            </a:r>
          </a:p>
          <a:p>
            <a:pPr>
              <a:spcAft>
                <a:spcPts val="0"/>
              </a:spcAft>
            </a:pPr>
            <a:r>
              <a:rPr sz="1200">
                <a:solidFill>
                  <a:srgbClr val="E6E6E6"/>
                </a:solidFill>
                <a:latin typeface="Courier New"/>
              </a:rPr>
              <a:t> </a:t>
            </a:r>
          </a:p>
          <a:p>
            <a:pPr>
              <a:spcAft>
                <a:spcPts val="0"/>
              </a:spcAft>
            </a:pPr>
            <a:r>
              <a:rPr sz="1200">
                <a:solidFill>
                  <a:srgbClr val="8FBF8F"/>
                </a:solidFill>
                <a:latin typeface="Courier New"/>
              </a:rPr>
              <a:t># 3) Instalar las librerías de Python</a:t>
            </a:r>
          </a:p>
          <a:p>
            <a:pPr>
              <a:spcAft>
                <a:spcPts val="0"/>
              </a:spcAft>
            </a:pPr>
            <a:r>
              <a:rPr sz="1200">
                <a:solidFill>
                  <a:srgbClr val="E6E6E6"/>
                </a:solidFill>
                <a:latin typeface="Courier New"/>
              </a:rPr>
              <a:t>pip install -U pip</a:t>
            </a:r>
          </a:p>
          <a:p>
            <a:pPr>
              <a:spcAft>
                <a:spcPts val="0"/>
              </a:spcAft>
            </a:pPr>
            <a:r>
              <a:rPr sz="1200">
                <a:solidFill>
                  <a:srgbClr val="E6E6E6"/>
                </a:solidFill>
                <a:latin typeface="Courier New"/>
              </a:rPr>
              <a:t>pip install ultralytics pytesseract requests</a:t>
            </a:r>
          </a:p>
        </p:txBody>
      </p:sp>
      <p:sp>
        <p:nvSpPr>
          <p:cNvPr id="10" name="TextBox 9"/>
          <p:cNvSpPr txBox="1"/>
          <p:nvPr/>
        </p:nvSpPr>
        <p:spPr>
          <a:xfrm>
            <a:off x="457200" y="4526280"/>
            <a:ext cx="8229600" cy="1097280"/>
          </a:xfrm>
          <a:prstGeom prst="rect">
            <a:avLst/>
          </a:prstGeom>
          <a:noFill/>
        </p:spPr>
        <p:txBody>
          <a:bodyPr wrap="square" anchor="t">
            <a:spAutoFit/>
          </a:bodyPr>
          <a:lstStyle/>
          <a:p>
            <a:pPr marL="228600" indent="-201168" algn="l">
              <a:spcAft>
                <a:spcPts val="500"/>
              </a:spcAft>
              <a:buClr>
                <a:srgbClr val="8E1B1B"/>
              </a:buClr>
              <a:buFont typeface="Arial"/>
              <a:buChar char="•"/>
            </a:pPr>
            <a:r>
              <a:rPr sz="1400" b="0" i="0">
                <a:solidFill>
                  <a:srgbClr val="262626"/>
                </a:solidFill>
                <a:latin typeface="Calibri"/>
              </a:rPr>
              <a:t>Cada vez que abras una terminal nueva: </a:t>
            </a:r>
            <a:r>
              <a:rPr sz="1300" b="0" i="0">
                <a:solidFill>
                  <a:srgbClr val="8E1B1B"/>
                </a:solidFill>
                <a:latin typeface="Courier New"/>
              </a:rPr>
              <a:t>source ~/vision/bin/activate</a:t>
            </a:r>
          </a:p>
          <a:p>
            <a:pPr marL="228600" indent="-201168" algn="l">
              <a:spcAft>
                <a:spcPts val="500"/>
              </a:spcAft>
              <a:buClr>
                <a:srgbClr val="8E1B1B"/>
              </a:buClr>
              <a:buFont typeface="Arial"/>
              <a:buChar char="•"/>
            </a:pPr>
            <a:r>
              <a:rPr sz="1400" b="0" i="0">
                <a:solidFill>
                  <a:srgbClr val="262626"/>
                </a:solidFill>
                <a:latin typeface="Calibri"/>
              </a:rPr>
              <a:t>Probar la cámara CSI: </a:t>
            </a:r>
            <a:r>
              <a:rPr sz="1300" b="0" i="0">
                <a:solidFill>
                  <a:srgbClr val="8E1B1B"/>
                </a:solidFill>
                <a:latin typeface="Courier New"/>
              </a:rPr>
              <a:t>rpicam-hello</a:t>
            </a:r>
            <a:r>
              <a:rPr sz="1400" b="0" i="0">
                <a:solidFill>
                  <a:srgbClr val="262626"/>
                </a:solidFill>
                <a:latin typeface="Calibri"/>
              </a:rPr>
              <a:t>  ·  con Camera Module usar la fuente </a:t>
            </a:r>
            <a:r>
              <a:rPr sz="1300" b="0" i="0">
                <a:solidFill>
                  <a:srgbClr val="8E1B1B"/>
                </a:solidFill>
                <a:latin typeface="Courier New"/>
              </a:rPr>
              <a:t>picam</a:t>
            </a:r>
          </a:p>
          <a:p>
            <a:pPr marL="228600" indent="-201168" algn="l">
              <a:spcAft>
                <a:spcPts val="500"/>
              </a:spcAft>
              <a:buClr>
                <a:srgbClr val="8E1B1B"/>
              </a:buClr>
              <a:buFont typeface="Arial"/>
              <a:buChar char="•"/>
            </a:pPr>
            <a:r>
              <a:rPr sz="1300" b="0" i="0">
                <a:solidFill>
                  <a:srgbClr val="8E1B1B"/>
                </a:solidFill>
                <a:latin typeface="Courier New"/>
              </a:rPr>
              <a:t>ultralytics</a:t>
            </a:r>
            <a:r>
              <a:rPr sz="1400" b="0" i="0">
                <a:solidFill>
                  <a:srgbClr val="262626"/>
                </a:solidFill>
                <a:latin typeface="Calibri"/>
              </a:rPr>
              <a:t> instala PyTorch y OpenCV: la primera vez tarda varios minutos.</a:t>
            </a:r>
          </a:p>
        </p:txBody>
      </p:sp>
      <p:sp>
        <p:nvSpPr>
          <p:cNvPr id="11" name="Rounded Rectangle 10"/>
          <p:cNvSpPr/>
          <p:nvPr/>
        </p:nvSpPr>
        <p:spPr>
          <a:xfrm>
            <a:off x="457200" y="5669280"/>
            <a:ext cx="8229600" cy="594360"/>
          </a:xfrm>
          <a:prstGeom prst="roundRect">
            <a:avLst>
              <a:gd name="adj" fmla="val 6000"/>
            </a:avLst>
          </a:prstGeom>
          <a:solidFill>
            <a:srgbClr val="F7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85800" y="5669280"/>
            <a:ext cx="7772400" cy="594360"/>
          </a:xfrm>
          <a:prstGeom prst="rect">
            <a:avLst/>
          </a:prstGeom>
          <a:noFill/>
        </p:spPr>
        <p:txBody>
          <a:bodyPr wrap="square" anchor="ctr">
            <a:spAutoFit/>
          </a:bodyPr>
          <a:lstStyle/>
          <a:p>
            <a:pPr algn="l">
              <a:spcAft>
                <a:spcPts val="600"/>
              </a:spcAft>
            </a:pPr>
            <a:r>
              <a:rPr sz="1500" b="1" i="0">
                <a:solidFill>
                  <a:srgbClr val="262626"/>
                </a:solidFill>
                <a:latin typeface="Calibri"/>
              </a:rPr>
              <a:t>Importante:</a:t>
            </a:r>
            <a:r>
              <a:rPr sz="1500" b="0" i="0">
                <a:solidFill>
                  <a:srgbClr val="262626"/>
                </a:solidFill>
                <a:latin typeface="Calibri"/>
              </a:rPr>
              <a:t> Raspberry Pi OS de </a:t>
            </a:r>
            <a:r>
              <a:rPr sz="1500" b="1" i="0">
                <a:solidFill>
                  <a:srgbClr val="262626"/>
                </a:solidFill>
                <a:latin typeface="Calibri"/>
              </a:rPr>
              <a:t>64 bits</a:t>
            </a:r>
            <a:r>
              <a:rPr sz="1500" b="0" i="0">
                <a:solidFill>
                  <a:srgbClr val="262626"/>
                </a:solidFill>
                <a:latin typeface="Calibri"/>
              </a:rPr>
              <a:t>. En 32 bits PyTorch no se puede instalar.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9181</Words>
  <Application>Microsoft Office PowerPoint</Application>
  <PresentationFormat>Presentación en pantalla (4:3)</PresentationFormat>
  <Paragraphs>902</Paragraphs>
  <Slides>55</Slides>
  <Notes>36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55</vt:i4>
      </vt:variant>
    </vt:vector>
  </HeadingPairs>
  <TitlesOfParts>
    <vt:vector size="59"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institucional UNAB</dc:title>
  <dc:subject>PptxGenJS Presentation</dc:subject>
  <dc:creator>Universidad Andrés Bello</dc:creator>
  <cp:lastModifiedBy>DELGADO AYALA, LUIS F.</cp:lastModifiedBy>
  <cp:revision>2</cp:revision>
  <dcterms:created xsi:type="dcterms:W3CDTF">2026-09-10T14:49:19Z</dcterms:created>
  <dcterms:modified xsi:type="dcterms:W3CDTF">2026-10-20T01:42:08Z</dcterms:modified>
</cp:coreProperties>
</file>